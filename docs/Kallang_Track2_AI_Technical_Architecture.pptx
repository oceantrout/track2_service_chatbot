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9" r:id="rId4"/>
    <p:sldId id="259" r:id="rId5"/>
    <p:sldId id="260" r:id="rId6"/>
    <p:sldId id="261" r:id="rId7"/>
    <p:sldId id="268" r:id="rId8"/>
    <p:sldId id="267"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9B5019-4A4D-4B56-ACC8-59F585F98499}" type="datetimeFigureOut">
              <a:rPr lang="en-US" smtClean="0"/>
              <a:t>10/24/2026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BEC54-2C6A-4C33-B52A-5CEB1148D4E3}" type="slidenum">
              <a:rPr lang="en-US" smtClean="0"/>
              <a:t>‹#›</a:t>
            </a:fld>
            <a:endParaRPr lang="en-US"/>
          </a:p>
        </p:txBody>
      </p:sp>
    </p:spTree>
    <p:extLst>
      <p:ext uri="{BB962C8B-B14F-4D97-AF65-F5344CB8AC3E}">
        <p14:creationId xmlns:p14="http://schemas.microsoft.com/office/powerpoint/2010/main" val="999240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OPEN (link from Overview)</a:t>
            </a:r>
          </a:p>
          <a:p>
            <a:r>
              <a:rPr lang="en-US" sz="1200" dirty="0"/>
              <a:t>On the last slide we saw the five things the assistant does. This slide shows how they fit together. It's the map for the rest of the talk, so I'll take a minute on it.</a:t>
            </a:r>
          </a:p>
          <a:p>
            <a:r>
              <a:rPr lang="en-US" sz="1200" b="1" dirty="0"/>
              <a:t>THE BIG IDEA</a:t>
            </a:r>
          </a:p>
          <a:p>
            <a:r>
              <a:rPr lang="en-US" sz="1200" dirty="0"/>
              <a:t>One customer message goes in at the top. One reply and one trace record come out at the bottom. The colours show the main design choice: purple is where the AI model is used, and there are only a few purple boxes. Everything else is ordinary code that we can test and predict.</a:t>
            </a:r>
          </a:p>
          <a:p>
            <a:r>
              <a:rPr lang="en-US" sz="1200" b="1" dirty="0"/>
              <a:t>TOP TO BOTTOM</a:t>
            </a:r>
          </a:p>
          <a:p>
            <a:r>
              <a:rPr lang="en-US" sz="1200" dirty="0"/>
              <a:t>1. The Streamlit screen is what the customer and you as judges see: the chat, the booking panel, the step-by-step trace and a metrics line.</a:t>
            </a:r>
          </a:p>
          <a:p>
            <a:r>
              <a:rPr lang="en-US" sz="1200" dirty="0"/>
              <a:t>2. The orchestrator is the traffic controller. Every message goes through this one function, which returns the reply and writes the trace.</a:t>
            </a:r>
          </a:p>
          <a:p>
            <a:r>
              <a:rPr lang="en-US" sz="1200" dirty="0"/>
              <a:t>3. Guardrails, in red, run before the AI sees anything. Code masks personal details such as NRIC, FIN, passport and card numbers, and it blocks attempts to trick the bot or to ask for discounts. It also tidies typos so the next step reads the message cleanly.</a:t>
            </a:r>
          </a:p>
          <a:p>
            <a:r>
              <a:rPr lang="en-US" sz="1200" dirty="0"/>
              <a:t>4. The router is the first AI call. It reads the message and picks one of four lanes.</a:t>
            </a:r>
          </a:p>
          <a:p>
            <a:r>
              <a:rPr lang="en-US" sz="1200" b="1" dirty="0"/>
              <a:t>THE FOUR LANES</a:t>
            </a:r>
          </a:p>
          <a:p>
            <a:r>
              <a:rPr lang="en-US" sz="1200" dirty="0"/>
              <a:t>FAQ (green): find the right section of our 12-section handbook, let the AI answer only from that section, and have code attach the source. If nothing matches well, the bot says it doesn't know.</a:t>
            </a:r>
          </a:p>
          <a:p>
            <a:r>
              <a:rPr lang="en-US" sz="1200" dirty="0"/>
              <a:t>Booking (orange): a ten-step flow run by code, always in the same order. The AI is used only to pick out the service, date and time from what the customer typed. Code then checks the details and that the slot is still free, and saves one row.</a:t>
            </a:r>
          </a:p>
          <a:p>
            <a:r>
              <a:rPr lang="en-US" sz="1200" dirty="0"/>
              <a:t>Handoff (dark green): complaints or repeated failed attempts go to a human. There's no AI here, and the booking progress is kept so staff can pick it up.</a:t>
            </a:r>
          </a:p>
          <a:p>
            <a:r>
              <a:rPr lang="en-US" sz="1200" dirty="0"/>
              <a:t>Out of scope (grey): anything that isn't our workshop, like insurance, loans or parts sourcing, gets a polite decline. No AI here either.</a:t>
            </a:r>
          </a:p>
          <a:p>
            <a:r>
              <a:rPr lang="en-US" sz="1200" dirty="0"/>
              <a:t>DATA (bottom bar)</a:t>
            </a:r>
          </a:p>
          <a:p>
            <a:r>
              <a:rPr lang="en-US" sz="1200" dirty="0"/>
              <a:t>Everything sits on five plain files: the FAQ handbook, the list of 8 services, available slots from 26 Oct to 7 Nov, the bookings file, which is only ever added to, and the trace log, with personal data masked.</a:t>
            </a:r>
          </a:p>
          <a:p>
            <a:r>
              <a:rPr lang="en-US" sz="1200" b="1" dirty="0"/>
              <a:t>TAKEAWAY</a:t>
            </a:r>
          </a:p>
          <a:p>
            <a:r>
              <a:rPr lang="en-US" sz="1200" dirty="0"/>
              <a:t>So the AI handles the language: understanding the customer and writing the reply. Code handles the rules: what's valid, what gets saved and what stays private.</a:t>
            </a:r>
          </a:p>
          <a:p>
            <a:r>
              <a:rPr lang="en-US" sz="1200" b="1" dirty="0"/>
              <a:t>BRIDGE</a:t>
            </a:r>
          </a:p>
          <a:p>
            <a:r>
              <a:rPr lang="en-US" sz="1200" dirty="0"/>
              <a:t>Next, I'll list every one of these boxes with what it does and what it touches. Then we'll zoom in: one full turn, the router, the FAQ path, then booking.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201168"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8412480" y="0"/>
            <a:ext cx="822960"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9509760" y="0"/>
            <a:ext cx="822960"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10607040" y="0"/>
            <a:ext cx="822960" cy="548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051560" y="1298448"/>
            <a:ext cx="9601200" cy="274320"/>
          </a:xfrm>
          <a:prstGeom prst="rect">
            <a:avLst/>
          </a:prstGeom>
          <a:noFill/>
        </p:spPr>
        <p:txBody>
          <a:bodyPr wrap="square" lIns="0" tIns="0" rIns="0" bIns="0" anchor="t">
            <a:spAutoFit/>
          </a:bodyPr>
          <a:lstStyle/>
          <a:p>
            <a:pPr algn="l">
              <a:lnSpc>
                <a:spcPct val="100000"/>
              </a:lnSpc>
            </a:pPr>
            <a:r>
              <a:rPr sz="1250" b="1" i="0">
                <a:solidFill>
                  <a:srgbClr val="93C5FD"/>
                </a:solidFill>
                <a:latin typeface="Segoe UI"/>
              </a:rPr>
              <a:t>TRACK 2  ·  KALLANG AUTO CARE  ·  AI TECHNICAL ARCHITECTURE</a:t>
            </a:r>
          </a:p>
        </p:txBody>
      </p:sp>
      <p:sp>
        <p:nvSpPr>
          <p:cNvPr id="8" name="TextBox 7"/>
          <p:cNvSpPr txBox="1"/>
          <p:nvPr/>
        </p:nvSpPr>
        <p:spPr>
          <a:xfrm>
            <a:off x="1051560" y="1691640"/>
            <a:ext cx="10058400" cy="1371600"/>
          </a:xfrm>
          <a:prstGeom prst="rect">
            <a:avLst/>
          </a:prstGeom>
          <a:noFill/>
        </p:spPr>
        <p:txBody>
          <a:bodyPr wrap="square" lIns="0" tIns="0" rIns="0" bIns="0" anchor="t">
            <a:spAutoFit/>
          </a:bodyPr>
          <a:lstStyle/>
          <a:p>
            <a:pPr algn="l">
              <a:lnSpc>
                <a:spcPct val="100000"/>
              </a:lnSpc>
            </a:pPr>
            <a:r>
              <a:rPr sz="5000" b="1" i="0">
                <a:solidFill>
                  <a:srgbClr val="FFFFFF"/>
                </a:solidFill>
                <a:latin typeface="Segoe UI"/>
              </a:rPr>
              <a:t>The logical architecture</a:t>
            </a:r>
          </a:p>
        </p:txBody>
      </p:sp>
      <p:sp>
        <p:nvSpPr>
          <p:cNvPr id="9" name="TextBox 8"/>
          <p:cNvSpPr txBox="1"/>
          <p:nvPr/>
        </p:nvSpPr>
        <p:spPr>
          <a:xfrm>
            <a:off x="1051560" y="2487168"/>
            <a:ext cx="10058400" cy="822960"/>
          </a:xfrm>
          <a:prstGeom prst="rect">
            <a:avLst/>
          </a:prstGeom>
          <a:noFill/>
        </p:spPr>
        <p:txBody>
          <a:bodyPr wrap="square" lIns="0" tIns="0" rIns="0" bIns="0" anchor="t">
            <a:spAutoFit/>
          </a:bodyPr>
          <a:lstStyle/>
          <a:p>
            <a:pPr algn="l">
              <a:lnSpc>
                <a:spcPct val="100000"/>
              </a:lnSpc>
            </a:pPr>
            <a:r>
              <a:rPr sz="2400" b="0" i="0">
                <a:solidFill>
                  <a:srgbClr val="CBD5E1"/>
                </a:solidFill>
                <a:latin typeface="Segoe UI"/>
              </a:rPr>
              <a:t>How one customer message becomes one reply, and one trace record</a:t>
            </a:r>
          </a:p>
        </p:txBody>
      </p:sp>
      <p:sp>
        <p:nvSpPr>
          <p:cNvPr id="10" name="Rectangle 9"/>
          <p:cNvSpPr/>
          <p:nvPr/>
        </p:nvSpPr>
        <p:spPr>
          <a:xfrm>
            <a:off x="1051560" y="3401568"/>
            <a:ext cx="2194560" cy="2743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051560" y="3730752"/>
            <a:ext cx="5120640" cy="1371600"/>
          </a:xfrm>
          <a:prstGeom prst="rect">
            <a:avLst/>
          </a:prstGeom>
          <a:noFill/>
        </p:spPr>
        <p:txBody>
          <a:bodyPr wrap="square" lIns="0" tIns="0" rIns="0" bIns="0" anchor="t">
            <a:spAutoFit/>
          </a:bodyPr>
          <a:lstStyle/>
          <a:p>
            <a:pPr algn="l">
              <a:lnSpc>
                <a:spcPct val="125000"/>
              </a:lnSpc>
            </a:pPr>
            <a:r>
              <a:rPr sz="1350" b="0" i="0">
                <a:solidFill>
                  <a:srgbClr val="A8B6C8"/>
                </a:solidFill>
                <a:latin typeface="Segoe UI"/>
              </a:rPr>
              <a:t>A </a:t>
            </a:r>
            <a:r>
              <a:rPr sz="1350" b="1" i="0">
                <a:solidFill>
                  <a:srgbClr val="A8B6C8"/>
                </a:solidFill>
                <a:latin typeface="Segoe UI"/>
              </a:rPr>
              <a:t>guardrail in code</a:t>
            </a:r>
            <a:r>
              <a:rPr sz="1350" b="0" i="0">
                <a:solidFill>
                  <a:srgbClr val="A8B6C8"/>
                </a:solidFill>
                <a:latin typeface="Segoe UI"/>
              </a:rPr>
              <a:t>, a </a:t>
            </a:r>
            <a:r>
              <a:rPr sz="1350" b="1" i="0">
                <a:solidFill>
                  <a:srgbClr val="A8B6C8"/>
                </a:solidFill>
                <a:latin typeface="Segoe UI"/>
              </a:rPr>
              <a:t>router in the model</a:t>
            </a:r>
            <a:r>
              <a:rPr sz="1350" b="0" i="0">
                <a:solidFill>
                  <a:srgbClr val="A8B6C8"/>
                </a:solidFill>
                <a:latin typeface="Segoe UI"/>
              </a:rPr>
              <a:t>, a </a:t>
            </a:r>
            <a:r>
              <a:rPr sz="1350" b="1" i="0">
                <a:solidFill>
                  <a:srgbClr val="A8B6C8"/>
                </a:solidFill>
                <a:latin typeface="Segoe UI"/>
              </a:rPr>
              <a:t>retrieval path</a:t>
            </a:r>
            <a:r>
              <a:rPr sz="1350" b="0" i="0">
                <a:solidFill>
                  <a:srgbClr val="A8B6C8"/>
                </a:solidFill>
                <a:latin typeface="Segoe UI"/>
              </a:rPr>
              <a:t> that answers only from the knowledge base, and a </a:t>
            </a:r>
            <a:r>
              <a:rPr sz="1350" b="1" i="0">
                <a:solidFill>
                  <a:srgbClr val="A8B6C8"/>
                </a:solidFill>
                <a:latin typeface="Segoe UI"/>
              </a:rPr>
              <a:t>booking flow written in code</a:t>
            </a:r>
            <a:r>
              <a:rPr sz="1350" b="0" i="0">
                <a:solidFill>
                  <a:srgbClr val="A8B6C8"/>
                </a:solidFill>
                <a:latin typeface="Segoe UI"/>
              </a:rPr>
              <a:t> — the architecture the brief asks for, drawn as the boxes and arrows it actually is.</a:t>
            </a:r>
          </a:p>
        </p:txBody>
      </p:sp>
      <p:sp>
        <p:nvSpPr>
          <p:cNvPr id="12" name="TextBox 11"/>
          <p:cNvSpPr txBox="1"/>
          <p:nvPr/>
        </p:nvSpPr>
        <p:spPr>
          <a:xfrm>
            <a:off x="6446520" y="3730752"/>
            <a:ext cx="1463040" cy="237744"/>
          </a:xfrm>
          <a:prstGeom prst="rect">
            <a:avLst/>
          </a:prstGeom>
          <a:noFill/>
        </p:spPr>
        <p:txBody>
          <a:bodyPr wrap="square" lIns="0" tIns="0" rIns="0" bIns="0" anchor="t">
            <a:spAutoFit/>
          </a:bodyPr>
          <a:lstStyle/>
          <a:p>
            <a:pPr algn="l">
              <a:lnSpc>
                <a:spcPct val="100000"/>
              </a:lnSpc>
            </a:pPr>
            <a:r>
              <a:rPr sz="1000" b="1" i="0">
                <a:solidFill>
                  <a:srgbClr val="7C8DA5"/>
                </a:solidFill>
                <a:latin typeface="Segoe UI"/>
              </a:rPr>
              <a:t>Brief</a:t>
            </a:r>
          </a:p>
        </p:txBody>
      </p:sp>
      <p:sp>
        <p:nvSpPr>
          <p:cNvPr id="13" name="TextBox 12"/>
          <p:cNvSpPr txBox="1"/>
          <p:nvPr/>
        </p:nvSpPr>
        <p:spPr>
          <a:xfrm>
            <a:off x="7818120" y="3730752"/>
            <a:ext cx="3657600" cy="237744"/>
          </a:xfrm>
          <a:prstGeom prst="rect">
            <a:avLst/>
          </a:prstGeom>
          <a:noFill/>
        </p:spPr>
        <p:txBody>
          <a:bodyPr wrap="square" lIns="0" tIns="0" rIns="0" bIns="0" anchor="t">
            <a:spAutoFit/>
          </a:bodyPr>
          <a:lstStyle/>
          <a:p>
            <a:pPr algn="l">
              <a:lnSpc>
                <a:spcPct val="100000"/>
              </a:lnSpc>
            </a:pPr>
            <a:r>
              <a:rPr sz="1150" b="0" i="0" dirty="0">
                <a:solidFill>
                  <a:srgbClr val="E2E8F0"/>
                </a:solidFill>
                <a:latin typeface="Segoe UI"/>
              </a:rPr>
              <a:t>PCML Module 6 teaching deck, pp. 52–54</a:t>
            </a:r>
          </a:p>
        </p:txBody>
      </p:sp>
      <p:sp>
        <p:nvSpPr>
          <p:cNvPr id="14" name="TextBox 13"/>
          <p:cNvSpPr txBox="1"/>
          <p:nvPr/>
        </p:nvSpPr>
        <p:spPr>
          <a:xfrm>
            <a:off x="6446520" y="4114800"/>
            <a:ext cx="1463040" cy="237744"/>
          </a:xfrm>
          <a:prstGeom prst="rect">
            <a:avLst/>
          </a:prstGeom>
          <a:noFill/>
        </p:spPr>
        <p:txBody>
          <a:bodyPr wrap="square" lIns="0" tIns="0" rIns="0" bIns="0" anchor="t">
            <a:spAutoFit/>
          </a:bodyPr>
          <a:lstStyle/>
          <a:p>
            <a:pPr algn="l">
              <a:lnSpc>
                <a:spcPct val="100000"/>
              </a:lnSpc>
            </a:pPr>
            <a:r>
              <a:rPr sz="1000" b="1" i="0">
                <a:solidFill>
                  <a:srgbClr val="7C8DA5"/>
                </a:solidFill>
                <a:latin typeface="Segoe UI"/>
              </a:rPr>
              <a:t>Also read</a:t>
            </a:r>
          </a:p>
        </p:txBody>
      </p:sp>
      <p:sp>
        <p:nvSpPr>
          <p:cNvPr id="15" name="TextBox 14"/>
          <p:cNvSpPr txBox="1"/>
          <p:nvPr/>
        </p:nvSpPr>
        <p:spPr>
          <a:xfrm>
            <a:off x="7818120" y="4114800"/>
            <a:ext cx="3657600" cy="237744"/>
          </a:xfrm>
          <a:prstGeom prst="rect">
            <a:avLst/>
          </a:prstGeom>
          <a:noFill/>
        </p:spPr>
        <p:txBody>
          <a:bodyPr wrap="square" lIns="0" tIns="0" rIns="0" bIns="0" anchor="t">
            <a:spAutoFit/>
          </a:bodyPr>
          <a:lstStyle/>
          <a:p>
            <a:pPr algn="l">
              <a:lnSpc>
                <a:spcPct val="100000"/>
              </a:lnSpc>
            </a:pPr>
            <a:r>
              <a:rPr sz="1150" b="0" i="0">
                <a:solidFill>
                  <a:srgbClr val="E2E8F0"/>
                </a:solidFill>
                <a:latin typeface="Segoe UI"/>
              </a:rPr>
              <a:t>README.md + docs/booking_flow_spec.md</a:t>
            </a:r>
          </a:p>
        </p:txBody>
      </p:sp>
      <p:sp>
        <p:nvSpPr>
          <p:cNvPr id="16" name="TextBox 15"/>
          <p:cNvSpPr txBox="1"/>
          <p:nvPr/>
        </p:nvSpPr>
        <p:spPr>
          <a:xfrm>
            <a:off x="6446520" y="4498848"/>
            <a:ext cx="1463040" cy="237744"/>
          </a:xfrm>
          <a:prstGeom prst="rect">
            <a:avLst/>
          </a:prstGeom>
          <a:noFill/>
        </p:spPr>
        <p:txBody>
          <a:bodyPr wrap="square" lIns="0" tIns="0" rIns="0" bIns="0" anchor="t">
            <a:spAutoFit/>
          </a:bodyPr>
          <a:lstStyle/>
          <a:p>
            <a:pPr algn="l">
              <a:lnSpc>
                <a:spcPct val="100000"/>
              </a:lnSpc>
            </a:pPr>
            <a:r>
              <a:rPr sz="1000" b="1" i="0">
                <a:solidFill>
                  <a:srgbClr val="7C8DA5"/>
                </a:solidFill>
                <a:latin typeface="Segoe UI"/>
              </a:rPr>
              <a:t>Artefact</a:t>
            </a:r>
          </a:p>
        </p:txBody>
      </p:sp>
      <p:sp>
        <p:nvSpPr>
          <p:cNvPr id="17" name="TextBox 16"/>
          <p:cNvSpPr txBox="1"/>
          <p:nvPr/>
        </p:nvSpPr>
        <p:spPr>
          <a:xfrm>
            <a:off x="7818120" y="4498848"/>
            <a:ext cx="3657600" cy="237744"/>
          </a:xfrm>
          <a:prstGeom prst="rect">
            <a:avLst/>
          </a:prstGeom>
          <a:noFill/>
        </p:spPr>
        <p:txBody>
          <a:bodyPr wrap="square" lIns="0" tIns="0" rIns="0" bIns="0" anchor="t">
            <a:spAutoFit/>
          </a:bodyPr>
          <a:lstStyle/>
          <a:p>
            <a:pPr algn="l">
              <a:lnSpc>
                <a:spcPct val="100000"/>
              </a:lnSpc>
            </a:pPr>
            <a:r>
              <a:rPr sz="1150" b="0" i="0">
                <a:solidFill>
                  <a:srgbClr val="E2E8F0"/>
                </a:solidFill>
                <a:latin typeface="Segoe UI"/>
              </a:rPr>
              <a:t>Logical architecture, 10 slides</a:t>
            </a:r>
          </a:p>
        </p:txBody>
      </p:sp>
      <p:sp>
        <p:nvSpPr>
          <p:cNvPr id="18" name="TextBox 17"/>
          <p:cNvSpPr txBox="1"/>
          <p:nvPr/>
        </p:nvSpPr>
        <p:spPr>
          <a:xfrm>
            <a:off x="6446520" y="4882896"/>
            <a:ext cx="1463040" cy="237744"/>
          </a:xfrm>
          <a:prstGeom prst="rect">
            <a:avLst/>
          </a:prstGeom>
          <a:noFill/>
        </p:spPr>
        <p:txBody>
          <a:bodyPr wrap="square" lIns="0" tIns="0" rIns="0" bIns="0" anchor="t">
            <a:spAutoFit/>
          </a:bodyPr>
          <a:lstStyle/>
          <a:p>
            <a:pPr algn="l">
              <a:lnSpc>
                <a:spcPct val="100000"/>
              </a:lnSpc>
            </a:pPr>
            <a:r>
              <a:rPr sz="1000" b="1" i="0">
                <a:solidFill>
                  <a:srgbClr val="7C8DA5"/>
                </a:solidFill>
                <a:latin typeface="Segoe UI"/>
              </a:rPr>
              <a:t>Gate</a:t>
            </a:r>
          </a:p>
        </p:txBody>
      </p:sp>
      <p:sp>
        <p:nvSpPr>
          <p:cNvPr id="19" name="TextBox 18"/>
          <p:cNvSpPr txBox="1"/>
          <p:nvPr/>
        </p:nvSpPr>
        <p:spPr>
          <a:xfrm>
            <a:off x="7818120" y="4882896"/>
            <a:ext cx="3657600" cy="237744"/>
          </a:xfrm>
          <a:prstGeom prst="rect">
            <a:avLst/>
          </a:prstGeom>
          <a:noFill/>
        </p:spPr>
        <p:txBody>
          <a:bodyPr wrap="square" lIns="0" tIns="0" rIns="0" bIns="0" anchor="t">
            <a:spAutoFit/>
          </a:bodyPr>
          <a:lstStyle/>
          <a:p>
            <a:pPr algn="l">
              <a:lnSpc>
                <a:spcPct val="100000"/>
              </a:lnSpc>
            </a:pPr>
            <a:r>
              <a:rPr sz="1150" b="0" i="0">
                <a:solidFill>
                  <a:srgbClr val="E2E8F0"/>
                </a:solidFill>
                <a:latin typeface="Segoe UI"/>
              </a:rPr>
              <a:t>Core path working by 12:30, Saturday</a:t>
            </a:r>
          </a:p>
        </p:txBody>
      </p:sp>
      <p:sp>
        <p:nvSpPr>
          <p:cNvPr id="20" name="Rectangle 19"/>
          <p:cNvSpPr/>
          <p:nvPr/>
        </p:nvSpPr>
        <p:spPr>
          <a:xfrm>
            <a:off x="1051560" y="5760720"/>
            <a:ext cx="10104120" cy="12801"/>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051560" y="5943600"/>
            <a:ext cx="6035040" cy="274320"/>
          </a:xfrm>
          <a:prstGeom prst="rect">
            <a:avLst/>
          </a:prstGeom>
          <a:noFill/>
        </p:spPr>
        <p:txBody>
          <a:bodyPr wrap="square" lIns="0" tIns="0" rIns="0" bIns="0" anchor="t">
            <a:spAutoFit/>
          </a:bodyPr>
          <a:lstStyle/>
          <a:p>
            <a:pPr algn="l">
              <a:lnSpc>
                <a:spcPct val="100000"/>
              </a:lnSpc>
            </a:pPr>
            <a:r>
              <a:rPr sz="1050" b="0" i="0">
                <a:solidFill>
                  <a:srgbClr val="64748B"/>
                </a:solidFill>
                <a:latin typeface="Segoe UI"/>
              </a:rPr>
              <a:t>SMU Academy  ·  PCML Module 6  ·  Hackathon team</a:t>
            </a:r>
          </a:p>
        </p:txBody>
      </p:sp>
      <p:sp>
        <p:nvSpPr>
          <p:cNvPr id="22" name="TextBox 21"/>
          <p:cNvSpPr txBox="1"/>
          <p:nvPr/>
        </p:nvSpPr>
        <p:spPr>
          <a:xfrm>
            <a:off x="6583680" y="5943600"/>
            <a:ext cx="4572000" cy="274320"/>
          </a:xfrm>
          <a:prstGeom prst="rect">
            <a:avLst/>
          </a:prstGeom>
          <a:noFill/>
        </p:spPr>
        <p:txBody>
          <a:bodyPr wrap="square" lIns="0" tIns="0" rIns="0" bIns="0" anchor="t">
            <a:spAutoFit/>
          </a:bodyPr>
          <a:lstStyle/>
          <a:p>
            <a:pPr algn="r">
              <a:lnSpc>
                <a:spcPct val="100000"/>
              </a:lnSpc>
            </a:pPr>
            <a:r>
              <a:rPr sz="1050" b="0" i="0">
                <a:solidFill>
                  <a:srgbClr val="64748B"/>
                </a:solidFill>
                <a:latin typeface="Segoe UI"/>
              </a:rPr>
              <a:t>All data synthetic  ·  Fixed "today": Saturday 24 Oct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BRIEF → ARCHITECTURE</a:t>
            </a:r>
          </a:p>
        </p:txBody>
      </p:sp>
      <p:sp>
        <p:nvSpPr>
          <p:cNvPr id="4" name="TextBox 3"/>
          <p:cNvSpPr txBox="1"/>
          <p:nvPr/>
        </p:nvSpPr>
        <p:spPr>
          <a:xfrm>
            <a:off x="566928" y="566928"/>
            <a:ext cx="11057839" cy="384721"/>
          </a:xfrm>
          <a:prstGeom prst="rect">
            <a:avLst/>
          </a:prstGeom>
          <a:noFill/>
        </p:spPr>
        <p:txBody>
          <a:bodyPr wrap="square" lIns="0" tIns="0" rIns="0" bIns="0" anchor="t">
            <a:spAutoFit/>
          </a:bodyPr>
          <a:lstStyle/>
          <a:p>
            <a:pPr algn="l">
              <a:lnSpc>
                <a:spcPct val="100000"/>
              </a:lnSpc>
            </a:pPr>
            <a:r>
              <a:rPr lang="en-US" sz="2500" b="1" i="0" dirty="0">
                <a:solidFill>
                  <a:srgbClr val="0F172A"/>
                </a:solidFill>
                <a:latin typeface="Segoe UI"/>
              </a:rPr>
              <a:t>Overview</a:t>
            </a:r>
            <a:endParaRPr sz="2500" b="1" i="0" dirty="0">
              <a:solidFill>
                <a:srgbClr val="0F172A"/>
              </a:solidFill>
              <a:latin typeface="Segoe UI"/>
            </a:endParaRP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1</a:t>
            </a:r>
          </a:p>
        </p:txBody>
      </p:sp>
      <p:sp>
        <p:nvSpPr>
          <p:cNvPr id="9" name="Rounded Rectangle 8"/>
          <p:cNvSpPr/>
          <p:nvPr/>
        </p:nvSpPr>
        <p:spPr>
          <a:xfrm>
            <a:off x="566928" y="1481328"/>
            <a:ext cx="384048" cy="658368"/>
          </a:xfrm>
          <a:prstGeom prst="roundRect">
            <a:avLst>
              <a:gd name="adj" fmla="val 2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300" b="1" i="0">
                <a:solidFill>
                  <a:srgbClr val="FFFFFF"/>
                </a:solidFill>
                <a:latin typeface="Segoe UI"/>
              </a:rPr>
              <a:t>1</a:t>
            </a:r>
          </a:p>
        </p:txBody>
      </p:sp>
      <p:sp>
        <p:nvSpPr>
          <p:cNvPr id="10" name="TextBox 9"/>
          <p:cNvSpPr txBox="1"/>
          <p:nvPr/>
        </p:nvSpPr>
        <p:spPr>
          <a:xfrm>
            <a:off x="1115568" y="1527048"/>
            <a:ext cx="3246120" cy="361766"/>
          </a:xfrm>
          <a:prstGeom prst="rect">
            <a:avLst/>
          </a:prstGeom>
          <a:noFill/>
        </p:spPr>
        <p:txBody>
          <a:bodyPr wrap="square" lIns="0" tIns="0" rIns="0" bIns="0" anchor="t">
            <a:spAutoFit/>
          </a:bodyPr>
          <a:lstStyle/>
          <a:p>
            <a:pPr algn="l">
              <a:lnSpc>
                <a:spcPct val="106000"/>
              </a:lnSpc>
            </a:pPr>
            <a:r>
              <a:rPr sz="1150" b="1" i="0" dirty="0">
                <a:solidFill>
                  <a:srgbClr val="0F172A"/>
                </a:solidFill>
                <a:latin typeface="Segoe UI"/>
              </a:rPr>
              <a:t>Guardrail in code:
injection, NRIC, card numbers</a:t>
            </a:r>
            <a:endParaRPr lang="en-US" sz="1150" b="1" i="0" dirty="0">
              <a:solidFill>
                <a:srgbClr val="0F172A"/>
              </a:solidFill>
              <a:latin typeface="Segoe UI"/>
            </a:endParaRPr>
          </a:p>
        </p:txBody>
      </p:sp>
      <p:cxnSp>
        <p:nvCxnSpPr>
          <p:cNvPr id="11" name="Connector 10"/>
          <p:cNvCxnSpPr/>
          <p:nvPr/>
        </p:nvCxnSpPr>
        <p:spPr>
          <a:xfrm>
            <a:off x="4544568" y="1810512"/>
            <a:ext cx="365760" cy="0"/>
          </a:xfrm>
          <a:prstGeom prst="line">
            <a:avLst/>
          </a:prstGeom>
          <a:ln w="1651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01768" y="1499616"/>
            <a:ext cx="2514600" cy="62179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40" b="1" i="0">
                <a:solidFill>
                  <a:srgbClr val="B91C1C"/>
                </a:solidFill>
                <a:latin typeface="Segoe UI"/>
              </a:rPr>
              <a:t>guards/redact.py</a:t>
            </a:r>
          </a:p>
          <a:p>
            <a:pPr algn="l">
              <a:lnSpc>
                <a:spcPct val="100000"/>
              </a:lnSpc>
              <a:spcBef>
                <a:spcPts val="0"/>
              </a:spcBef>
              <a:spcAft>
                <a:spcPts val="0"/>
              </a:spcAft>
            </a:pPr>
            <a:r>
              <a:rPr sz="940" b="1" i="0">
                <a:solidFill>
                  <a:srgbClr val="B91C1C"/>
                </a:solidFill>
                <a:latin typeface="Segoe UI"/>
              </a:rPr>
              <a:t>+ guards/injection.py</a:t>
            </a:r>
          </a:p>
        </p:txBody>
      </p:sp>
      <p:sp>
        <p:nvSpPr>
          <p:cNvPr id="13" name="Rounded Rectangle 12"/>
          <p:cNvSpPr/>
          <p:nvPr/>
        </p:nvSpPr>
        <p:spPr>
          <a:xfrm>
            <a:off x="566928" y="2267712"/>
            <a:ext cx="384048" cy="658368"/>
          </a:xfrm>
          <a:prstGeom prst="roundRect">
            <a:avLst>
              <a:gd name="adj" fmla="val 2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300" b="1" i="0">
                <a:solidFill>
                  <a:srgbClr val="FFFFFF"/>
                </a:solidFill>
                <a:latin typeface="Segoe UI"/>
              </a:rPr>
              <a:t>2</a:t>
            </a:r>
          </a:p>
        </p:txBody>
      </p:sp>
      <p:sp>
        <p:nvSpPr>
          <p:cNvPr id="14" name="TextBox 13"/>
          <p:cNvSpPr txBox="1"/>
          <p:nvPr/>
        </p:nvSpPr>
        <p:spPr>
          <a:xfrm>
            <a:off x="1115568" y="2313432"/>
            <a:ext cx="3246120" cy="566928"/>
          </a:xfrm>
          <a:prstGeom prst="rect">
            <a:avLst/>
          </a:prstGeom>
          <a:noFill/>
        </p:spPr>
        <p:txBody>
          <a:bodyPr wrap="square" lIns="0" tIns="0" rIns="0" bIns="0" anchor="t">
            <a:spAutoFit/>
          </a:bodyPr>
          <a:lstStyle/>
          <a:p>
            <a:pPr algn="l">
              <a:lnSpc>
                <a:spcPct val="106000"/>
              </a:lnSpc>
            </a:pPr>
            <a:r>
              <a:rPr sz="1150" b="1" i="0">
                <a:solidFill>
                  <a:srgbClr val="0F172A"/>
                </a:solidFill>
                <a:latin typeface="Segoe UI"/>
              </a:rPr>
              <a:t>Router:
faq · booking · handoff · out_of_scope</a:t>
            </a:r>
          </a:p>
        </p:txBody>
      </p:sp>
      <p:cxnSp>
        <p:nvCxnSpPr>
          <p:cNvPr id="15" name="Connector 14"/>
          <p:cNvCxnSpPr/>
          <p:nvPr/>
        </p:nvCxnSpPr>
        <p:spPr>
          <a:xfrm>
            <a:off x="4544568" y="2596896"/>
            <a:ext cx="365760" cy="0"/>
          </a:xfrm>
          <a:prstGeom prst="line">
            <a:avLst/>
          </a:prstGeom>
          <a:ln w="1651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01768" y="2286000"/>
            <a:ext cx="2514600" cy="62179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40" b="1" i="0" dirty="0">
                <a:solidFill>
                  <a:srgbClr val="6D28D9"/>
                </a:solidFill>
                <a:latin typeface="Segoe UI"/>
              </a:rPr>
              <a:t>router/router.py</a:t>
            </a:r>
          </a:p>
          <a:p>
            <a:pPr algn="l">
              <a:lnSpc>
                <a:spcPct val="100000"/>
              </a:lnSpc>
              <a:spcBef>
                <a:spcPts val="0"/>
              </a:spcBef>
              <a:spcAft>
                <a:spcPts val="0"/>
              </a:spcAft>
            </a:pPr>
            <a:r>
              <a:rPr sz="940" b="1" i="0" dirty="0">
                <a:solidFill>
                  <a:srgbClr val="6D28D9"/>
                </a:solidFill>
                <a:latin typeface="Segoe UI"/>
              </a:rPr>
              <a:t>(model call 1)</a:t>
            </a:r>
          </a:p>
        </p:txBody>
      </p:sp>
      <p:sp>
        <p:nvSpPr>
          <p:cNvPr id="17" name="Rounded Rectangle 16"/>
          <p:cNvSpPr/>
          <p:nvPr/>
        </p:nvSpPr>
        <p:spPr>
          <a:xfrm>
            <a:off x="566928" y="3054096"/>
            <a:ext cx="384048" cy="658368"/>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300" b="1" i="0">
                <a:solidFill>
                  <a:srgbClr val="FFFFFF"/>
                </a:solidFill>
                <a:latin typeface="Segoe UI"/>
              </a:rPr>
              <a:t>3</a:t>
            </a:r>
          </a:p>
        </p:txBody>
      </p:sp>
      <p:sp>
        <p:nvSpPr>
          <p:cNvPr id="18" name="TextBox 17"/>
          <p:cNvSpPr txBox="1"/>
          <p:nvPr/>
        </p:nvSpPr>
        <p:spPr>
          <a:xfrm>
            <a:off x="1115568" y="3099815"/>
            <a:ext cx="3246120" cy="566928"/>
          </a:xfrm>
          <a:prstGeom prst="rect">
            <a:avLst/>
          </a:prstGeom>
          <a:noFill/>
        </p:spPr>
        <p:txBody>
          <a:bodyPr wrap="square" lIns="0" tIns="0" rIns="0" bIns="0" anchor="t">
            <a:spAutoFit/>
          </a:bodyPr>
          <a:lstStyle/>
          <a:p>
            <a:pPr algn="l">
              <a:lnSpc>
                <a:spcPct val="106000"/>
              </a:lnSpc>
            </a:pPr>
            <a:r>
              <a:rPr sz="1150" b="1" i="0">
                <a:solidFill>
                  <a:srgbClr val="0F172A"/>
                </a:solidFill>
                <a:latin typeface="Segoe UI"/>
              </a:rPr>
              <a:t>FAQ: answer only from the
knowledge base, and cite it</a:t>
            </a:r>
          </a:p>
        </p:txBody>
      </p:sp>
      <p:cxnSp>
        <p:nvCxnSpPr>
          <p:cNvPr id="19" name="Connector 18"/>
          <p:cNvCxnSpPr/>
          <p:nvPr/>
        </p:nvCxnSpPr>
        <p:spPr>
          <a:xfrm>
            <a:off x="4544568" y="3383279"/>
            <a:ext cx="365760" cy="0"/>
          </a:xfrm>
          <a:prstGeom prst="line">
            <a:avLst/>
          </a:prstGeom>
          <a:ln w="1651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01768" y="3072384"/>
            <a:ext cx="2514600" cy="62179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40" b="1" i="0" dirty="0">
                <a:solidFill>
                  <a:srgbClr val="0F766E"/>
                </a:solidFill>
                <a:latin typeface="Segoe UI"/>
              </a:rPr>
              <a:t>faq/search.py</a:t>
            </a:r>
          </a:p>
          <a:p>
            <a:pPr algn="l">
              <a:lnSpc>
                <a:spcPct val="100000"/>
              </a:lnSpc>
              <a:spcBef>
                <a:spcPts val="0"/>
              </a:spcBef>
              <a:spcAft>
                <a:spcPts val="0"/>
              </a:spcAft>
            </a:pPr>
            <a:r>
              <a:rPr sz="940" b="1" i="0" dirty="0">
                <a:solidFill>
                  <a:srgbClr val="0F766E"/>
                </a:solidFill>
                <a:latin typeface="Segoe UI"/>
              </a:rPr>
              <a:t>faq/answer.py · faq/citation.py</a:t>
            </a:r>
          </a:p>
        </p:txBody>
      </p:sp>
      <p:sp>
        <p:nvSpPr>
          <p:cNvPr id="21" name="Rounded Rectangle 20"/>
          <p:cNvSpPr/>
          <p:nvPr/>
        </p:nvSpPr>
        <p:spPr>
          <a:xfrm>
            <a:off x="566928" y="3840480"/>
            <a:ext cx="384048" cy="658368"/>
          </a:xfrm>
          <a:prstGeom prst="roundRect">
            <a:avLst>
              <a:gd name="adj" fmla="val 2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300" b="1" i="0">
                <a:solidFill>
                  <a:srgbClr val="FFFFFF"/>
                </a:solidFill>
                <a:latin typeface="Segoe UI"/>
              </a:rPr>
              <a:t>4</a:t>
            </a:r>
          </a:p>
        </p:txBody>
      </p:sp>
      <p:sp>
        <p:nvSpPr>
          <p:cNvPr id="22" name="TextBox 21"/>
          <p:cNvSpPr txBox="1"/>
          <p:nvPr/>
        </p:nvSpPr>
        <p:spPr>
          <a:xfrm>
            <a:off x="1115568" y="3886200"/>
            <a:ext cx="3246120" cy="566928"/>
          </a:xfrm>
          <a:prstGeom prst="rect">
            <a:avLst/>
          </a:prstGeom>
          <a:noFill/>
        </p:spPr>
        <p:txBody>
          <a:bodyPr wrap="square" lIns="0" tIns="0" rIns="0" bIns="0" anchor="t">
            <a:spAutoFit/>
          </a:bodyPr>
          <a:lstStyle/>
          <a:p>
            <a:pPr algn="l">
              <a:lnSpc>
                <a:spcPct val="106000"/>
              </a:lnSpc>
            </a:pPr>
            <a:r>
              <a:rPr sz="1150" b="1" i="0" dirty="0">
                <a:solidFill>
                  <a:srgbClr val="0F172A"/>
                </a:solidFill>
                <a:latin typeface="Segoe UI"/>
              </a:rPr>
              <a:t>Booking: a step-by-step
flow in code</a:t>
            </a:r>
          </a:p>
        </p:txBody>
      </p:sp>
      <p:cxnSp>
        <p:nvCxnSpPr>
          <p:cNvPr id="23" name="Connector 22"/>
          <p:cNvCxnSpPr/>
          <p:nvPr/>
        </p:nvCxnSpPr>
        <p:spPr>
          <a:xfrm>
            <a:off x="4544568" y="4169664"/>
            <a:ext cx="365760" cy="0"/>
          </a:xfrm>
          <a:prstGeom prst="line">
            <a:avLst/>
          </a:prstGeom>
          <a:ln w="1651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01768" y="3858768"/>
            <a:ext cx="2514600" cy="62179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40" b="1" i="0">
                <a:solidFill>
                  <a:srgbClr val="B45309"/>
                </a:solidFill>
                <a:latin typeface="Segoe UI"/>
              </a:rPr>
              <a:t>booking/state_machine.py</a:t>
            </a:r>
          </a:p>
          <a:p>
            <a:pPr algn="l">
              <a:lnSpc>
                <a:spcPct val="100000"/>
              </a:lnSpc>
              <a:spcBef>
                <a:spcPts val="0"/>
              </a:spcBef>
              <a:spcAft>
                <a:spcPts val="0"/>
              </a:spcAft>
            </a:pPr>
            <a:r>
              <a:rPr sz="940" b="1" i="0">
                <a:solidFill>
                  <a:srgbClr val="B45309"/>
                </a:solidFill>
                <a:latin typeface="Segoe UI"/>
              </a:rPr>
              <a:t>validate · availability · persistence</a:t>
            </a:r>
          </a:p>
        </p:txBody>
      </p:sp>
      <p:sp>
        <p:nvSpPr>
          <p:cNvPr id="25" name="Rounded Rectangle 24"/>
          <p:cNvSpPr/>
          <p:nvPr/>
        </p:nvSpPr>
        <p:spPr>
          <a:xfrm>
            <a:off x="566928" y="4626864"/>
            <a:ext cx="384048" cy="658368"/>
          </a:xfrm>
          <a:prstGeom prst="roundRect">
            <a:avLst>
              <a:gd name="adj" fmla="val 2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300" b="1" i="0">
                <a:solidFill>
                  <a:srgbClr val="FFFFFF"/>
                </a:solidFill>
                <a:latin typeface="Segoe UI"/>
              </a:rPr>
              <a:t>5</a:t>
            </a:r>
          </a:p>
        </p:txBody>
      </p:sp>
      <p:sp>
        <p:nvSpPr>
          <p:cNvPr id="26" name="TextBox 25"/>
          <p:cNvSpPr txBox="1"/>
          <p:nvPr/>
        </p:nvSpPr>
        <p:spPr>
          <a:xfrm>
            <a:off x="1115568" y="4672584"/>
            <a:ext cx="3246120" cy="566928"/>
          </a:xfrm>
          <a:prstGeom prst="rect">
            <a:avLst/>
          </a:prstGeom>
          <a:noFill/>
        </p:spPr>
        <p:txBody>
          <a:bodyPr wrap="square" lIns="0" tIns="0" rIns="0" bIns="0" anchor="t">
            <a:spAutoFit/>
          </a:bodyPr>
          <a:lstStyle/>
          <a:p>
            <a:pPr algn="l">
              <a:lnSpc>
                <a:spcPct val="106000"/>
              </a:lnSpc>
            </a:pPr>
            <a:r>
              <a:rPr sz="1150" b="1" i="0" dirty="0">
                <a:solidFill>
                  <a:srgbClr val="0F172A"/>
                </a:solidFill>
                <a:latin typeface="Segoe UI"/>
              </a:rPr>
              <a:t>Hand off complaints and
repeated failures</a:t>
            </a:r>
          </a:p>
        </p:txBody>
      </p:sp>
      <p:cxnSp>
        <p:nvCxnSpPr>
          <p:cNvPr id="27" name="Connector 26"/>
          <p:cNvCxnSpPr/>
          <p:nvPr/>
        </p:nvCxnSpPr>
        <p:spPr>
          <a:xfrm>
            <a:off x="4544568" y="4956048"/>
            <a:ext cx="365760" cy="0"/>
          </a:xfrm>
          <a:prstGeom prst="line">
            <a:avLst/>
          </a:prstGeom>
          <a:ln w="1651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01768" y="4645152"/>
            <a:ext cx="2514600" cy="62179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40" b="1" i="0" dirty="0">
                <a:solidFill>
                  <a:srgbClr val="15803D"/>
                </a:solidFill>
                <a:latin typeface="Segoe UI"/>
              </a:rPr>
              <a:t>router → handoff</a:t>
            </a:r>
          </a:p>
          <a:p>
            <a:pPr algn="l">
              <a:lnSpc>
                <a:spcPct val="100000"/>
              </a:lnSpc>
              <a:spcBef>
                <a:spcPts val="0"/>
              </a:spcBef>
              <a:spcAft>
                <a:spcPts val="0"/>
              </a:spcAft>
            </a:pPr>
            <a:r>
              <a:rPr sz="940" b="1" i="0" dirty="0">
                <a:solidFill>
                  <a:srgbClr val="15803D"/>
                </a:solidFill>
                <a:latin typeface="Segoe UI"/>
              </a:rPr>
              <a:t>session retry counter</a:t>
            </a:r>
          </a:p>
        </p:txBody>
      </p:sp>
      <p:sp>
        <p:nvSpPr>
          <p:cNvPr id="29" name="Rounded Rectangle 28"/>
          <p:cNvSpPr/>
          <p:nvPr/>
        </p:nvSpPr>
        <p:spPr>
          <a:xfrm>
            <a:off x="7635240" y="1444752"/>
            <a:ext cx="3986784" cy="2240280"/>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1" name="TextBox 30"/>
          <p:cNvSpPr txBox="1"/>
          <p:nvPr/>
        </p:nvSpPr>
        <p:spPr>
          <a:xfrm>
            <a:off x="7836408" y="1868792"/>
            <a:ext cx="3611880" cy="1691640"/>
          </a:xfrm>
          <a:prstGeom prst="rect">
            <a:avLst/>
          </a:prstGeom>
          <a:noFill/>
        </p:spPr>
        <p:txBody>
          <a:bodyPr wrap="square" lIns="0" tIns="0" rIns="0" bIns="0">
            <a:spAutoFit/>
          </a:bodyPr>
          <a:lstStyle/>
          <a:p>
            <a:pPr>
              <a:lnSpc>
                <a:spcPct val="106000"/>
              </a:lnSpc>
              <a:spcAft>
                <a:spcPts val="600"/>
              </a:spcAft>
            </a:pPr>
            <a:r>
              <a:rPr sz="1050" b="1" dirty="0">
                <a:solidFill>
                  <a:srgbClr val="6D28D9"/>
                </a:solidFill>
                <a:latin typeface="Segoe UI"/>
              </a:rPr>
              <a:t>▪  </a:t>
            </a:r>
            <a:r>
              <a:rPr sz="1050" b="0" i="0" dirty="0">
                <a:solidFill>
                  <a:srgbClr val="334155"/>
                </a:solidFill>
                <a:latin typeface="Segoe UI"/>
              </a:rPr>
              <a:t>Two paths: </a:t>
            </a:r>
            <a:r>
              <a:rPr sz="1050" b="1" i="0" dirty="0">
                <a:solidFill>
                  <a:srgbClr val="334155"/>
                </a:solidFill>
                <a:latin typeface="Segoe UI"/>
              </a:rPr>
              <a:t>guardrail → router → four branches</a:t>
            </a:r>
          </a:p>
          <a:p>
            <a:pPr>
              <a:lnSpc>
                <a:spcPct val="106000"/>
              </a:lnSpc>
              <a:spcAft>
                <a:spcPts val="600"/>
              </a:spcAft>
            </a:pPr>
            <a:r>
              <a:rPr sz="1050" b="1" dirty="0">
                <a:solidFill>
                  <a:srgbClr val="6D28D9"/>
                </a:solidFill>
                <a:latin typeface="Segoe UI"/>
              </a:rPr>
              <a:t>▪  </a:t>
            </a:r>
            <a:r>
              <a:rPr sz="1050" b="0" i="0" dirty="0">
                <a:solidFill>
                  <a:srgbClr val="334155"/>
                </a:solidFill>
                <a:latin typeface="Segoe UI"/>
              </a:rPr>
              <a:t>The booking is </a:t>
            </a:r>
            <a:r>
              <a:rPr sz="1050" b="1" i="0" dirty="0">
                <a:solidFill>
                  <a:srgbClr val="334155"/>
                </a:solidFill>
                <a:latin typeface="Segoe UI"/>
              </a:rPr>
              <a:t>code, not the model</a:t>
            </a:r>
            <a:r>
              <a:rPr sz="1050" b="0" i="0" dirty="0">
                <a:solidFill>
                  <a:srgbClr val="334155"/>
                </a:solidFill>
                <a:latin typeface="Segoe UI"/>
              </a:rPr>
              <a:t> — ten states, fixed order</a:t>
            </a:r>
          </a:p>
          <a:p>
            <a:pPr>
              <a:lnSpc>
                <a:spcPct val="106000"/>
              </a:lnSpc>
              <a:spcAft>
                <a:spcPts val="600"/>
              </a:spcAft>
            </a:pPr>
            <a:r>
              <a:rPr sz="1050" b="1" dirty="0">
                <a:solidFill>
                  <a:srgbClr val="6D28D9"/>
                </a:solidFill>
                <a:latin typeface="Segoe UI"/>
              </a:rPr>
              <a:t>▪  </a:t>
            </a:r>
            <a:r>
              <a:rPr sz="1050" b="0" i="0" dirty="0">
                <a:solidFill>
                  <a:srgbClr val="334155"/>
                </a:solidFill>
                <a:latin typeface="Segoe UI"/>
              </a:rPr>
              <a:t>States </a:t>
            </a:r>
            <a:r>
              <a:rPr sz="1050" b="0" i="0" dirty="0" err="1">
                <a:solidFill>
                  <a:srgbClr val="334155"/>
                </a:solidFill>
                <a:latin typeface="Segoe UI"/>
              </a:rPr>
              <a:t>colour</a:t>
            </a:r>
            <a:r>
              <a:rPr sz="1050" b="0" i="0" dirty="0">
                <a:solidFill>
                  <a:srgbClr val="334155"/>
                </a:solidFill>
                <a:latin typeface="Segoe UI"/>
              </a:rPr>
              <a:t>-coded: personal data, consent, other steps</a:t>
            </a:r>
          </a:p>
          <a:p>
            <a:pPr>
              <a:lnSpc>
                <a:spcPct val="106000"/>
              </a:lnSpc>
              <a:spcAft>
                <a:spcPts val="600"/>
              </a:spcAft>
            </a:pPr>
            <a:r>
              <a:rPr sz="1050" b="1" dirty="0">
                <a:solidFill>
                  <a:srgbClr val="6D28D9"/>
                </a:solidFill>
                <a:latin typeface="Segoe UI"/>
              </a:rPr>
              <a:t>▪  </a:t>
            </a:r>
            <a:r>
              <a:rPr sz="1050" b="0" i="0" dirty="0">
                <a:solidFill>
                  <a:srgbClr val="334155"/>
                </a:solidFill>
                <a:latin typeface="Segoe UI"/>
              </a:rPr>
              <a:t>Four guardrails: consent before saving · never collect NRIC or card · mask personal data in logs · three failed tries → a human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LOGICAL ARCHITECTURE</a:t>
            </a:r>
          </a:p>
        </p:txBody>
      </p:sp>
      <p:sp>
        <p:nvSpPr>
          <p:cNvPr id="4" name="TextBox 3"/>
          <p:cNvSpPr txBox="1"/>
          <p:nvPr/>
        </p:nvSpPr>
        <p:spPr>
          <a:xfrm>
            <a:off x="566928" y="566928"/>
            <a:ext cx="11057839" cy="384721"/>
          </a:xfrm>
          <a:prstGeom prst="rect">
            <a:avLst/>
          </a:prstGeom>
          <a:noFill/>
        </p:spPr>
        <p:txBody>
          <a:bodyPr wrap="square" lIns="0" tIns="0" rIns="0" bIns="0" anchor="t">
            <a:spAutoFit/>
          </a:bodyPr>
          <a:lstStyle/>
          <a:p>
            <a:pPr algn="l">
              <a:lnSpc>
                <a:spcPct val="100000"/>
              </a:lnSpc>
            </a:pPr>
            <a:r>
              <a:rPr sz="2500" b="1" i="0" dirty="0">
                <a:solidFill>
                  <a:srgbClr val="0F172A"/>
                </a:solidFill>
                <a:latin typeface="Segoe UI"/>
              </a:rPr>
              <a:t>The architecture</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One customer message in, one reply and one trace record out. Purple = the model; everything else is code.</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2</a:t>
            </a:r>
          </a:p>
        </p:txBody>
      </p:sp>
      <p:sp>
        <p:nvSpPr>
          <p:cNvPr id="9" name="Rounded Rectangle 8"/>
          <p:cNvSpPr/>
          <p:nvPr/>
        </p:nvSpPr>
        <p:spPr>
          <a:xfrm>
            <a:off x="8275320" y="1225296"/>
            <a:ext cx="617220" cy="201168"/>
          </a:xfrm>
          <a:prstGeom prst="roundRect">
            <a:avLst>
              <a:gd name="adj" fmla="val 35000"/>
            </a:avLst>
          </a:prstGeom>
          <a:solidFill>
            <a:srgbClr val="EEE9F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6D28D9"/>
                </a:solidFill>
                <a:latin typeface="Segoe UI"/>
              </a:rPr>
              <a:t>model</a:t>
            </a:r>
          </a:p>
        </p:txBody>
      </p:sp>
      <p:sp>
        <p:nvSpPr>
          <p:cNvPr id="10" name="Rounded Rectangle 9"/>
          <p:cNvSpPr/>
          <p:nvPr/>
        </p:nvSpPr>
        <p:spPr>
          <a:xfrm>
            <a:off x="9002268" y="1225296"/>
            <a:ext cx="548640" cy="201168"/>
          </a:xfrm>
          <a:prstGeom prst="roundRect">
            <a:avLst>
              <a:gd name="adj" fmla="val 35000"/>
            </a:avLst>
          </a:prstGeom>
          <a:solidFill>
            <a:srgbClr val="FDF0D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B45309"/>
                </a:solidFill>
                <a:latin typeface="Segoe UI"/>
              </a:rPr>
              <a:t>code</a:t>
            </a:r>
          </a:p>
        </p:txBody>
      </p:sp>
      <p:sp>
        <p:nvSpPr>
          <p:cNvPr id="11" name="Rounded Rectangle 10"/>
          <p:cNvSpPr/>
          <p:nvPr/>
        </p:nvSpPr>
        <p:spPr>
          <a:xfrm>
            <a:off x="9660636" y="1225296"/>
            <a:ext cx="548640" cy="201168"/>
          </a:xfrm>
          <a:prstGeom prst="roundRect">
            <a:avLst>
              <a:gd name="adj" fmla="val 3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475569"/>
                </a:solidFill>
                <a:latin typeface="Segoe UI"/>
              </a:rPr>
              <a:t>data</a:t>
            </a:r>
          </a:p>
        </p:txBody>
      </p:sp>
      <p:sp>
        <p:nvSpPr>
          <p:cNvPr id="12" name="Rounded Rectangle 11"/>
          <p:cNvSpPr/>
          <p:nvPr/>
        </p:nvSpPr>
        <p:spPr>
          <a:xfrm>
            <a:off x="10319004" y="1225296"/>
            <a:ext cx="891539" cy="20116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B91C1C"/>
                </a:solidFill>
                <a:latin typeface="Segoe UI"/>
              </a:rPr>
              <a:t>guardrail</a:t>
            </a:r>
          </a:p>
        </p:txBody>
      </p:sp>
      <p:sp>
        <p:nvSpPr>
          <p:cNvPr id="13" name="Rounded Rectangle 12"/>
          <p:cNvSpPr/>
          <p:nvPr/>
        </p:nvSpPr>
        <p:spPr>
          <a:xfrm>
            <a:off x="2697480" y="1554480"/>
            <a:ext cx="6812280" cy="365760"/>
          </a:xfrm>
          <a:prstGeom prst="roundRect">
            <a:avLst>
              <a:gd name="adj" fmla="val 10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60" b="1" i="0">
                <a:solidFill>
                  <a:srgbClr val="0F172A"/>
                </a:solidFill>
                <a:latin typeface="Segoe UI"/>
              </a:rPr>
              <a:t>STREAMLIT UI   chat input  ·  booking state panel  ·  workflow trace  ·  metrics line</a:t>
            </a:r>
          </a:p>
        </p:txBody>
      </p:sp>
      <p:cxnSp>
        <p:nvCxnSpPr>
          <p:cNvPr id="14" name="Connector 13"/>
          <p:cNvCxnSpPr/>
          <p:nvPr/>
        </p:nvCxnSpPr>
        <p:spPr>
          <a:xfrm>
            <a:off x="6095847" y="1920240"/>
            <a:ext cx="0" cy="128016"/>
          </a:xfrm>
          <a:prstGeom prst="line">
            <a:avLst/>
          </a:prstGeom>
          <a:ln w="1778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697480" y="2048256"/>
            <a:ext cx="6812280" cy="329184"/>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80" b="1" i="0">
                <a:solidFill>
                  <a:srgbClr val="FFFFFF"/>
                </a:solidFill>
                <a:latin typeface="Segoe UI"/>
              </a:rPr>
              <a:t>core/orchestrator.py   —   handle_turn(session, text) → reply + trace</a:t>
            </a:r>
          </a:p>
        </p:txBody>
      </p:sp>
      <p:cxnSp>
        <p:nvCxnSpPr>
          <p:cNvPr id="16" name="Connector 15"/>
          <p:cNvCxnSpPr/>
          <p:nvPr/>
        </p:nvCxnSpPr>
        <p:spPr>
          <a:xfrm>
            <a:off x="6095847" y="2377440"/>
            <a:ext cx="0" cy="128016"/>
          </a:xfrm>
          <a:prstGeom prst="line">
            <a:avLst/>
          </a:prstGeom>
          <a:ln w="1778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697480" y="2505456"/>
            <a:ext cx="6812280" cy="384048"/>
          </a:xfrm>
          <a:prstGeom prst="roundRect">
            <a:avLst>
              <a:gd name="adj" fmla="val 10000"/>
            </a:avLst>
          </a:prstGeom>
          <a:solidFill>
            <a:srgbClr val="FDE6E6"/>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40" b="1" i="0" dirty="0">
                <a:solidFill>
                  <a:srgbClr val="B91C1C"/>
                </a:solidFill>
                <a:latin typeface="Segoe UI"/>
              </a:rPr>
              <a:t>GUARDRAILS (code, before any model call)</a:t>
            </a:r>
            <a:r>
              <a:rPr lang="en-US" sz="940" b="1" i="0" dirty="0">
                <a:solidFill>
                  <a:srgbClr val="B91C1C"/>
                </a:solidFill>
                <a:latin typeface="Segoe UI"/>
              </a:rPr>
              <a:t>, System prompt for typo/grammar correction</a:t>
            </a:r>
          </a:p>
          <a:p>
            <a:pPr algn="ctr">
              <a:lnSpc>
                <a:spcPct val="100000"/>
              </a:lnSpc>
              <a:spcBef>
                <a:spcPts val="0"/>
              </a:spcBef>
              <a:spcAft>
                <a:spcPts val="0"/>
              </a:spcAft>
            </a:pPr>
            <a:r>
              <a:rPr sz="940" b="1" i="0" dirty="0">
                <a:solidFill>
                  <a:srgbClr val="B91C1C"/>
                </a:solidFill>
                <a:latin typeface="Segoe UI"/>
              </a:rPr>
              <a:t>  redact NRIC · FIN · passport · card   ·   block injection &amp; discount requests</a:t>
            </a:r>
          </a:p>
        </p:txBody>
      </p:sp>
      <p:cxnSp>
        <p:nvCxnSpPr>
          <p:cNvPr id="18" name="Connector 17"/>
          <p:cNvCxnSpPr/>
          <p:nvPr/>
        </p:nvCxnSpPr>
        <p:spPr>
          <a:xfrm>
            <a:off x="6095847" y="2889504"/>
            <a:ext cx="0" cy="128016"/>
          </a:xfrm>
          <a:prstGeom prst="line">
            <a:avLst/>
          </a:prstGeom>
          <a:ln w="1778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950208" y="3017520"/>
            <a:ext cx="4297680" cy="365760"/>
          </a:xfrm>
          <a:prstGeom prst="roundRect">
            <a:avLst>
              <a:gd name="adj" fmla="val 10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80" b="1" i="0">
                <a:solidFill>
                  <a:srgbClr val="6D28D9"/>
                </a:solidFill>
                <a:latin typeface="Segoe UI"/>
              </a:rPr>
              <a:t>ROUTER (model call 1)   router/router.py → one of four routes</a:t>
            </a:r>
          </a:p>
        </p:txBody>
      </p:sp>
      <p:cxnSp>
        <p:nvCxnSpPr>
          <p:cNvPr id="20" name="Connector 19"/>
          <p:cNvCxnSpPr/>
          <p:nvPr/>
        </p:nvCxnSpPr>
        <p:spPr>
          <a:xfrm flipH="1">
            <a:off x="1879092" y="3383280"/>
            <a:ext cx="4216755" cy="329183"/>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66928" y="3712463"/>
            <a:ext cx="2624328" cy="329184"/>
          </a:xfrm>
          <a:prstGeom prst="roundRect">
            <a:avLst>
              <a:gd name="adj" fmla="val 1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lang="en-US" sz="1050" b="1" i="0" dirty="0" err="1">
                <a:solidFill>
                  <a:srgbClr val="FFFFFF"/>
                </a:solidFill>
                <a:latin typeface="Segoe UI"/>
              </a:rPr>
              <a:t>F</a:t>
            </a:r>
            <a:r>
              <a:rPr sz="1050" b="1" i="0" dirty="0" err="1">
                <a:solidFill>
                  <a:srgbClr val="FFFFFF"/>
                </a:solidFill>
                <a:latin typeface="Segoe UI"/>
              </a:rPr>
              <a:t>aq</a:t>
            </a:r>
            <a:r>
              <a:rPr lang="en-US" sz="1050" b="1" i="0" dirty="0">
                <a:solidFill>
                  <a:srgbClr val="FFFFFF"/>
                </a:solidFill>
                <a:latin typeface="Segoe UI"/>
              </a:rPr>
              <a:t> (TF-IDF vs </a:t>
            </a:r>
            <a:r>
              <a:rPr lang="en-US" sz="1050" b="1" i="0" dirty="0" err="1">
                <a:solidFill>
                  <a:srgbClr val="FFFFFF"/>
                </a:solidFill>
                <a:latin typeface="Segoe UI"/>
              </a:rPr>
              <a:t>GrapRAG</a:t>
            </a:r>
            <a:r>
              <a:rPr lang="en-US" sz="1050" b="1" i="0" dirty="0">
                <a:solidFill>
                  <a:srgbClr val="FFFFFF"/>
                </a:solidFill>
                <a:latin typeface="Segoe UI"/>
              </a:rPr>
              <a:t>) </a:t>
            </a:r>
            <a:endParaRPr sz="1050" b="1" i="0" dirty="0">
              <a:solidFill>
                <a:srgbClr val="FFFFFF"/>
              </a:solidFill>
              <a:latin typeface="Segoe UI"/>
            </a:endParaRPr>
          </a:p>
        </p:txBody>
      </p:sp>
      <p:sp>
        <p:nvSpPr>
          <p:cNvPr id="22" name="TextBox 21"/>
          <p:cNvSpPr txBox="1"/>
          <p:nvPr/>
        </p:nvSpPr>
        <p:spPr>
          <a:xfrm>
            <a:off x="640080" y="4078224"/>
            <a:ext cx="2478024" cy="201168"/>
          </a:xfrm>
          <a:prstGeom prst="rect">
            <a:avLst/>
          </a:prstGeom>
          <a:noFill/>
        </p:spPr>
        <p:txBody>
          <a:bodyPr wrap="square" lIns="0" tIns="0" rIns="0" bIns="0" anchor="t">
            <a:spAutoFit/>
          </a:bodyPr>
          <a:lstStyle/>
          <a:p>
            <a:pPr algn="ctr">
              <a:lnSpc>
                <a:spcPct val="100000"/>
              </a:lnSpc>
            </a:pPr>
            <a:r>
              <a:rPr sz="840" b="0" i="0">
                <a:solidFill>
                  <a:srgbClr val="64748B"/>
                </a:solidFill>
                <a:latin typeface="Segoe UI"/>
              </a:rPr>
              <a:t>Retrieve, answer only from the KB, cite it</a:t>
            </a:r>
          </a:p>
        </p:txBody>
      </p:sp>
      <p:cxnSp>
        <p:nvCxnSpPr>
          <p:cNvPr id="23" name="Connector 22"/>
          <p:cNvCxnSpPr/>
          <p:nvPr/>
        </p:nvCxnSpPr>
        <p:spPr>
          <a:xfrm flipH="1">
            <a:off x="4690872" y="3383280"/>
            <a:ext cx="1404975" cy="329183"/>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378708" y="3712463"/>
            <a:ext cx="2624328" cy="329184"/>
          </a:xfrm>
          <a:prstGeom prst="roundRect">
            <a:avLst>
              <a:gd name="adj" fmla="val 1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050" b="1" i="0">
                <a:solidFill>
                  <a:srgbClr val="FFFFFF"/>
                </a:solidFill>
                <a:latin typeface="Segoe UI"/>
              </a:rPr>
              <a:t>booking</a:t>
            </a:r>
          </a:p>
        </p:txBody>
      </p:sp>
      <p:sp>
        <p:nvSpPr>
          <p:cNvPr id="25" name="TextBox 24"/>
          <p:cNvSpPr txBox="1"/>
          <p:nvPr/>
        </p:nvSpPr>
        <p:spPr>
          <a:xfrm>
            <a:off x="3451860" y="4078224"/>
            <a:ext cx="2478024" cy="201168"/>
          </a:xfrm>
          <a:prstGeom prst="rect">
            <a:avLst/>
          </a:prstGeom>
          <a:noFill/>
        </p:spPr>
        <p:txBody>
          <a:bodyPr wrap="square" lIns="0" tIns="0" rIns="0" bIns="0" anchor="t">
            <a:spAutoFit/>
          </a:bodyPr>
          <a:lstStyle/>
          <a:p>
            <a:pPr algn="ctr">
              <a:lnSpc>
                <a:spcPct val="100000"/>
              </a:lnSpc>
            </a:pPr>
            <a:r>
              <a:rPr sz="840" b="0" i="0">
                <a:solidFill>
                  <a:srgbClr val="64748B"/>
                </a:solidFill>
                <a:latin typeface="Segoe UI"/>
              </a:rPr>
              <a:t>Step-by-step flow in code</a:t>
            </a:r>
          </a:p>
        </p:txBody>
      </p:sp>
      <p:cxnSp>
        <p:nvCxnSpPr>
          <p:cNvPr id="26" name="Connector 25"/>
          <p:cNvCxnSpPr/>
          <p:nvPr/>
        </p:nvCxnSpPr>
        <p:spPr>
          <a:xfrm>
            <a:off x="6095847" y="3383280"/>
            <a:ext cx="1406805" cy="329183"/>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90488" y="3712463"/>
            <a:ext cx="2624328" cy="329184"/>
          </a:xfrm>
          <a:prstGeom prst="roundRect">
            <a:avLst>
              <a:gd name="adj" fmla="val 1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050" b="1" i="0">
                <a:solidFill>
                  <a:srgbClr val="FFFFFF"/>
                </a:solidFill>
                <a:latin typeface="Segoe UI"/>
              </a:rPr>
              <a:t>handoff</a:t>
            </a:r>
          </a:p>
        </p:txBody>
      </p:sp>
      <p:sp>
        <p:nvSpPr>
          <p:cNvPr id="28" name="TextBox 27"/>
          <p:cNvSpPr txBox="1"/>
          <p:nvPr/>
        </p:nvSpPr>
        <p:spPr>
          <a:xfrm>
            <a:off x="6263640" y="4078224"/>
            <a:ext cx="2478024" cy="201168"/>
          </a:xfrm>
          <a:prstGeom prst="rect">
            <a:avLst/>
          </a:prstGeom>
          <a:noFill/>
        </p:spPr>
        <p:txBody>
          <a:bodyPr wrap="square" lIns="0" tIns="0" rIns="0" bIns="0" anchor="t">
            <a:spAutoFit/>
          </a:bodyPr>
          <a:lstStyle/>
          <a:p>
            <a:pPr algn="ctr">
              <a:lnSpc>
                <a:spcPct val="100000"/>
              </a:lnSpc>
            </a:pPr>
            <a:r>
              <a:rPr sz="840" b="0" i="0">
                <a:solidFill>
                  <a:srgbClr val="64748B"/>
                </a:solidFill>
                <a:latin typeface="Segoe UI"/>
              </a:rPr>
              <a:t>Pass to a human</a:t>
            </a:r>
          </a:p>
        </p:txBody>
      </p:sp>
      <p:cxnSp>
        <p:nvCxnSpPr>
          <p:cNvPr id="29" name="Connector 28"/>
          <p:cNvCxnSpPr/>
          <p:nvPr/>
        </p:nvCxnSpPr>
        <p:spPr>
          <a:xfrm>
            <a:off x="6095847" y="3383280"/>
            <a:ext cx="4218585" cy="329183"/>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002268" y="3712463"/>
            <a:ext cx="2624328" cy="329184"/>
          </a:xfrm>
          <a:prstGeom prst="roundRect">
            <a:avLst>
              <a:gd name="adj" fmla="val 10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1050" b="1" i="0">
                <a:solidFill>
                  <a:srgbClr val="FFFFFF"/>
                </a:solidFill>
                <a:latin typeface="Segoe UI"/>
              </a:rPr>
              <a:t>out_of_scope</a:t>
            </a:r>
          </a:p>
        </p:txBody>
      </p:sp>
      <p:sp>
        <p:nvSpPr>
          <p:cNvPr id="31" name="TextBox 30"/>
          <p:cNvSpPr txBox="1"/>
          <p:nvPr/>
        </p:nvSpPr>
        <p:spPr>
          <a:xfrm>
            <a:off x="9075420" y="4078224"/>
            <a:ext cx="2478024" cy="201168"/>
          </a:xfrm>
          <a:prstGeom prst="rect">
            <a:avLst/>
          </a:prstGeom>
          <a:noFill/>
        </p:spPr>
        <p:txBody>
          <a:bodyPr wrap="square" lIns="0" tIns="0" rIns="0" bIns="0" anchor="t">
            <a:spAutoFit/>
          </a:bodyPr>
          <a:lstStyle/>
          <a:p>
            <a:pPr algn="ctr">
              <a:lnSpc>
                <a:spcPct val="100000"/>
              </a:lnSpc>
            </a:pPr>
            <a:r>
              <a:rPr sz="840" b="0" i="0">
                <a:solidFill>
                  <a:srgbClr val="64748B"/>
                </a:solidFill>
                <a:latin typeface="Segoe UI"/>
              </a:rPr>
              <a:t>Polite decline</a:t>
            </a:r>
          </a:p>
        </p:txBody>
      </p:sp>
      <p:sp>
        <p:nvSpPr>
          <p:cNvPr id="32" name="Rounded Rectangle 31"/>
          <p:cNvSpPr/>
          <p:nvPr/>
        </p:nvSpPr>
        <p:spPr>
          <a:xfrm>
            <a:off x="566928" y="4315968"/>
            <a:ext cx="2624328" cy="338328"/>
          </a:xfrm>
          <a:prstGeom prst="roundRect">
            <a:avLst>
              <a:gd name="adj" fmla="val 10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49224" y="4357116"/>
            <a:ext cx="2459736" cy="182880"/>
          </a:xfrm>
          <a:prstGeom prst="rect">
            <a:avLst/>
          </a:prstGeom>
          <a:noFill/>
        </p:spPr>
        <p:txBody>
          <a:bodyPr wrap="square" lIns="0" tIns="0" rIns="0" bIns="0" anchor="t">
            <a:spAutoFit/>
          </a:bodyPr>
          <a:lstStyle/>
          <a:p>
            <a:pPr algn="l">
              <a:lnSpc>
                <a:spcPct val="100000"/>
              </a:lnSpc>
            </a:pPr>
            <a:r>
              <a:rPr sz="840" b="1" i="0">
                <a:solidFill>
                  <a:srgbClr val="475569"/>
                </a:solidFill>
                <a:latin typeface="Segoe UI"/>
              </a:rPr>
              <a:t>faq/index.py</a:t>
            </a:r>
          </a:p>
        </p:txBody>
      </p:sp>
      <p:sp>
        <p:nvSpPr>
          <p:cNvPr id="34" name="TextBox 33"/>
          <p:cNvSpPr txBox="1"/>
          <p:nvPr/>
        </p:nvSpPr>
        <p:spPr>
          <a:xfrm>
            <a:off x="649224" y="4512564"/>
            <a:ext cx="2459736" cy="128016"/>
          </a:xfrm>
          <a:prstGeom prst="rect">
            <a:avLst/>
          </a:prstGeom>
          <a:noFill/>
        </p:spPr>
        <p:txBody>
          <a:bodyPr wrap="square" lIns="0" tIns="0" rIns="0" bIns="0" anchor="t">
            <a:spAutoFit/>
          </a:bodyPr>
          <a:lstStyle/>
          <a:p>
            <a:pPr algn="l">
              <a:lnSpc>
                <a:spcPct val="100000"/>
              </a:lnSpc>
            </a:pPr>
            <a:r>
              <a:rPr sz="760" b="0" i="0" dirty="0">
                <a:solidFill>
                  <a:srgbClr val="64748B"/>
                </a:solidFill>
                <a:latin typeface="Segoe UI"/>
              </a:rPr>
              <a:t>12 KB sections, split at the ## headings</a:t>
            </a:r>
          </a:p>
        </p:txBody>
      </p:sp>
      <p:cxnSp>
        <p:nvCxnSpPr>
          <p:cNvPr id="35" name="Connector 34"/>
          <p:cNvCxnSpPr/>
          <p:nvPr/>
        </p:nvCxnSpPr>
        <p:spPr>
          <a:xfrm>
            <a:off x="1879092" y="4654296"/>
            <a:ext cx="0" cy="91440"/>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66928" y="4745736"/>
            <a:ext cx="2624328" cy="338328"/>
          </a:xfrm>
          <a:prstGeom prst="roundRect">
            <a:avLst>
              <a:gd name="adj" fmla="val 10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649224" y="4786883"/>
            <a:ext cx="2459736" cy="182880"/>
          </a:xfrm>
          <a:prstGeom prst="rect">
            <a:avLst/>
          </a:prstGeom>
          <a:noFill/>
        </p:spPr>
        <p:txBody>
          <a:bodyPr wrap="square" lIns="0" tIns="0" rIns="0" bIns="0" anchor="t">
            <a:spAutoFit/>
          </a:bodyPr>
          <a:lstStyle/>
          <a:p>
            <a:pPr algn="l">
              <a:lnSpc>
                <a:spcPct val="100000"/>
              </a:lnSpc>
            </a:pPr>
            <a:r>
              <a:rPr sz="840" b="1" i="0">
                <a:solidFill>
                  <a:srgbClr val="475569"/>
                </a:solidFill>
                <a:latin typeface="Segoe UI"/>
              </a:rPr>
              <a:t>faq/search.py</a:t>
            </a:r>
          </a:p>
        </p:txBody>
      </p:sp>
      <p:sp>
        <p:nvSpPr>
          <p:cNvPr id="38" name="TextBox 37"/>
          <p:cNvSpPr txBox="1"/>
          <p:nvPr/>
        </p:nvSpPr>
        <p:spPr>
          <a:xfrm>
            <a:off x="649224" y="4942331"/>
            <a:ext cx="2459736" cy="128016"/>
          </a:xfrm>
          <a:prstGeom prst="rect">
            <a:avLst/>
          </a:prstGeom>
          <a:noFill/>
        </p:spPr>
        <p:txBody>
          <a:bodyPr wrap="square" lIns="0" tIns="0" rIns="0" bIns="0" anchor="t">
            <a:spAutoFit/>
          </a:bodyPr>
          <a:lstStyle/>
          <a:p>
            <a:pPr algn="l">
              <a:lnSpc>
                <a:spcPct val="100000"/>
              </a:lnSpc>
            </a:pPr>
            <a:r>
              <a:rPr sz="760" b="0" i="0">
                <a:solidFill>
                  <a:srgbClr val="64748B"/>
                </a:solidFill>
                <a:latin typeface="Segoe UI"/>
              </a:rPr>
              <a:t>TF-IDF score + the synonym map</a:t>
            </a:r>
          </a:p>
        </p:txBody>
      </p:sp>
      <p:cxnSp>
        <p:nvCxnSpPr>
          <p:cNvPr id="39" name="Connector 38"/>
          <p:cNvCxnSpPr/>
          <p:nvPr/>
        </p:nvCxnSpPr>
        <p:spPr>
          <a:xfrm>
            <a:off x="1879092" y="5084064"/>
            <a:ext cx="0" cy="91439"/>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566928" y="5175503"/>
            <a:ext cx="2624328" cy="338328"/>
          </a:xfrm>
          <a:prstGeom prst="roundRect">
            <a:avLst>
              <a:gd name="adj" fmla="val 10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649224" y="5216651"/>
            <a:ext cx="2459736" cy="182880"/>
          </a:xfrm>
          <a:prstGeom prst="rect">
            <a:avLst/>
          </a:prstGeom>
          <a:noFill/>
        </p:spPr>
        <p:txBody>
          <a:bodyPr wrap="square" lIns="0" tIns="0" rIns="0" bIns="0" anchor="t">
            <a:spAutoFit/>
          </a:bodyPr>
          <a:lstStyle/>
          <a:p>
            <a:pPr algn="l">
              <a:lnSpc>
                <a:spcPct val="100000"/>
              </a:lnSpc>
            </a:pPr>
            <a:r>
              <a:rPr sz="840" b="1" i="0">
                <a:solidFill>
                  <a:srgbClr val="6D28D9"/>
                </a:solidFill>
                <a:latin typeface="Segoe UI"/>
              </a:rPr>
              <a:t>faq/answer.py   MODEL</a:t>
            </a:r>
          </a:p>
        </p:txBody>
      </p:sp>
      <p:sp>
        <p:nvSpPr>
          <p:cNvPr id="42" name="TextBox 41"/>
          <p:cNvSpPr txBox="1"/>
          <p:nvPr/>
        </p:nvSpPr>
        <p:spPr>
          <a:xfrm>
            <a:off x="649224" y="5372099"/>
            <a:ext cx="2459736" cy="128016"/>
          </a:xfrm>
          <a:prstGeom prst="rect">
            <a:avLst/>
          </a:prstGeom>
          <a:noFill/>
        </p:spPr>
        <p:txBody>
          <a:bodyPr wrap="square" lIns="0" tIns="0" rIns="0" bIns="0" anchor="t">
            <a:spAutoFit/>
          </a:bodyPr>
          <a:lstStyle/>
          <a:p>
            <a:pPr algn="l">
              <a:lnSpc>
                <a:spcPct val="100000"/>
              </a:lnSpc>
            </a:pPr>
            <a:r>
              <a:rPr sz="760" b="0" i="0" dirty="0">
                <a:solidFill>
                  <a:srgbClr val="64748B"/>
                </a:solidFill>
                <a:latin typeface="Segoe UI"/>
              </a:rPr>
              <a:t>answers from that one section only</a:t>
            </a:r>
          </a:p>
        </p:txBody>
      </p:sp>
      <p:cxnSp>
        <p:nvCxnSpPr>
          <p:cNvPr id="43" name="Connector 42"/>
          <p:cNvCxnSpPr/>
          <p:nvPr/>
        </p:nvCxnSpPr>
        <p:spPr>
          <a:xfrm>
            <a:off x="1879092" y="5513831"/>
            <a:ext cx="0" cy="91440"/>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66928" y="5605271"/>
            <a:ext cx="2624328" cy="338328"/>
          </a:xfrm>
          <a:prstGeom prst="roundRect">
            <a:avLst>
              <a:gd name="adj" fmla="val 10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649224" y="5646419"/>
            <a:ext cx="2459736" cy="182880"/>
          </a:xfrm>
          <a:prstGeom prst="rect">
            <a:avLst/>
          </a:prstGeom>
          <a:noFill/>
        </p:spPr>
        <p:txBody>
          <a:bodyPr wrap="square" lIns="0" tIns="0" rIns="0" bIns="0" anchor="t">
            <a:spAutoFit/>
          </a:bodyPr>
          <a:lstStyle/>
          <a:p>
            <a:pPr algn="l">
              <a:lnSpc>
                <a:spcPct val="100000"/>
              </a:lnSpc>
            </a:pPr>
            <a:r>
              <a:rPr sz="840" b="1" i="0">
                <a:solidFill>
                  <a:srgbClr val="475569"/>
                </a:solidFill>
                <a:latin typeface="Segoe UI"/>
              </a:rPr>
              <a:t>faq/citation.py</a:t>
            </a:r>
          </a:p>
        </p:txBody>
      </p:sp>
      <p:sp>
        <p:nvSpPr>
          <p:cNvPr id="46" name="TextBox 45"/>
          <p:cNvSpPr txBox="1"/>
          <p:nvPr/>
        </p:nvSpPr>
        <p:spPr>
          <a:xfrm>
            <a:off x="649224" y="5801867"/>
            <a:ext cx="2459736" cy="128016"/>
          </a:xfrm>
          <a:prstGeom prst="rect">
            <a:avLst/>
          </a:prstGeom>
          <a:noFill/>
        </p:spPr>
        <p:txBody>
          <a:bodyPr wrap="square" lIns="0" tIns="0" rIns="0" bIns="0" anchor="t">
            <a:spAutoFit/>
          </a:bodyPr>
          <a:lstStyle/>
          <a:p>
            <a:pPr algn="l">
              <a:lnSpc>
                <a:spcPct val="100000"/>
              </a:lnSpc>
            </a:pPr>
            <a:r>
              <a:rPr sz="760" b="0" i="0">
                <a:solidFill>
                  <a:srgbClr val="64748B"/>
                </a:solidFill>
                <a:latin typeface="Segoe UI"/>
              </a:rPr>
              <a:t>appends “Source: &lt;section&gt;”</a:t>
            </a:r>
          </a:p>
        </p:txBody>
      </p:sp>
      <p:sp>
        <p:nvSpPr>
          <p:cNvPr id="47" name="Rounded Rectangle 46"/>
          <p:cNvSpPr/>
          <p:nvPr/>
        </p:nvSpPr>
        <p:spPr>
          <a:xfrm>
            <a:off x="3378708" y="4315968"/>
            <a:ext cx="2624328" cy="338328"/>
          </a:xfrm>
          <a:prstGeom prst="roundRect">
            <a:avLst>
              <a:gd name="adj" fmla="val 10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3461004" y="4357116"/>
            <a:ext cx="2459736" cy="182880"/>
          </a:xfrm>
          <a:prstGeom prst="rect">
            <a:avLst/>
          </a:prstGeom>
          <a:noFill/>
        </p:spPr>
        <p:txBody>
          <a:bodyPr wrap="square" lIns="0" tIns="0" rIns="0" bIns="0" anchor="t">
            <a:spAutoFit/>
          </a:bodyPr>
          <a:lstStyle/>
          <a:p>
            <a:pPr algn="l">
              <a:lnSpc>
                <a:spcPct val="100000"/>
              </a:lnSpc>
            </a:pPr>
            <a:r>
              <a:rPr sz="840" b="1" i="0">
                <a:solidFill>
                  <a:srgbClr val="475569"/>
                </a:solidFill>
                <a:latin typeface="Segoe UI"/>
              </a:rPr>
              <a:t>booking/state_machine.py</a:t>
            </a:r>
          </a:p>
        </p:txBody>
      </p:sp>
      <p:sp>
        <p:nvSpPr>
          <p:cNvPr id="49" name="TextBox 48"/>
          <p:cNvSpPr txBox="1"/>
          <p:nvPr/>
        </p:nvSpPr>
        <p:spPr>
          <a:xfrm>
            <a:off x="3461004" y="4512564"/>
            <a:ext cx="2459736" cy="128016"/>
          </a:xfrm>
          <a:prstGeom prst="rect">
            <a:avLst/>
          </a:prstGeom>
          <a:noFill/>
        </p:spPr>
        <p:txBody>
          <a:bodyPr wrap="square" lIns="0" tIns="0" rIns="0" bIns="0" anchor="t">
            <a:spAutoFit/>
          </a:bodyPr>
          <a:lstStyle/>
          <a:p>
            <a:pPr algn="l">
              <a:lnSpc>
                <a:spcPct val="100000"/>
              </a:lnSpc>
            </a:pPr>
            <a:r>
              <a:rPr sz="760" b="0" i="0">
                <a:solidFill>
                  <a:srgbClr val="64748B"/>
                </a:solidFill>
                <a:latin typeface="Segoe UI"/>
              </a:rPr>
              <a:t>ten states, fixed order, code-driven</a:t>
            </a:r>
          </a:p>
        </p:txBody>
      </p:sp>
      <p:cxnSp>
        <p:nvCxnSpPr>
          <p:cNvPr id="50" name="Connector 49"/>
          <p:cNvCxnSpPr/>
          <p:nvPr/>
        </p:nvCxnSpPr>
        <p:spPr>
          <a:xfrm>
            <a:off x="4690872" y="4654296"/>
            <a:ext cx="0" cy="91440"/>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378708" y="4745736"/>
            <a:ext cx="2624328" cy="338328"/>
          </a:xfrm>
          <a:prstGeom prst="roundRect">
            <a:avLst>
              <a:gd name="adj" fmla="val 10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3461004" y="4786883"/>
            <a:ext cx="2459736" cy="182880"/>
          </a:xfrm>
          <a:prstGeom prst="rect">
            <a:avLst/>
          </a:prstGeom>
          <a:noFill/>
        </p:spPr>
        <p:txBody>
          <a:bodyPr wrap="square" lIns="0" tIns="0" rIns="0" bIns="0" anchor="t">
            <a:spAutoFit/>
          </a:bodyPr>
          <a:lstStyle/>
          <a:p>
            <a:pPr algn="l">
              <a:lnSpc>
                <a:spcPct val="100000"/>
              </a:lnSpc>
            </a:pPr>
            <a:r>
              <a:rPr sz="840" b="1" i="0">
                <a:solidFill>
                  <a:srgbClr val="6D28D9"/>
                </a:solidFill>
                <a:latin typeface="Segoe UI"/>
              </a:rPr>
              <a:t>booking/extract.py   MODEL</a:t>
            </a:r>
          </a:p>
        </p:txBody>
      </p:sp>
      <p:sp>
        <p:nvSpPr>
          <p:cNvPr id="53" name="TextBox 52"/>
          <p:cNvSpPr txBox="1"/>
          <p:nvPr/>
        </p:nvSpPr>
        <p:spPr>
          <a:xfrm>
            <a:off x="3461004" y="4942331"/>
            <a:ext cx="2459736" cy="128016"/>
          </a:xfrm>
          <a:prstGeom prst="rect">
            <a:avLst/>
          </a:prstGeom>
          <a:noFill/>
        </p:spPr>
        <p:txBody>
          <a:bodyPr wrap="square" lIns="0" tIns="0" rIns="0" bIns="0" anchor="t">
            <a:spAutoFit/>
          </a:bodyPr>
          <a:lstStyle/>
          <a:p>
            <a:pPr algn="l">
              <a:lnSpc>
                <a:spcPct val="100000"/>
              </a:lnSpc>
            </a:pPr>
            <a:r>
              <a:rPr sz="760" b="0" i="0" dirty="0">
                <a:solidFill>
                  <a:srgbClr val="64748B"/>
                </a:solidFill>
                <a:latin typeface="Segoe UI"/>
              </a:rPr>
              <a:t>only for service · date · time slot</a:t>
            </a:r>
          </a:p>
        </p:txBody>
      </p:sp>
      <p:cxnSp>
        <p:nvCxnSpPr>
          <p:cNvPr id="54" name="Connector 53"/>
          <p:cNvCxnSpPr/>
          <p:nvPr/>
        </p:nvCxnSpPr>
        <p:spPr>
          <a:xfrm>
            <a:off x="4690872" y="5084064"/>
            <a:ext cx="0" cy="91439"/>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3378708" y="5175503"/>
            <a:ext cx="2624328" cy="338328"/>
          </a:xfrm>
          <a:prstGeom prst="roundRect">
            <a:avLst>
              <a:gd name="adj" fmla="val 10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TextBox 55"/>
          <p:cNvSpPr txBox="1"/>
          <p:nvPr/>
        </p:nvSpPr>
        <p:spPr>
          <a:xfrm>
            <a:off x="3461004" y="5216651"/>
            <a:ext cx="2459736" cy="182880"/>
          </a:xfrm>
          <a:prstGeom prst="rect">
            <a:avLst/>
          </a:prstGeom>
          <a:noFill/>
        </p:spPr>
        <p:txBody>
          <a:bodyPr wrap="square" lIns="0" tIns="0" rIns="0" bIns="0" anchor="t">
            <a:spAutoFit/>
          </a:bodyPr>
          <a:lstStyle/>
          <a:p>
            <a:pPr algn="l">
              <a:lnSpc>
                <a:spcPct val="100000"/>
              </a:lnSpc>
            </a:pPr>
            <a:r>
              <a:rPr sz="840" b="1" i="0">
                <a:solidFill>
                  <a:srgbClr val="475569"/>
                </a:solidFill>
                <a:latin typeface="Segoe UI"/>
              </a:rPr>
              <a:t>booking/validate.py + availability</a:t>
            </a:r>
          </a:p>
        </p:txBody>
      </p:sp>
      <p:sp>
        <p:nvSpPr>
          <p:cNvPr id="57" name="TextBox 56"/>
          <p:cNvSpPr txBox="1"/>
          <p:nvPr/>
        </p:nvSpPr>
        <p:spPr>
          <a:xfrm>
            <a:off x="3461004" y="5372099"/>
            <a:ext cx="2459736" cy="128016"/>
          </a:xfrm>
          <a:prstGeom prst="rect">
            <a:avLst/>
          </a:prstGeom>
          <a:noFill/>
        </p:spPr>
        <p:txBody>
          <a:bodyPr wrap="square" lIns="0" tIns="0" rIns="0" bIns="0" anchor="t">
            <a:spAutoFit/>
          </a:bodyPr>
          <a:lstStyle/>
          <a:p>
            <a:pPr algn="l">
              <a:lnSpc>
                <a:spcPct val="100000"/>
              </a:lnSpc>
            </a:pPr>
            <a:r>
              <a:rPr sz="760" b="0" i="0" dirty="0">
                <a:solidFill>
                  <a:srgbClr val="64748B"/>
                </a:solidFill>
                <a:latin typeface="Segoe UI"/>
              </a:rPr>
              <a:t>regex · window · is the slot still free</a:t>
            </a:r>
          </a:p>
        </p:txBody>
      </p:sp>
      <p:cxnSp>
        <p:nvCxnSpPr>
          <p:cNvPr id="58" name="Connector 57"/>
          <p:cNvCxnSpPr/>
          <p:nvPr/>
        </p:nvCxnSpPr>
        <p:spPr>
          <a:xfrm>
            <a:off x="4690872" y="5513831"/>
            <a:ext cx="0" cy="91440"/>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3378708" y="5605271"/>
            <a:ext cx="2624328" cy="338328"/>
          </a:xfrm>
          <a:prstGeom prst="roundRect">
            <a:avLst>
              <a:gd name="adj" fmla="val 10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Box 59"/>
          <p:cNvSpPr txBox="1"/>
          <p:nvPr/>
        </p:nvSpPr>
        <p:spPr>
          <a:xfrm>
            <a:off x="3461004" y="5646419"/>
            <a:ext cx="2459736" cy="182880"/>
          </a:xfrm>
          <a:prstGeom prst="rect">
            <a:avLst/>
          </a:prstGeom>
          <a:noFill/>
        </p:spPr>
        <p:txBody>
          <a:bodyPr wrap="square" lIns="0" tIns="0" rIns="0" bIns="0" anchor="t">
            <a:spAutoFit/>
          </a:bodyPr>
          <a:lstStyle/>
          <a:p>
            <a:pPr algn="l">
              <a:lnSpc>
                <a:spcPct val="100000"/>
              </a:lnSpc>
            </a:pPr>
            <a:r>
              <a:rPr sz="840" b="1" i="0">
                <a:solidFill>
                  <a:srgbClr val="475569"/>
                </a:solidFill>
                <a:latin typeface="Segoe UI"/>
              </a:rPr>
              <a:t>booking/persistence.py</a:t>
            </a:r>
          </a:p>
        </p:txBody>
      </p:sp>
      <p:sp>
        <p:nvSpPr>
          <p:cNvPr id="61" name="TextBox 60"/>
          <p:cNvSpPr txBox="1"/>
          <p:nvPr/>
        </p:nvSpPr>
        <p:spPr>
          <a:xfrm>
            <a:off x="3461004" y="5801867"/>
            <a:ext cx="2459736" cy="128016"/>
          </a:xfrm>
          <a:prstGeom prst="rect">
            <a:avLst/>
          </a:prstGeom>
          <a:noFill/>
        </p:spPr>
        <p:txBody>
          <a:bodyPr wrap="square" lIns="0" tIns="0" rIns="0" bIns="0" anchor="t">
            <a:spAutoFit/>
          </a:bodyPr>
          <a:lstStyle/>
          <a:p>
            <a:pPr algn="l">
              <a:lnSpc>
                <a:spcPct val="100000"/>
              </a:lnSpc>
            </a:pPr>
            <a:r>
              <a:rPr sz="760" b="0" i="0" dirty="0">
                <a:solidFill>
                  <a:srgbClr val="64748B"/>
                </a:solidFill>
                <a:latin typeface="Segoe UI"/>
              </a:rPr>
              <a:t>appends one row to bookings.csv</a:t>
            </a:r>
          </a:p>
        </p:txBody>
      </p:sp>
      <p:sp>
        <p:nvSpPr>
          <p:cNvPr id="62" name="Rounded Rectangle 61"/>
          <p:cNvSpPr/>
          <p:nvPr/>
        </p:nvSpPr>
        <p:spPr>
          <a:xfrm>
            <a:off x="6190488" y="4315968"/>
            <a:ext cx="2624328" cy="868680"/>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TextBox 62"/>
          <p:cNvSpPr txBox="1"/>
          <p:nvPr/>
        </p:nvSpPr>
        <p:spPr>
          <a:xfrm>
            <a:off x="6272784" y="4370831"/>
            <a:ext cx="2459736" cy="201168"/>
          </a:xfrm>
          <a:prstGeom prst="rect">
            <a:avLst/>
          </a:prstGeom>
          <a:noFill/>
        </p:spPr>
        <p:txBody>
          <a:bodyPr wrap="square" lIns="0" tIns="0" rIns="0" bIns="0" anchor="t">
            <a:spAutoFit/>
          </a:bodyPr>
          <a:lstStyle/>
          <a:p>
            <a:pPr algn="l">
              <a:lnSpc>
                <a:spcPct val="100000"/>
              </a:lnSpc>
            </a:pPr>
            <a:r>
              <a:rPr sz="880" b="1" i="0">
                <a:solidFill>
                  <a:srgbClr val="475569"/>
                </a:solidFill>
                <a:latin typeface="Segoe UI"/>
              </a:rPr>
              <a:t>handoff/handoff.py</a:t>
            </a:r>
          </a:p>
        </p:txBody>
      </p:sp>
      <p:sp>
        <p:nvSpPr>
          <p:cNvPr id="64" name="TextBox 63"/>
          <p:cNvSpPr txBox="1"/>
          <p:nvPr/>
        </p:nvSpPr>
        <p:spPr>
          <a:xfrm>
            <a:off x="6272784" y="4581144"/>
            <a:ext cx="2459736" cy="539496"/>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The bot says it will pass the conversation to a human and offers the service desk. No model call, nothing written, the booking state is kept so a human can pick it up.</a:t>
            </a:r>
          </a:p>
        </p:txBody>
      </p:sp>
      <p:sp>
        <p:nvSpPr>
          <p:cNvPr id="65" name="Rounded Rectangle 64"/>
          <p:cNvSpPr/>
          <p:nvPr/>
        </p:nvSpPr>
        <p:spPr>
          <a:xfrm>
            <a:off x="9002268" y="4315968"/>
            <a:ext cx="2624328" cy="868680"/>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TextBox 65"/>
          <p:cNvSpPr txBox="1"/>
          <p:nvPr/>
        </p:nvSpPr>
        <p:spPr>
          <a:xfrm>
            <a:off x="9084564" y="4370831"/>
            <a:ext cx="2459736" cy="201168"/>
          </a:xfrm>
          <a:prstGeom prst="rect">
            <a:avLst/>
          </a:prstGeom>
          <a:noFill/>
        </p:spPr>
        <p:txBody>
          <a:bodyPr wrap="square" lIns="0" tIns="0" rIns="0" bIns="0" anchor="t">
            <a:spAutoFit/>
          </a:bodyPr>
          <a:lstStyle/>
          <a:p>
            <a:pPr algn="l">
              <a:lnSpc>
                <a:spcPct val="100000"/>
              </a:lnSpc>
            </a:pPr>
            <a:r>
              <a:rPr sz="880" b="1" i="0">
                <a:solidFill>
                  <a:srgbClr val="475569"/>
                </a:solidFill>
                <a:latin typeface="Segoe UI"/>
              </a:rPr>
              <a:t>handoff/out_of_scope.py</a:t>
            </a:r>
          </a:p>
        </p:txBody>
      </p:sp>
      <p:sp>
        <p:nvSpPr>
          <p:cNvPr id="67" name="TextBox 66"/>
          <p:cNvSpPr txBox="1"/>
          <p:nvPr/>
        </p:nvSpPr>
        <p:spPr>
          <a:xfrm>
            <a:off x="9084564" y="4581144"/>
            <a:ext cx="2459736" cy="539496"/>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A polite decline for anything that is not our workshop — insurance, loans, parts sourcing. No model call, nothing written.</a:t>
            </a:r>
          </a:p>
        </p:txBody>
      </p:sp>
      <p:sp>
        <p:nvSpPr>
          <p:cNvPr id="68" name="Rounded Rectangle 67"/>
          <p:cNvSpPr/>
          <p:nvPr/>
        </p:nvSpPr>
        <p:spPr>
          <a:xfrm>
            <a:off x="566928" y="5980176"/>
            <a:ext cx="11057839" cy="347472"/>
          </a:xfrm>
          <a:prstGeom prst="roundRect">
            <a:avLst>
              <a:gd name="adj" fmla="val 10000"/>
            </a:avLst>
          </a:prstGeom>
          <a:solidFill>
            <a:srgbClr val="EEF2F7"/>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19" b="1" i="0">
                <a:solidFill>
                  <a:srgbClr val="475569"/>
                </a:solidFill>
                <a:latin typeface="Segoe UI"/>
              </a:rPr>
              <a:t>DATA   data/faq_kb.md · 12 sections      data/services.csv · 8 services      data/availability.csv · 26 Oct – 7 Nov      data/bookings.csv · append-only      logs/trace.jsonl · masked</a:t>
            </a:r>
          </a:p>
        </p:txBody>
      </p:sp>
    </p:spTree>
    <p:extLst>
      <p:ext uri="{BB962C8B-B14F-4D97-AF65-F5344CB8AC3E}">
        <p14:creationId xmlns:p14="http://schemas.microsoft.com/office/powerpoint/2010/main" val="2227070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COMPONENT CATALOGUE</a:t>
            </a:r>
          </a:p>
        </p:txBody>
      </p:sp>
      <p:sp>
        <p:nvSpPr>
          <p:cNvPr id="4" name="TextBox 3"/>
          <p:cNvSpPr txBox="1"/>
          <p:nvPr/>
        </p:nvSpPr>
        <p:spPr>
          <a:xfrm>
            <a:off x="566928" y="566928"/>
            <a:ext cx="11057839" cy="502920"/>
          </a:xfrm>
          <a:prstGeom prst="rect">
            <a:avLst/>
          </a:prstGeom>
          <a:noFill/>
        </p:spPr>
        <p:txBody>
          <a:bodyPr wrap="square" lIns="0" tIns="0" rIns="0" bIns="0" anchor="t">
            <a:spAutoFit/>
          </a:bodyPr>
          <a:lstStyle/>
          <a:p>
            <a:pPr algn="l">
              <a:lnSpc>
                <a:spcPct val="100000"/>
              </a:lnSpc>
            </a:pPr>
            <a:r>
              <a:rPr sz="2500" b="1" i="0">
                <a:solidFill>
                  <a:srgbClr val="0F172A"/>
                </a:solidFill>
                <a:latin typeface="Segoe UI"/>
              </a:rPr>
              <a:t>Every component: what it is and what it touches</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Five components call the model. Everything else is deterministic, testable code.</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3</a:t>
            </a:r>
          </a:p>
        </p:txBody>
      </p:sp>
      <p:graphicFrame>
        <p:nvGraphicFramePr>
          <p:cNvPr id="9" name="Table 8"/>
          <p:cNvGraphicFramePr>
            <a:graphicFrameLocks noGrp="1"/>
          </p:cNvGraphicFramePr>
          <p:nvPr>
            <p:extLst>
              <p:ext uri="{D42A27DB-BD31-4B8C-83A1-F6EECF244321}">
                <p14:modId xmlns:p14="http://schemas.microsoft.com/office/powerpoint/2010/main" val="1557114409"/>
              </p:ext>
            </p:extLst>
          </p:nvPr>
        </p:nvGraphicFramePr>
        <p:xfrm>
          <a:off x="566928" y="1481328"/>
          <a:ext cx="11055096" cy="4320540"/>
        </p:xfrm>
        <a:graphic>
          <a:graphicData uri="http://schemas.openxmlformats.org/drawingml/2006/table">
            <a:tbl>
              <a:tblPr firstRow="1">
                <a:tableStyleId>{5C22544A-7EE6-4342-B048-85BDC9FD1C3A}</a:tableStyleId>
              </a:tblPr>
              <a:tblGrid>
                <a:gridCol w="178308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5431536">
                  <a:extLst>
                    <a:ext uri="{9D8B030D-6E8A-4147-A177-3AD203B41FA5}">
                      <a16:colId xmlns:a16="http://schemas.microsoft.com/office/drawing/2014/main" val="20003"/>
                    </a:ext>
                  </a:extLst>
                </a:gridCol>
              </a:tblGrid>
              <a:tr h="288036">
                <a:tc>
                  <a:txBody>
                    <a:bodyPr/>
                    <a:lstStyle/>
                    <a:p>
                      <a:pPr algn="l">
                        <a:lnSpc>
                          <a:spcPct val="95000"/>
                        </a:lnSpc>
                        <a:spcAft>
                          <a:spcPts val="0"/>
                        </a:spcAft>
                      </a:pPr>
                      <a:r>
                        <a:rPr sz="980" b="1" i="0">
                          <a:solidFill>
                            <a:srgbClr val="FFFFFF"/>
                          </a:solidFill>
                          <a:latin typeface="Segoe UI"/>
                        </a:rPr>
                        <a:t>Component</a:t>
                      </a:r>
                    </a:p>
                  </a:txBody>
                  <a:tcPr marL="73152" marR="73152" marT="27432" marB="27432" anchor="ctr">
                    <a:solidFill>
                      <a:srgbClr val="0F172A"/>
                    </a:solidFill>
                  </a:tcPr>
                </a:tc>
                <a:tc>
                  <a:txBody>
                    <a:bodyPr/>
                    <a:lstStyle/>
                    <a:p>
                      <a:pPr algn="l">
                        <a:lnSpc>
                          <a:spcPct val="95000"/>
                        </a:lnSpc>
                        <a:spcAft>
                          <a:spcPts val="0"/>
                        </a:spcAft>
                      </a:pPr>
                      <a:r>
                        <a:rPr sz="980" b="1" i="0">
                          <a:solidFill>
                            <a:srgbClr val="FFFFFF"/>
                          </a:solidFill>
                          <a:latin typeface="Segoe UI"/>
                        </a:rPr>
                        <a:t>Path</a:t>
                      </a:r>
                    </a:p>
                  </a:txBody>
                  <a:tcPr marL="73152" marR="73152" marT="27432" marB="27432" anchor="ctr">
                    <a:solidFill>
                      <a:srgbClr val="0F172A"/>
                    </a:solidFill>
                  </a:tcPr>
                </a:tc>
                <a:tc>
                  <a:txBody>
                    <a:bodyPr/>
                    <a:lstStyle/>
                    <a:p>
                      <a:pPr algn="l">
                        <a:lnSpc>
                          <a:spcPct val="95000"/>
                        </a:lnSpc>
                        <a:spcAft>
                          <a:spcPts val="0"/>
                        </a:spcAft>
                      </a:pPr>
                      <a:r>
                        <a:rPr sz="980" b="1" i="0">
                          <a:solidFill>
                            <a:srgbClr val="FFFFFF"/>
                          </a:solidFill>
                          <a:latin typeface="Segoe UI"/>
                        </a:rPr>
                        <a:t>Owner</a:t>
                      </a:r>
                    </a:p>
                  </a:txBody>
                  <a:tcPr marL="73152" marR="73152" marT="27432" marB="27432" anchor="ctr">
                    <a:solidFill>
                      <a:srgbClr val="0F172A"/>
                    </a:solidFill>
                  </a:tcPr>
                </a:tc>
                <a:tc>
                  <a:txBody>
                    <a:bodyPr/>
                    <a:lstStyle/>
                    <a:p>
                      <a:pPr algn="l">
                        <a:lnSpc>
                          <a:spcPct val="95000"/>
                        </a:lnSpc>
                        <a:spcAft>
                          <a:spcPts val="0"/>
                        </a:spcAft>
                      </a:pPr>
                      <a:r>
                        <a:rPr sz="980" b="1" i="0">
                          <a:solidFill>
                            <a:srgbClr val="FFFFFF"/>
                          </a:solidFill>
                          <a:latin typeface="Segoe UI"/>
                        </a:rPr>
                        <a:t>Input  →  Output</a:t>
                      </a:r>
                    </a:p>
                  </a:txBody>
                  <a:tcPr marL="73152" marR="73152" marT="27432" marB="27432" anchor="ctr">
                    <a:solidFill>
                      <a:srgbClr val="0F172A"/>
                    </a:solidFill>
                  </a:tcPr>
                </a:tc>
                <a:extLst>
                  <a:ext uri="{0D108BD9-81ED-4DB2-BD59-A6C34878D82A}">
                    <a16:rowId xmlns:a16="http://schemas.microsoft.com/office/drawing/2014/main" val="10000"/>
                  </a:ext>
                </a:extLst>
              </a:tr>
              <a:tr h="288036">
                <a:tc>
                  <a:txBody>
                    <a:bodyPr/>
                    <a:lstStyle/>
                    <a:p>
                      <a:pPr algn="l">
                        <a:lnSpc>
                          <a:spcPct val="95000"/>
                        </a:lnSpc>
                        <a:spcAft>
                          <a:spcPts val="0"/>
                        </a:spcAft>
                      </a:pPr>
                      <a:r>
                        <a:rPr sz="960" b="1" i="0">
                          <a:solidFill>
                            <a:srgbClr val="334155"/>
                          </a:solidFill>
                          <a:latin typeface="Segoe UI"/>
                        </a:rPr>
                        <a:t>Orchestrator</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core/orchestrator.py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user text + session → reply + trace record</a:t>
                      </a:r>
                    </a:p>
                  </a:txBody>
                  <a:tcPr marL="73152" marR="73152" marT="27432" marB="27432" anchor="ctr">
                    <a:solidFill>
                      <a:srgbClr val="FFFFFF"/>
                    </a:solidFill>
                  </a:tcPr>
                </a:tc>
                <a:extLst>
                  <a:ext uri="{0D108BD9-81ED-4DB2-BD59-A6C34878D82A}">
                    <a16:rowId xmlns:a16="http://schemas.microsoft.com/office/drawing/2014/main" val="10001"/>
                  </a:ext>
                </a:extLst>
              </a:tr>
              <a:tr h="288036">
                <a:tc>
                  <a:txBody>
                    <a:bodyPr/>
                    <a:lstStyle/>
                    <a:p>
                      <a:pPr algn="l">
                        <a:lnSpc>
                          <a:spcPct val="95000"/>
                        </a:lnSpc>
                        <a:spcAft>
                          <a:spcPts val="0"/>
                        </a:spcAft>
                      </a:pPr>
                      <a:r>
                        <a:rPr sz="960" b="1" i="0">
                          <a:solidFill>
                            <a:srgbClr val="334155"/>
                          </a:solidFill>
                          <a:latin typeface="Segoe UI"/>
                        </a:rPr>
                        <a:t>Guardrails</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guards/redact.py, guards/injection.py</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raw text → clean text + flags, or blocked</a:t>
                      </a:r>
                    </a:p>
                  </a:txBody>
                  <a:tcPr marL="73152" marR="73152" marT="27432" marB="27432" anchor="ctr">
                    <a:solidFill>
                      <a:srgbClr val="F7F9FC"/>
                    </a:solidFill>
                  </a:tcPr>
                </a:tc>
                <a:extLst>
                  <a:ext uri="{0D108BD9-81ED-4DB2-BD59-A6C34878D82A}">
                    <a16:rowId xmlns:a16="http://schemas.microsoft.com/office/drawing/2014/main" val="10002"/>
                  </a:ext>
                </a:extLst>
              </a:tr>
              <a:tr h="288036">
                <a:tc>
                  <a:txBody>
                    <a:bodyPr/>
                    <a:lstStyle/>
                    <a:p>
                      <a:pPr algn="l">
                        <a:lnSpc>
                          <a:spcPct val="95000"/>
                        </a:lnSpc>
                        <a:spcAft>
                          <a:spcPts val="0"/>
                        </a:spcAft>
                      </a:pPr>
                      <a:r>
                        <a:rPr sz="960" b="1" i="0" dirty="0">
                          <a:solidFill>
                            <a:srgbClr val="334155"/>
                          </a:solidFill>
                          <a:highlight>
                            <a:srgbClr val="FFFF00"/>
                          </a:highlight>
                          <a:latin typeface="Segoe UI"/>
                        </a:rPr>
                        <a:t>Router</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highlight>
                            <a:srgbClr val="FFFF00"/>
                          </a:highlight>
                          <a:latin typeface="Segoe UI"/>
                        </a:rPr>
                        <a:t>router/router.py</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highlight>
                            <a:srgbClr val="FFFF00"/>
                          </a:highlight>
                          <a:latin typeface="Segoe UI"/>
                        </a:rPr>
                        <a:t>model</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highlight>
                            <a:srgbClr val="FFFF00"/>
                          </a:highlight>
                          <a:latin typeface="Segoe UI"/>
                        </a:rPr>
                        <a:t>message + state → {"route", "reason"}</a:t>
                      </a:r>
                    </a:p>
                  </a:txBody>
                  <a:tcPr marL="73152" marR="73152" marT="27432" marB="27432" anchor="ctr">
                    <a:solidFill>
                      <a:srgbClr val="FFFFFF"/>
                    </a:solidFill>
                  </a:tcPr>
                </a:tc>
                <a:extLst>
                  <a:ext uri="{0D108BD9-81ED-4DB2-BD59-A6C34878D82A}">
                    <a16:rowId xmlns:a16="http://schemas.microsoft.com/office/drawing/2014/main" val="10003"/>
                  </a:ext>
                </a:extLst>
              </a:tr>
              <a:tr h="288036">
                <a:tc>
                  <a:txBody>
                    <a:bodyPr/>
                    <a:lstStyle/>
                    <a:p>
                      <a:pPr algn="l">
                        <a:lnSpc>
                          <a:spcPct val="95000"/>
                        </a:lnSpc>
                        <a:spcAft>
                          <a:spcPts val="0"/>
                        </a:spcAft>
                      </a:pPr>
                      <a:r>
                        <a:rPr sz="960" b="1" i="0">
                          <a:solidFill>
                            <a:srgbClr val="334155"/>
                          </a:solidFill>
                          <a:latin typeface="Segoe UI"/>
                        </a:rPr>
                        <a:t>Route validator</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router/route_schema.py</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model JSON → exactly one of four routes</a:t>
                      </a:r>
                    </a:p>
                  </a:txBody>
                  <a:tcPr marL="73152" marR="73152" marT="27432" marB="27432" anchor="ctr">
                    <a:solidFill>
                      <a:srgbClr val="F7F9FC"/>
                    </a:solidFill>
                  </a:tcPr>
                </a:tc>
                <a:extLst>
                  <a:ext uri="{0D108BD9-81ED-4DB2-BD59-A6C34878D82A}">
                    <a16:rowId xmlns:a16="http://schemas.microsoft.com/office/drawing/2014/main" val="10004"/>
                  </a:ext>
                </a:extLst>
              </a:tr>
              <a:tr h="288036">
                <a:tc>
                  <a:txBody>
                    <a:bodyPr/>
                    <a:lstStyle/>
                    <a:p>
                      <a:pPr algn="l">
                        <a:lnSpc>
                          <a:spcPct val="95000"/>
                        </a:lnSpc>
                        <a:spcAft>
                          <a:spcPts val="0"/>
                        </a:spcAft>
                      </a:pPr>
                      <a:r>
                        <a:rPr sz="960" b="1" i="0">
                          <a:solidFill>
                            <a:srgbClr val="334155"/>
                          </a:solidFill>
                          <a:latin typeface="Segoe UI"/>
                        </a:rPr>
                        <a:t>Search</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faq/search.py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question → best KB section + score</a:t>
                      </a:r>
                    </a:p>
                  </a:txBody>
                  <a:tcPr marL="73152" marR="73152" marT="27432" marB="27432" anchor="ctr">
                    <a:solidFill>
                      <a:srgbClr val="FFFFFF"/>
                    </a:solidFill>
                  </a:tcPr>
                </a:tc>
                <a:extLst>
                  <a:ext uri="{0D108BD9-81ED-4DB2-BD59-A6C34878D82A}">
                    <a16:rowId xmlns:a16="http://schemas.microsoft.com/office/drawing/2014/main" val="10005"/>
                  </a:ext>
                </a:extLst>
              </a:tr>
              <a:tr h="288036">
                <a:tc>
                  <a:txBody>
                    <a:bodyPr/>
                    <a:lstStyle/>
                    <a:p>
                      <a:pPr algn="l">
                        <a:lnSpc>
                          <a:spcPct val="95000"/>
                        </a:lnSpc>
                        <a:spcAft>
                          <a:spcPts val="0"/>
                        </a:spcAft>
                      </a:pPr>
                      <a:r>
                        <a:rPr sz="960" b="1" i="0" dirty="0">
                          <a:solidFill>
                            <a:srgbClr val="334155"/>
                          </a:solidFill>
                          <a:highlight>
                            <a:srgbClr val="FFFF00"/>
                          </a:highlight>
                          <a:latin typeface="Segoe UI"/>
                        </a:rPr>
                        <a:t>Answer</a:t>
                      </a:r>
                    </a:p>
                  </a:txBody>
                  <a:tcPr marL="73152" marR="73152" marT="27432" marB="27432" anchor="ctr">
                    <a:solidFill>
                      <a:srgbClr val="F7F9FC"/>
                    </a:solidFill>
                  </a:tcPr>
                </a:tc>
                <a:tc>
                  <a:txBody>
                    <a:bodyPr/>
                    <a:lstStyle/>
                    <a:p>
                      <a:pPr algn="l">
                        <a:lnSpc>
                          <a:spcPct val="95000"/>
                        </a:lnSpc>
                        <a:spcAft>
                          <a:spcPts val="0"/>
                        </a:spcAft>
                      </a:pPr>
                      <a:r>
                        <a:rPr sz="960" b="0" i="0" dirty="0">
                          <a:solidFill>
                            <a:srgbClr val="334155"/>
                          </a:solidFill>
                          <a:highlight>
                            <a:srgbClr val="FFFF00"/>
                          </a:highlight>
                          <a:latin typeface="Segoe UI"/>
                        </a:rPr>
                        <a:t>faq/answer.py</a:t>
                      </a:r>
                    </a:p>
                  </a:txBody>
                  <a:tcPr marL="73152" marR="73152" marT="27432" marB="27432" anchor="ctr">
                    <a:solidFill>
                      <a:srgbClr val="F7F9FC"/>
                    </a:solidFill>
                  </a:tcPr>
                </a:tc>
                <a:tc>
                  <a:txBody>
                    <a:bodyPr/>
                    <a:lstStyle/>
                    <a:p>
                      <a:pPr algn="l">
                        <a:lnSpc>
                          <a:spcPct val="95000"/>
                        </a:lnSpc>
                        <a:spcAft>
                          <a:spcPts val="0"/>
                        </a:spcAft>
                      </a:pPr>
                      <a:r>
                        <a:rPr sz="960" b="0" i="0" dirty="0">
                          <a:solidFill>
                            <a:srgbClr val="334155"/>
                          </a:solidFill>
                          <a:highlight>
                            <a:srgbClr val="FFFF00"/>
                          </a:highlight>
                          <a:latin typeface="Segoe UI"/>
                        </a:rPr>
                        <a:t>model</a:t>
                      </a:r>
                    </a:p>
                  </a:txBody>
                  <a:tcPr marL="73152" marR="73152" marT="27432" marB="27432" anchor="ctr">
                    <a:solidFill>
                      <a:srgbClr val="F7F9FC"/>
                    </a:solidFill>
                  </a:tcPr>
                </a:tc>
                <a:tc>
                  <a:txBody>
                    <a:bodyPr/>
                    <a:lstStyle/>
                    <a:p>
                      <a:pPr algn="l">
                        <a:lnSpc>
                          <a:spcPct val="95000"/>
                        </a:lnSpc>
                        <a:spcAft>
                          <a:spcPts val="0"/>
                        </a:spcAft>
                      </a:pPr>
                      <a:r>
                        <a:rPr sz="960" b="0" i="0" dirty="0">
                          <a:solidFill>
                            <a:srgbClr val="334155"/>
                          </a:solidFill>
                          <a:highlight>
                            <a:srgbClr val="FFFF00"/>
                          </a:highlight>
                          <a:latin typeface="Segoe UI"/>
                        </a:rPr>
                        <a:t>question + section text → grounded answer</a:t>
                      </a:r>
                    </a:p>
                  </a:txBody>
                  <a:tcPr marL="73152" marR="73152" marT="27432" marB="27432" anchor="ctr">
                    <a:solidFill>
                      <a:srgbClr val="F7F9FC"/>
                    </a:solidFill>
                  </a:tcPr>
                </a:tc>
                <a:extLst>
                  <a:ext uri="{0D108BD9-81ED-4DB2-BD59-A6C34878D82A}">
                    <a16:rowId xmlns:a16="http://schemas.microsoft.com/office/drawing/2014/main" val="10006"/>
                  </a:ext>
                </a:extLst>
              </a:tr>
              <a:tr h="288036">
                <a:tc>
                  <a:txBody>
                    <a:bodyPr/>
                    <a:lstStyle/>
                    <a:p>
                      <a:pPr algn="l">
                        <a:lnSpc>
                          <a:spcPct val="95000"/>
                        </a:lnSpc>
                        <a:spcAft>
                          <a:spcPts val="0"/>
                        </a:spcAft>
                      </a:pPr>
                      <a:r>
                        <a:rPr sz="960" b="1" i="0">
                          <a:solidFill>
                            <a:srgbClr val="334155"/>
                          </a:solidFill>
                          <a:latin typeface="Segoe UI"/>
                        </a:rPr>
                        <a:t>Citation</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faq/citation.py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answer → answer + “Source: &lt;section&gt;”</a:t>
                      </a:r>
                    </a:p>
                  </a:txBody>
                  <a:tcPr marL="73152" marR="73152" marT="27432" marB="27432" anchor="ctr">
                    <a:solidFill>
                      <a:srgbClr val="FFFFFF"/>
                    </a:solidFill>
                  </a:tcPr>
                </a:tc>
                <a:extLst>
                  <a:ext uri="{0D108BD9-81ED-4DB2-BD59-A6C34878D82A}">
                    <a16:rowId xmlns:a16="http://schemas.microsoft.com/office/drawing/2014/main" val="10007"/>
                  </a:ext>
                </a:extLst>
              </a:tr>
              <a:tr h="288036">
                <a:tc>
                  <a:txBody>
                    <a:bodyPr/>
                    <a:lstStyle/>
                    <a:p>
                      <a:pPr algn="l">
                        <a:lnSpc>
                          <a:spcPct val="95000"/>
                        </a:lnSpc>
                        <a:spcAft>
                          <a:spcPts val="0"/>
                        </a:spcAft>
                      </a:pPr>
                      <a:r>
                        <a:rPr sz="960" b="1" i="0">
                          <a:solidFill>
                            <a:srgbClr val="334155"/>
                          </a:solidFill>
                          <a:latin typeface="Segoe UI"/>
                        </a:rPr>
                        <a:t>State machine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booking/state_machine.py</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session state → the next question to ask</a:t>
                      </a:r>
                    </a:p>
                  </a:txBody>
                  <a:tcPr marL="73152" marR="73152" marT="27432" marB="27432" anchor="ctr">
                    <a:solidFill>
                      <a:srgbClr val="F7F9FC"/>
                    </a:solidFill>
                  </a:tcPr>
                </a:tc>
                <a:extLst>
                  <a:ext uri="{0D108BD9-81ED-4DB2-BD59-A6C34878D82A}">
                    <a16:rowId xmlns:a16="http://schemas.microsoft.com/office/drawing/2014/main" val="10008"/>
                  </a:ext>
                </a:extLst>
              </a:tr>
              <a:tr h="288036">
                <a:tc>
                  <a:txBody>
                    <a:bodyPr/>
                    <a:lstStyle/>
                    <a:p>
                      <a:pPr algn="l">
                        <a:lnSpc>
                          <a:spcPct val="95000"/>
                        </a:lnSpc>
                        <a:spcAft>
                          <a:spcPts val="0"/>
                        </a:spcAft>
                      </a:pPr>
                      <a:r>
                        <a:rPr sz="960" b="1" i="0" dirty="0">
                          <a:solidFill>
                            <a:srgbClr val="334155"/>
                          </a:solidFill>
                          <a:highlight>
                            <a:srgbClr val="FFFF00"/>
                          </a:highlight>
                          <a:latin typeface="Segoe UI"/>
                        </a:rPr>
                        <a:t>Extractors</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highlight>
                            <a:srgbClr val="FFFF00"/>
                          </a:highlight>
                          <a:latin typeface="Segoe UI"/>
                        </a:rPr>
                        <a:t>booking/extract.py</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highlight>
                            <a:srgbClr val="FFFF00"/>
                          </a:highlight>
                          <a:latin typeface="Segoe UI"/>
                        </a:rPr>
                        <a:t>model</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highlight>
                            <a:srgbClr val="FFFF00"/>
                          </a:highlight>
                          <a:latin typeface="Segoe UI"/>
                        </a:rPr>
                        <a:t>free text → candidate value (3 states only)</a:t>
                      </a:r>
                    </a:p>
                  </a:txBody>
                  <a:tcPr marL="73152" marR="73152" marT="27432" marB="27432" anchor="ctr">
                    <a:solidFill>
                      <a:srgbClr val="FFFFFF"/>
                    </a:solidFill>
                  </a:tcPr>
                </a:tc>
                <a:extLst>
                  <a:ext uri="{0D108BD9-81ED-4DB2-BD59-A6C34878D82A}">
                    <a16:rowId xmlns:a16="http://schemas.microsoft.com/office/drawing/2014/main" val="10009"/>
                  </a:ext>
                </a:extLst>
              </a:tr>
              <a:tr h="288036">
                <a:tc>
                  <a:txBody>
                    <a:bodyPr/>
                    <a:lstStyle/>
                    <a:p>
                      <a:pPr algn="l">
                        <a:lnSpc>
                          <a:spcPct val="95000"/>
                        </a:lnSpc>
                        <a:spcAft>
                          <a:spcPts val="0"/>
                        </a:spcAft>
                      </a:pPr>
                      <a:r>
                        <a:rPr sz="960" b="1" i="0">
                          <a:solidFill>
                            <a:srgbClr val="334155"/>
                          </a:solidFill>
                          <a:latin typeface="Segoe UI"/>
                        </a:rPr>
                        <a:t>Validators</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booking/validate.py</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7F9FC"/>
                    </a:solidFill>
                  </a:tcPr>
                </a:tc>
                <a:tc>
                  <a:txBody>
                    <a:bodyPr/>
                    <a:lstStyle/>
                    <a:p>
                      <a:pPr algn="l">
                        <a:lnSpc>
                          <a:spcPct val="95000"/>
                        </a:lnSpc>
                        <a:spcAft>
                          <a:spcPts val="0"/>
                        </a:spcAft>
                      </a:pPr>
                      <a:r>
                        <a:rPr sz="960" b="0" i="0" dirty="0">
                          <a:solidFill>
                            <a:srgbClr val="334155"/>
                          </a:solidFill>
                          <a:latin typeface="Segoe UI"/>
                        </a:rPr>
                        <a:t>candidate → accept or reject, with a reason</a:t>
                      </a:r>
                    </a:p>
                  </a:txBody>
                  <a:tcPr marL="73152" marR="73152" marT="27432" marB="27432" anchor="ctr">
                    <a:solidFill>
                      <a:srgbClr val="F7F9FC"/>
                    </a:solidFill>
                  </a:tcPr>
                </a:tc>
                <a:extLst>
                  <a:ext uri="{0D108BD9-81ED-4DB2-BD59-A6C34878D82A}">
                    <a16:rowId xmlns:a16="http://schemas.microsoft.com/office/drawing/2014/main" val="10010"/>
                  </a:ext>
                </a:extLst>
              </a:tr>
              <a:tr h="288036">
                <a:tc>
                  <a:txBody>
                    <a:bodyPr/>
                    <a:lstStyle/>
                    <a:p>
                      <a:pPr algn="l">
                        <a:lnSpc>
                          <a:spcPct val="95000"/>
                        </a:lnSpc>
                        <a:spcAft>
                          <a:spcPts val="0"/>
                        </a:spcAft>
                      </a:pPr>
                      <a:r>
                        <a:rPr sz="960" b="1" i="0">
                          <a:solidFill>
                            <a:srgbClr val="334155"/>
                          </a:solidFill>
                          <a:latin typeface="Segoe UI"/>
                        </a:rPr>
                        <a:t>Availability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booking/availability.py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latin typeface="Segoe UI"/>
                        </a:rPr>
                        <a:t>date + bay type → the free slots</a:t>
                      </a:r>
                    </a:p>
                  </a:txBody>
                  <a:tcPr marL="73152" marR="73152" marT="27432" marB="27432" anchor="ctr">
                    <a:solidFill>
                      <a:srgbClr val="FFFFFF"/>
                    </a:solidFill>
                  </a:tcPr>
                </a:tc>
                <a:extLst>
                  <a:ext uri="{0D108BD9-81ED-4DB2-BD59-A6C34878D82A}">
                    <a16:rowId xmlns:a16="http://schemas.microsoft.com/office/drawing/2014/main" val="10011"/>
                  </a:ext>
                </a:extLst>
              </a:tr>
              <a:tr h="288036">
                <a:tc>
                  <a:txBody>
                    <a:bodyPr/>
                    <a:lstStyle/>
                    <a:p>
                      <a:pPr algn="l">
                        <a:lnSpc>
                          <a:spcPct val="95000"/>
                        </a:lnSpc>
                        <a:spcAft>
                          <a:spcPts val="0"/>
                        </a:spcAft>
                      </a:pPr>
                      <a:r>
                        <a:rPr sz="960" b="1" i="0">
                          <a:solidFill>
                            <a:srgbClr val="334155"/>
                          </a:solidFill>
                          <a:latin typeface="Segoe UI"/>
                        </a:rPr>
                        <a:t>Persistence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booking/persistence.py</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confirmed booking → one row in bookings.csv</a:t>
                      </a:r>
                    </a:p>
                  </a:txBody>
                  <a:tcPr marL="73152" marR="73152" marT="27432" marB="27432" anchor="ctr">
                    <a:solidFill>
                      <a:srgbClr val="F7F9FC"/>
                    </a:solidFill>
                  </a:tcPr>
                </a:tc>
                <a:extLst>
                  <a:ext uri="{0D108BD9-81ED-4DB2-BD59-A6C34878D82A}">
                    <a16:rowId xmlns:a16="http://schemas.microsoft.com/office/drawing/2014/main" val="10012"/>
                  </a:ext>
                </a:extLst>
              </a:tr>
              <a:tr h="288036">
                <a:tc>
                  <a:txBody>
                    <a:bodyPr/>
                    <a:lstStyle/>
                    <a:p>
                      <a:pPr algn="l">
                        <a:lnSpc>
                          <a:spcPct val="95000"/>
                        </a:lnSpc>
                        <a:spcAft>
                          <a:spcPts val="0"/>
                        </a:spcAft>
                      </a:pPr>
                      <a:r>
                        <a:rPr sz="960" b="1" i="0">
                          <a:solidFill>
                            <a:srgbClr val="334155"/>
                          </a:solidFill>
                          <a:latin typeface="Segoe UI"/>
                        </a:rPr>
                        <a:t>Gateway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core/gateway.py</a:t>
                      </a:r>
                    </a:p>
                  </a:txBody>
                  <a:tcPr marL="73152" marR="73152" marT="27432" marB="27432" anchor="ctr">
                    <a:solidFill>
                      <a:srgbClr val="FFFFFF"/>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FFFFF"/>
                    </a:solidFill>
                  </a:tcPr>
                </a:tc>
                <a:tc>
                  <a:txBody>
                    <a:bodyPr/>
                    <a:lstStyle/>
                    <a:p>
                      <a:pPr algn="l">
                        <a:lnSpc>
                          <a:spcPct val="95000"/>
                        </a:lnSpc>
                        <a:spcAft>
                          <a:spcPts val="0"/>
                        </a:spcAft>
                      </a:pPr>
                      <a:r>
                        <a:rPr sz="960" b="0" i="0" dirty="0">
                          <a:solidFill>
                            <a:srgbClr val="334155"/>
                          </a:solidFill>
                          <a:latin typeface="Segoe UI"/>
                        </a:rPr>
                        <a:t>prompt → JSON + token usage + latency</a:t>
                      </a:r>
                    </a:p>
                  </a:txBody>
                  <a:tcPr marL="73152" marR="73152" marT="27432" marB="27432" anchor="ctr">
                    <a:solidFill>
                      <a:srgbClr val="FFFFFF"/>
                    </a:solidFill>
                  </a:tcPr>
                </a:tc>
                <a:extLst>
                  <a:ext uri="{0D108BD9-81ED-4DB2-BD59-A6C34878D82A}">
                    <a16:rowId xmlns:a16="http://schemas.microsoft.com/office/drawing/2014/main" val="10013"/>
                  </a:ext>
                </a:extLst>
              </a:tr>
              <a:tr h="288036">
                <a:tc>
                  <a:txBody>
                    <a:bodyPr/>
                    <a:lstStyle/>
                    <a:p>
                      <a:pPr algn="l">
                        <a:lnSpc>
                          <a:spcPct val="95000"/>
                        </a:lnSpc>
                        <a:spcAft>
                          <a:spcPts val="0"/>
                        </a:spcAft>
                      </a:pPr>
                      <a:r>
                        <a:rPr sz="960" b="1" i="0">
                          <a:solidFill>
                            <a:srgbClr val="334155"/>
                          </a:solidFill>
                          <a:latin typeface="Segoe UI"/>
                        </a:rPr>
                        <a:t>Trace</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logging/trace.py</a:t>
                      </a:r>
                    </a:p>
                  </a:txBody>
                  <a:tcPr marL="73152" marR="73152" marT="27432" marB="27432" anchor="ctr">
                    <a:solidFill>
                      <a:srgbClr val="F7F9FC"/>
                    </a:solidFill>
                  </a:tcPr>
                </a:tc>
                <a:tc>
                  <a:txBody>
                    <a:bodyPr/>
                    <a:lstStyle/>
                    <a:p>
                      <a:pPr algn="l">
                        <a:lnSpc>
                          <a:spcPct val="95000"/>
                        </a:lnSpc>
                        <a:spcAft>
                          <a:spcPts val="0"/>
                        </a:spcAft>
                      </a:pPr>
                      <a:r>
                        <a:rPr sz="960" b="0" i="0">
                          <a:solidFill>
                            <a:srgbClr val="334155"/>
                          </a:solidFill>
                          <a:latin typeface="Segoe UI"/>
                        </a:rPr>
                        <a:t>code</a:t>
                      </a:r>
                    </a:p>
                  </a:txBody>
                  <a:tcPr marL="73152" marR="73152" marT="27432" marB="27432" anchor="ctr">
                    <a:solidFill>
                      <a:srgbClr val="F7F9FC"/>
                    </a:solidFill>
                  </a:tcPr>
                </a:tc>
                <a:tc>
                  <a:txBody>
                    <a:bodyPr/>
                    <a:lstStyle/>
                    <a:p>
                      <a:pPr algn="l">
                        <a:lnSpc>
                          <a:spcPct val="95000"/>
                        </a:lnSpc>
                        <a:spcAft>
                          <a:spcPts val="0"/>
                        </a:spcAft>
                      </a:pPr>
                      <a:r>
                        <a:rPr sz="960" b="0" i="0" dirty="0">
                          <a:solidFill>
                            <a:srgbClr val="334155"/>
                          </a:solidFill>
                          <a:latin typeface="Segoe UI"/>
                        </a:rPr>
                        <a:t>turn → masked trace record</a:t>
                      </a:r>
                    </a:p>
                  </a:txBody>
                  <a:tcPr marL="73152" marR="73152" marT="27432" marB="27432" anchor="ctr">
                    <a:solidFill>
                      <a:srgbClr val="F7F9FC"/>
                    </a:solidFill>
                  </a:tcPr>
                </a:tc>
                <a:extLst>
                  <a:ext uri="{0D108BD9-81ED-4DB2-BD59-A6C34878D82A}">
                    <a16:rowId xmlns:a16="http://schemas.microsoft.com/office/drawing/2014/main" val="10014"/>
                  </a:ext>
                </a:extLst>
              </a:tr>
            </a:tbl>
          </a:graphicData>
        </a:graphic>
      </p:graphicFrame>
      <p:sp>
        <p:nvSpPr>
          <p:cNvPr id="10" name="Rounded Rectangle 9"/>
          <p:cNvSpPr/>
          <p:nvPr/>
        </p:nvSpPr>
        <p:spPr>
          <a:xfrm>
            <a:off x="566928" y="6053328"/>
            <a:ext cx="11057839" cy="310896"/>
          </a:xfrm>
          <a:prstGeom prst="roundRect">
            <a:avLst>
              <a:gd name="adj" fmla="val 8000"/>
            </a:avLst>
          </a:prstGeom>
          <a:solidFill>
            <a:srgbClr val="FDF0D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1" name="TextBox 10"/>
          <p:cNvSpPr txBox="1"/>
          <p:nvPr/>
        </p:nvSpPr>
        <p:spPr>
          <a:xfrm>
            <a:off x="749808" y="6126480"/>
            <a:ext cx="10692079" cy="219456"/>
          </a:xfrm>
          <a:prstGeom prst="rect">
            <a:avLst/>
          </a:prstGeom>
          <a:noFill/>
        </p:spPr>
        <p:txBody>
          <a:bodyPr wrap="square" lIns="0" tIns="0" rIns="0" bIns="0" anchor="t">
            <a:spAutoFit/>
          </a:bodyPr>
          <a:lstStyle/>
          <a:p>
            <a:pPr algn="l">
              <a:lnSpc>
                <a:spcPct val="100000"/>
              </a:lnSpc>
            </a:pPr>
            <a:r>
              <a:rPr sz="1000" b="1" i="0">
                <a:solidFill>
                  <a:srgbClr val="334155"/>
                </a:solidFill>
                <a:latin typeface="Segoe UI"/>
              </a:rPr>
              <a:t>The three rows marked *model* are the only places a model is called.</a:t>
            </a:r>
            <a:r>
              <a:rPr sz="1000" b="0" i="0">
                <a:solidFill>
                  <a:srgbClr val="334155"/>
                </a:solidFill>
                <a:latin typeface="Segoe UI"/>
              </a:rPr>
              <a:t> A component that is code can be unit-tested; a component that is a model must be tested through the trace.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INTERACTION</a:t>
            </a:r>
          </a:p>
        </p:txBody>
      </p:sp>
      <p:sp>
        <p:nvSpPr>
          <p:cNvPr id="4" name="TextBox 3"/>
          <p:cNvSpPr txBox="1"/>
          <p:nvPr/>
        </p:nvSpPr>
        <p:spPr>
          <a:xfrm>
            <a:off x="566928" y="566928"/>
            <a:ext cx="11057839" cy="502920"/>
          </a:xfrm>
          <a:prstGeom prst="rect">
            <a:avLst/>
          </a:prstGeom>
          <a:noFill/>
        </p:spPr>
        <p:txBody>
          <a:bodyPr wrap="square" lIns="0" tIns="0" rIns="0" bIns="0" anchor="t">
            <a:spAutoFit/>
          </a:bodyPr>
          <a:lstStyle/>
          <a:p>
            <a:pPr algn="l">
              <a:lnSpc>
                <a:spcPct val="100000"/>
              </a:lnSpc>
            </a:pPr>
            <a:r>
              <a:rPr sz="2500" b="1" i="0" dirty="0">
                <a:solidFill>
                  <a:srgbClr val="0F172A"/>
                </a:solidFill>
                <a:latin typeface="Segoe UI"/>
              </a:rPr>
              <a:t>One turn, step by step</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The same eight steps run for every message. Only steps 4 and 5 may reach the model.</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4</a:t>
            </a:r>
          </a:p>
        </p:txBody>
      </p:sp>
      <p:sp>
        <p:nvSpPr>
          <p:cNvPr id="9" name="Rounded Rectangle 8"/>
          <p:cNvSpPr/>
          <p:nvPr/>
        </p:nvSpPr>
        <p:spPr>
          <a:xfrm>
            <a:off x="566928" y="1572768"/>
            <a:ext cx="1243584" cy="932688"/>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49224" y="1627632"/>
            <a:ext cx="1078992"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1  Ingest</a:t>
            </a:r>
          </a:p>
        </p:txBody>
      </p:sp>
      <p:sp>
        <p:nvSpPr>
          <p:cNvPr id="11" name="TextBox 10"/>
          <p:cNvSpPr txBox="1"/>
          <p:nvPr/>
        </p:nvSpPr>
        <p:spPr>
          <a:xfrm>
            <a:off x="649224" y="1837943"/>
            <a:ext cx="1078992" cy="603504"/>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The chat box hands the text to the orchestrator</a:t>
            </a:r>
          </a:p>
        </p:txBody>
      </p:sp>
      <p:cxnSp>
        <p:nvCxnSpPr>
          <p:cNvPr id="12" name="Connector 11"/>
          <p:cNvCxnSpPr/>
          <p:nvPr/>
        </p:nvCxnSpPr>
        <p:spPr>
          <a:xfrm>
            <a:off x="1828800" y="2039112"/>
            <a:ext cx="123443"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970532" y="1572768"/>
            <a:ext cx="1243584" cy="932688"/>
          </a:xfrm>
          <a:prstGeom prst="roundRect">
            <a:avLst>
              <a:gd name="adj" fmla="val 6000"/>
            </a:avLst>
          </a:prstGeom>
          <a:solidFill>
            <a:srgbClr val="FDE6E6"/>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2052828" y="1627632"/>
            <a:ext cx="1078992" cy="201168"/>
          </a:xfrm>
          <a:prstGeom prst="rect">
            <a:avLst/>
          </a:prstGeom>
          <a:noFill/>
        </p:spPr>
        <p:txBody>
          <a:bodyPr wrap="square" lIns="0" tIns="0" rIns="0" bIns="0" anchor="t">
            <a:spAutoFit/>
          </a:bodyPr>
          <a:lstStyle/>
          <a:p>
            <a:pPr algn="l">
              <a:lnSpc>
                <a:spcPct val="100000"/>
              </a:lnSpc>
            </a:pPr>
            <a:r>
              <a:rPr sz="940" b="1" i="0">
                <a:solidFill>
                  <a:srgbClr val="B91C1C"/>
                </a:solidFill>
                <a:latin typeface="Segoe UI"/>
              </a:rPr>
              <a:t>2  Guard</a:t>
            </a:r>
          </a:p>
        </p:txBody>
      </p:sp>
      <p:sp>
        <p:nvSpPr>
          <p:cNvPr id="15" name="TextBox 14"/>
          <p:cNvSpPr txBox="1"/>
          <p:nvPr/>
        </p:nvSpPr>
        <p:spPr>
          <a:xfrm>
            <a:off x="2052828" y="1837943"/>
            <a:ext cx="1078992" cy="603504"/>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Redact PII; block injection and discount demands</a:t>
            </a:r>
          </a:p>
        </p:txBody>
      </p:sp>
      <p:cxnSp>
        <p:nvCxnSpPr>
          <p:cNvPr id="16" name="Connector 15"/>
          <p:cNvCxnSpPr/>
          <p:nvPr/>
        </p:nvCxnSpPr>
        <p:spPr>
          <a:xfrm>
            <a:off x="3232404" y="2039112"/>
            <a:ext cx="123444"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74136" y="1572768"/>
            <a:ext cx="1243584" cy="932688"/>
          </a:xfrm>
          <a:prstGeom prst="roundRect">
            <a:avLst>
              <a:gd name="adj" fmla="val 6000"/>
            </a:avLst>
          </a:prstGeom>
          <a:solidFill>
            <a:srgbClr val="FDF0D9"/>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456432" y="1627632"/>
            <a:ext cx="1078992" cy="201168"/>
          </a:xfrm>
          <a:prstGeom prst="rect">
            <a:avLst/>
          </a:prstGeom>
          <a:noFill/>
        </p:spPr>
        <p:txBody>
          <a:bodyPr wrap="square" lIns="0" tIns="0" rIns="0" bIns="0" anchor="t">
            <a:spAutoFit/>
          </a:bodyPr>
          <a:lstStyle/>
          <a:p>
            <a:pPr algn="l">
              <a:lnSpc>
                <a:spcPct val="100000"/>
              </a:lnSpc>
            </a:pPr>
            <a:r>
              <a:rPr sz="940" b="1" i="0">
                <a:solidFill>
                  <a:srgbClr val="B45309"/>
                </a:solidFill>
                <a:latin typeface="Segoe UI"/>
              </a:rPr>
              <a:t>3  Command</a:t>
            </a:r>
          </a:p>
        </p:txBody>
      </p:sp>
      <p:sp>
        <p:nvSpPr>
          <p:cNvPr id="19" name="TextBox 18"/>
          <p:cNvSpPr txBox="1"/>
          <p:nvPr/>
        </p:nvSpPr>
        <p:spPr>
          <a:xfrm>
            <a:off x="3456432" y="1837943"/>
            <a:ext cx="1078992" cy="603504"/>
          </a:xfrm>
          <a:prstGeom prst="rect">
            <a:avLst/>
          </a:prstGeom>
          <a:noFill/>
        </p:spPr>
        <p:txBody>
          <a:bodyPr wrap="square" lIns="0" tIns="0" rIns="0" bIns="0" anchor="t">
            <a:spAutoFit/>
          </a:bodyPr>
          <a:lstStyle/>
          <a:p>
            <a:pPr algn="l">
              <a:lnSpc>
                <a:spcPct val="103000"/>
              </a:lnSpc>
            </a:pPr>
            <a:r>
              <a:rPr sz="800" b="0" i="0" dirty="0">
                <a:solidFill>
                  <a:srgbClr val="334155"/>
                </a:solidFill>
                <a:latin typeface="Segoe UI"/>
              </a:rPr>
              <a:t>Inside a booking only: cancel · start over · change</a:t>
            </a:r>
          </a:p>
        </p:txBody>
      </p:sp>
      <p:cxnSp>
        <p:nvCxnSpPr>
          <p:cNvPr id="20" name="Connector 19"/>
          <p:cNvCxnSpPr/>
          <p:nvPr/>
        </p:nvCxnSpPr>
        <p:spPr>
          <a:xfrm>
            <a:off x="4636008" y="2039112"/>
            <a:ext cx="123444"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777740" y="1572768"/>
            <a:ext cx="1243584" cy="932688"/>
          </a:xfrm>
          <a:prstGeom prst="roundRect">
            <a:avLst>
              <a:gd name="adj" fmla="val 6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4860036" y="1627632"/>
            <a:ext cx="1078992" cy="201168"/>
          </a:xfrm>
          <a:prstGeom prst="rect">
            <a:avLst/>
          </a:prstGeom>
          <a:noFill/>
        </p:spPr>
        <p:txBody>
          <a:bodyPr wrap="square" lIns="0" tIns="0" rIns="0" bIns="0" anchor="t">
            <a:spAutoFit/>
          </a:bodyPr>
          <a:lstStyle/>
          <a:p>
            <a:pPr algn="l">
              <a:lnSpc>
                <a:spcPct val="100000"/>
              </a:lnSpc>
            </a:pPr>
            <a:r>
              <a:rPr sz="940" b="1" i="0">
                <a:solidFill>
                  <a:srgbClr val="6D28D9"/>
                </a:solidFill>
                <a:latin typeface="Segoe UI"/>
              </a:rPr>
              <a:t>4  Route</a:t>
            </a:r>
          </a:p>
        </p:txBody>
      </p:sp>
      <p:sp>
        <p:nvSpPr>
          <p:cNvPr id="23" name="TextBox 22"/>
          <p:cNvSpPr txBox="1"/>
          <p:nvPr/>
        </p:nvSpPr>
        <p:spPr>
          <a:xfrm>
            <a:off x="4860036" y="1837943"/>
            <a:ext cx="1078992" cy="603504"/>
          </a:xfrm>
          <a:prstGeom prst="rect">
            <a:avLst/>
          </a:prstGeom>
          <a:noFill/>
        </p:spPr>
        <p:txBody>
          <a:bodyPr wrap="square" lIns="0" tIns="0" rIns="0" bIns="0" anchor="t">
            <a:spAutoFit/>
          </a:bodyPr>
          <a:lstStyle/>
          <a:p>
            <a:pPr algn="l">
              <a:lnSpc>
                <a:spcPct val="103000"/>
              </a:lnSpc>
            </a:pPr>
            <a:r>
              <a:rPr sz="800" b="0" i="0" dirty="0">
                <a:solidFill>
                  <a:srgbClr val="334155"/>
                </a:solidFill>
                <a:latin typeface="Segoe UI"/>
              </a:rPr>
              <a:t>MODEL CALL 1 — pick one of four routes</a:t>
            </a:r>
          </a:p>
        </p:txBody>
      </p:sp>
      <p:cxnSp>
        <p:nvCxnSpPr>
          <p:cNvPr id="24" name="Connector 23"/>
          <p:cNvCxnSpPr/>
          <p:nvPr/>
        </p:nvCxnSpPr>
        <p:spPr>
          <a:xfrm>
            <a:off x="6039612" y="2039112"/>
            <a:ext cx="123444"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572768"/>
            <a:ext cx="1243584" cy="932688"/>
          </a:xfrm>
          <a:prstGeom prst="roundRect">
            <a:avLst>
              <a:gd name="adj" fmla="val 6000"/>
            </a:avLst>
          </a:prstGeom>
          <a:solidFill>
            <a:srgbClr val="D6F5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6263640" y="1627632"/>
            <a:ext cx="1078992" cy="201168"/>
          </a:xfrm>
          <a:prstGeom prst="rect">
            <a:avLst/>
          </a:prstGeom>
          <a:noFill/>
        </p:spPr>
        <p:txBody>
          <a:bodyPr wrap="square" lIns="0" tIns="0" rIns="0" bIns="0" anchor="t">
            <a:spAutoFit/>
          </a:bodyPr>
          <a:lstStyle/>
          <a:p>
            <a:pPr algn="l">
              <a:lnSpc>
                <a:spcPct val="100000"/>
              </a:lnSpc>
            </a:pPr>
            <a:r>
              <a:rPr sz="940" b="1" i="0">
                <a:solidFill>
                  <a:srgbClr val="0F766E"/>
                </a:solidFill>
                <a:latin typeface="Segoe UI"/>
              </a:rPr>
              <a:t>5  Handle</a:t>
            </a:r>
          </a:p>
        </p:txBody>
      </p:sp>
      <p:sp>
        <p:nvSpPr>
          <p:cNvPr id="27" name="TextBox 26"/>
          <p:cNvSpPr txBox="1"/>
          <p:nvPr/>
        </p:nvSpPr>
        <p:spPr>
          <a:xfrm>
            <a:off x="6263640" y="1837943"/>
            <a:ext cx="1078992" cy="603504"/>
          </a:xfrm>
          <a:prstGeom prst="rect">
            <a:avLst/>
          </a:prstGeom>
          <a:noFill/>
        </p:spPr>
        <p:txBody>
          <a:bodyPr wrap="square" lIns="0" tIns="0" rIns="0" bIns="0" anchor="t">
            <a:spAutoFit/>
          </a:bodyPr>
          <a:lstStyle/>
          <a:p>
            <a:pPr algn="l">
              <a:lnSpc>
                <a:spcPct val="103000"/>
              </a:lnSpc>
            </a:pPr>
            <a:r>
              <a:rPr sz="800" b="0" i="0" dirty="0" err="1">
                <a:solidFill>
                  <a:srgbClr val="334155"/>
                </a:solidFill>
                <a:latin typeface="Segoe UI"/>
              </a:rPr>
              <a:t>faq</a:t>
            </a:r>
            <a:r>
              <a:rPr sz="800" b="0" i="0" dirty="0">
                <a:solidFill>
                  <a:srgbClr val="334155"/>
                </a:solidFill>
                <a:latin typeface="Segoe UI"/>
              </a:rPr>
              <a:t> · booking · handoff · </a:t>
            </a:r>
            <a:r>
              <a:rPr sz="800" b="0" i="0" dirty="0" err="1">
                <a:solidFill>
                  <a:srgbClr val="334155"/>
                </a:solidFill>
                <a:latin typeface="Segoe UI"/>
              </a:rPr>
              <a:t>out_of_scope</a:t>
            </a:r>
            <a:endParaRPr sz="800" b="0" i="0" dirty="0">
              <a:solidFill>
                <a:srgbClr val="334155"/>
              </a:solidFill>
              <a:latin typeface="Segoe UI"/>
            </a:endParaRPr>
          </a:p>
        </p:txBody>
      </p:sp>
      <p:cxnSp>
        <p:nvCxnSpPr>
          <p:cNvPr id="28" name="Connector 27"/>
          <p:cNvCxnSpPr/>
          <p:nvPr/>
        </p:nvCxnSpPr>
        <p:spPr>
          <a:xfrm>
            <a:off x="7443216" y="2039112"/>
            <a:ext cx="123444"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584948" y="1572768"/>
            <a:ext cx="1243584" cy="932688"/>
          </a:xfrm>
          <a:prstGeom prst="roundRect">
            <a:avLst>
              <a:gd name="adj" fmla="val 6000"/>
            </a:avLst>
          </a:prstGeom>
          <a:solidFill>
            <a:srgbClr val="FDE6E6"/>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7667244" y="1627632"/>
            <a:ext cx="1078992" cy="201168"/>
          </a:xfrm>
          <a:prstGeom prst="rect">
            <a:avLst/>
          </a:prstGeom>
          <a:noFill/>
        </p:spPr>
        <p:txBody>
          <a:bodyPr wrap="square" lIns="0" tIns="0" rIns="0" bIns="0" anchor="t">
            <a:spAutoFit/>
          </a:bodyPr>
          <a:lstStyle/>
          <a:p>
            <a:pPr algn="l">
              <a:lnSpc>
                <a:spcPct val="100000"/>
              </a:lnSpc>
            </a:pPr>
            <a:r>
              <a:rPr sz="940" b="1" i="0">
                <a:solidFill>
                  <a:srgbClr val="B91C1C"/>
                </a:solidFill>
                <a:latin typeface="Segoe UI"/>
              </a:rPr>
              <a:t>6  Verify</a:t>
            </a:r>
          </a:p>
        </p:txBody>
      </p:sp>
      <p:sp>
        <p:nvSpPr>
          <p:cNvPr id="31" name="TextBox 30"/>
          <p:cNvSpPr txBox="1"/>
          <p:nvPr/>
        </p:nvSpPr>
        <p:spPr>
          <a:xfrm>
            <a:off x="7667244" y="1837943"/>
            <a:ext cx="1078992" cy="603504"/>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No PII, no discount, a citation where one is owed</a:t>
            </a:r>
          </a:p>
        </p:txBody>
      </p:sp>
      <p:cxnSp>
        <p:nvCxnSpPr>
          <p:cNvPr id="32" name="Connector 31"/>
          <p:cNvCxnSpPr/>
          <p:nvPr/>
        </p:nvCxnSpPr>
        <p:spPr>
          <a:xfrm>
            <a:off x="8846819" y="2039112"/>
            <a:ext cx="123445"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988552" y="1572768"/>
            <a:ext cx="1243584" cy="932688"/>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9070848" y="1627632"/>
            <a:ext cx="1078992"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7  Trace</a:t>
            </a:r>
          </a:p>
        </p:txBody>
      </p:sp>
      <p:sp>
        <p:nvSpPr>
          <p:cNvPr id="35" name="TextBox 34"/>
          <p:cNvSpPr txBox="1"/>
          <p:nvPr/>
        </p:nvSpPr>
        <p:spPr>
          <a:xfrm>
            <a:off x="9070848" y="1837943"/>
            <a:ext cx="1078992" cy="603504"/>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One masked record → logs/trace.jsonl</a:t>
            </a:r>
          </a:p>
        </p:txBody>
      </p:sp>
      <p:cxnSp>
        <p:nvCxnSpPr>
          <p:cNvPr id="36" name="Connector 35"/>
          <p:cNvCxnSpPr/>
          <p:nvPr/>
        </p:nvCxnSpPr>
        <p:spPr>
          <a:xfrm>
            <a:off x="10250424" y="2039112"/>
            <a:ext cx="123444"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392156" y="1572768"/>
            <a:ext cx="1243584" cy="932688"/>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10474452" y="1627632"/>
            <a:ext cx="1078992"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8  Reply</a:t>
            </a:r>
          </a:p>
        </p:txBody>
      </p:sp>
      <p:sp>
        <p:nvSpPr>
          <p:cNvPr id="39" name="TextBox 38"/>
          <p:cNvSpPr txBox="1"/>
          <p:nvPr/>
        </p:nvSpPr>
        <p:spPr>
          <a:xfrm>
            <a:off x="10474452" y="1837943"/>
            <a:ext cx="1078992" cy="603504"/>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Text, current state and metrics back to the UI</a:t>
            </a:r>
          </a:p>
        </p:txBody>
      </p:sp>
      <p:sp>
        <p:nvSpPr>
          <p:cNvPr id="40" name="Rounded Rectangle 39"/>
          <p:cNvSpPr/>
          <p:nvPr/>
        </p:nvSpPr>
        <p:spPr>
          <a:xfrm>
            <a:off x="566928" y="2798064"/>
            <a:ext cx="3576218" cy="157276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1" name="Rectangle 40"/>
          <p:cNvSpPr/>
          <p:nvPr/>
        </p:nvSpPr>
        <p:spPr>
          <a:xfrm>
            <a:off x="566928" y="2798064"/>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731520" y="2944368"/>
            <a:ext cx="3247034" cy="237744"/>
          </a:xfrm>
          <a:prstGeom prst="rect">
            <a:avLst/>
          </a:prstGeom>
          <a:noFill/>
        </p:spPr>
        <p:txBody>
          <a:bodyPr wrap="square" lIns="0" tIns="0" rIns="0" bIns="0" anchor="t">
            <a:spAutoFit/>
          </a:bodyPr>
          <a:lstStyle/>
          <a:p>
            <a:pPr algn="l">
              <a:lnSpc>
                <a:spcPct val="100000"/>
              </a:lnSpc>
            </a:pPr>
            <a:r>
              <a:rPr sz="960" b="1" i="0">
                <a:solidFill>
                  <a:srgbClr val="0F766E"/>
                </a:solidFill>
                <a:latin typeface="Segoe UI"/>
              </a:rPr>
              <a:t>THE FOUR BRANCHES</a:t>
            </a:r>
          </a:p>
        </p:txBody>
      </p:sp>
      <p:sp>
        <p:nvSpPr>
          <p:cNvPr id="43" name="TextBox 42"/>
          <p:cNvSpPr txBox="1"/>
          <p:nvPr/>
        </p:nvSpPr>
        <p:spPr>
          <a:xfrm>
            <a:off x="731520" y="3218688"/>
            <a:ext cx="3265322" cy="1097280"/>
          </a:xfrm>
          <a:prstGeom prst="rect">
            <a:avLst/>
          </a:prstGeom>
          <a:noFill/>
        </p:spPr>
        <p:txBody>
          <a:bodyPr wrap="square" lIns="0" tIns="0" rIns="0" bIns="0">
            <a:spAutoFit/>
          </a:bodyPr>
          <a:lstStyle/>
          <a:p>
            <a:pPr>
              <a:lnSpc>
                <a:spcPct val="103000"/>
              </a:lnSpc>
              <a:spcAft>
                <a:spcPts val="300"/>
              </a:spcAft>
            </a:pPr>
            <a:r>
              <a:rPr sz="930" b="1" dirty="0">
                <a:solidFill>
                  <a:srgbClr val="0F766E"/>
                </a:solidFill>
                <a:latin typeface="Segoe UI"/>
              </a:rPr>
              <a:t>▪  </a:t>
            </a:r>
            <a:r>
              <a:rPr sz="930" b="1" i="0" dirty="0" err="1">
                <a:solidFill>
                  <a:srgbClr val="334155"/>
                </a:solidFill>
                <a:latin typeface="Segoe UI"/>
              </a:rPr>
              <a:t>faq</a:t>
            </a:r>
            <a:r>
              <a:rPr sz="930" b="0" i="0" dirty="0">
                <a:solidFill>
                  <a:srgbClr val="334155"/>
                </a:solidFill>
                <a:latin typeface="Segoe UI"/>
              </a:rPr>
              <a:t> — retrieve, answer, cite the section</a:t>
            </a:r>
          </a:p>
          <a:p>
            <a:pPr>
              <a:lnSpc>
                <a:spcPct val="103000"/>
              </a:lnSpc>
              <a:spcAft>
                <a:spcPts val="300"/>
              </a:spcAft>
            </a:pPr>
            <a:r>
              <a:rPr sz="930" b="1" dirty="0">
                <a:solidFill>
                  <a:srgbClr val="0F766E"/>
                </a:solidFill>
                <a:latin typeface="Segoe UI"/>
              </a:rPr>
              <a:t>▪  </a:t>
            </a:r>
            <a:r>
              <a:rPr sz="930" b="1" i="0" dirty="0">
                <a:solidFill>
                  <a:srgbClr val="334155"/>
                </a:solidFill>
                <a:latin typeface="Segoe UI"/>
              </a:rPr>
              <a:t>booking</a:t>
            </a:r>
            <a:r>
              <a:rPr sz="930" b="0" i="0" dirty="0">
                <a:solidFill>
                  <a:srgbClr val="334155"/>
                </a:solidFill>
                <a:latin typeface="Segoe UI"/>
              </a:rPr>
              <a:t> — run the state machine one step</a:t>
            </a:r>
          </a:p>
          <a:p>
            <a:pPr>
              <a:lnSpc>
                <a:spcPct val="103000"/>
              </a:lnSpc>
              <a:spcAft>
                <a:spcPts val="300"/>
              </a:spcAft>
            </a:pPr>
            <a:r>
              <a:rPr sz="930" b="1" dirty="0">
                <a:solidFill>
                  <a:srgbClr val="0F766E"/>
                </a:solidFill>
                <a:latin typeface="Segoe UI"/>
              </a:rPr>
              <a:t>▪  </a:t>
            </a:r>
            <a:r>
              <a:rPr sz="930" b="1" i="0" dirty="0">
                <a:solidFill>
                  <a:srgbClr val="334155"/>
                </a:solidFill>
                <a:latin typeface="Segoe UI"/>
              </a:rPr>
              <a:t>handoff</a:t>
            </a:r>
            <a:r>
              <a:rPr sz="930" b="0" i="0" dirty="0">
                <a:solidFill>
                  <a:srgbClr val="334155"/>
                </a:solidFill>
                <a:latin typeface="Segoe UI"/>
              </a:rPr>
              <a:t> — offer the service desk</a:t>
            </a:r>
          </a:p>
          <a:p>
            <a:pPr>
              <a:lnSpc>
                <a:spcPct val="103000"/>
              </a:lnSpc>
              <a:spcAft>
                <a:spcPts val="300"/>
              </a:spcAft>
            </a:pPr>
            <a:r>
              <a:rPr sz="930" b="1" dirty="0">
                <a:solidFill>
                  <a:srgbClr val="0F766E"/>
                </a:solidFill>
                <a:latin typeface="Segoe UI"/>
              </a:rPr>
              <a:t>▪  </a:t>
            </a:r>
            <a:r>
              <a:rPr sz="930" b="1" i="0" dirty="0" err="1">
                <a:solidFill>
                  <a:srgbClr val="334155"/>
                </a:solidFill>
                <a:latin typeface="Segoe UI"/>
              </a:rPr>
              <a:t>out_of_scope</a:t>
            </a:r>
            <a:r>
              <a:rPr sz="930" b="0" i="0" dirty="0">
                <a:solidFill>
                  <a:srgbClr val="334155"/>
                </a:solidFill>
                <a:latin typeface="Segoe UI"/>
              </a:rPr>
              <a:t> — polite decline</a:t>
            </a:r>
          </a:p>
        </p:txBody>
      </p:sp>
      <p:sp>
        <p:nvSpPr>
          <p:cNvPr id="44" name="Rounded Rectangle 43"/>
          <p:cNvSpPr/>
          <p:nvPr/>
        </p:nvSpPr>
        <p:spPr>
          <a:xfrm>
            <a:off x="4307738" y="2798064"/>
            <a:ext cx="3576218" cy="157276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5" name="Rectangle 44"/>
          <p:cNvSpPr/>
          <p:nvPr/>
        </p:nvSpPr>
        <p:spPr>
          <a:xfrm>
            <a:off x="4307738" y="2798064"/>
            <a:ext cx="3576218" cy="4114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4472330" y="2944368"/>
            <a:ext cx="3247034" cy="237744"/>
          </a:xfrm>
          <a:prstGeom prst="rect">
            <a:avLst/>
          </a:prstGeom>
          <a:noFill/>
        </p:spPr>
        <p:txBody>
          <a:bodyPr wrap="square" lIns="0" tIns="0" rIns="0" bIns="0" anchor="t">
            <a:spAutoFit/>
          </a:bodyPr>
          <a:lstStyle/>
          <a:p>
            <a:pPr algn="l">
              <a:lnSpc>
                <a:spcPct val="100000"/>
              </a:lnSpc>
            </a:pPr>
            <a:r>
              <a:rPr sz="960" b="1" i="0">
                <a:solidFill>
                  <a:srgbClr val="B91C1C"/>
                </a:solidFill>
                <a:latin typeface="Segoe UI"/>
              </a:rPr>
              <a:t>THE FIVE FAILURE PATHS</a:t>
            </a:r>
          </a:p>
        </p:txBody>
      </p:sp>
      <p:sp>
        <p:nvSpPr>
          <p:cNvPr id="47" name="TextBox 46"/>
          <p:cNvSpPr txBox="1"/>
          <p:nvPr/>
        </p:nvSpPr>
        <p:spPr>
          <a:xfrm>
            <a:off x="4472330" y="3218688"/>
            <a:ext cx="3265322" cy="1097280"/>
          </a:xfrm>
          <a:prstGeom prst="rect">
            <a:avLst/>
          </a:prstGeom>
          <a:noFill/>
        </p:spPr>
        <p:txBody>
          <a:bodyPr wrap="square" lIns="0" tIns="0" rIns="0" bIns="0">
            <a:spAutoFit/>
          </a:bodyPr>
          <a:lstStyle/>
          <a:p>
            <a:pPr>
              <a:lnSpc>
                <a:spcPct val="103000"/>
              </a:lnSpc>
              <a:spcAft>
                <a:spcPts val="300"/>
              </a:spcAft>
            </a:pPr>
            <a:r>
              <a:rPr sz="930" b="1" dirty="0">
                <a:solidFill>
                  <a:srgbClr val="B91C1C"/>
                </a:solidFill>
                <a:latin typeface="Segoe UI"/>
              </a:rPr>
              <a:t>▪  </a:t>
            </a:r>
            <a:r>
              <a:rPr sz="930" b="0" i="0" dirty="0">
                <a:solidFill>
                  <a:srgbClr val="334155"/>
                </a:solidFill>
                <a:latin typeface="Segoe UI"/>
              </a:rPr>
              <a:t>Router returns bad JSON → fall back to </a:t>
            </a:r>
            <a:r>
              <a:rPr sz="883" b="0" i="0" dirty="0" err="1">
                <a:solidFill>
                  <a:srgbClr val="334155"/>
                </a:solidFill>
                <a:latin typeface="Consolas"/>
              </a:rPr>
              <a:t>faq</a:t>
            </a:r>
            <a:endParaRPr sz="883" b="0" i="0" dirty="0">
              <a:solidFill>
                <a:srgbClr val="334155"/>
              </a:solidFill>
              <a:latin typeface="Consolas"/>
            </a:endParaRPr>
          </a:p>
          <a:p>
            <a:pPr>
              <a:lnSpc>
                <a:spcPct val="103000"/>
              </a:lnSpc>
              <a:spcAft>
                <a:spcPts val="300"/>
              </a:spcAft>
            </a:pPr>
            <a:r>
              <a:rPr sz="930" b="1" dirty="0">
                <a:solidFill>
                  <a:srgbClr val="B91C1C"/>
                </a:solidFill>
                <a:latin typeface="Segoe UI"/>
              </a:rPr>
              <a:t>▪  </a:t>
            </a:r>
            <a:r>
              <a:rPr sz="930" b="0" i="0" dirty="0">
                <a:solidFill>
                  <a:srgbClr val="334155"/>
                </a:solidFill>
                <a:latin typeface="Segoe UI"/>
              </a:rPr>
              <a:t>No KB section above the threshold → no answer, offer the desk</a:t>
            </a:r>
          </a:p>
          <a:p>
            <a:pPr>
              <a:lnSpc>
                <a:spcPct val="103000"/>
              </a:lnSpc>
              <a:spcAft>
                <a:spcPts val="300"/>
              </a:spcAft>
            </a:pPr>
            <a:r>
              <a:rPr sz="930" b="1" dirty="0">
                <a:solidFill>
                  <a:srgbClr val="B91C1C"/>
                </a:solidFill>
                <a:latin typeface="Segoe UI"/>
              </a:rPr>
              <a:t>▪  </a:t>
            </a:r>
            <a:r>
              <a:rPr sz="930" b="0" i="0" dirty="0">
                <a:solidFill>
                  <a:srgbClr val="334155"/>
                </a:solidFill>
                <a:latin typeface="Segoe UI"/>
              </a:rPr>
              <a:t>Third bad value in a state → </a:t>
            </a:r>
            <a:r>
              <a:rPr sz="883" b="0" i="0" dirty="0">
                <a:solidFill>
                  <a:srgbClr val="334155"/>
                </a:solidFill>
                <a:latin typeface="Consolas"/>
              </a:rPr>
              <a:t>handoff</a:t>
            </a:r>
          </a:p>
          <a:p>
            <a:pPr>
              <a:lnSpc>
                <a:spcPct val="103000"/>
              </a:lnSpc>
              <a:spcAft>
                <a:spcPts val="300"/>
              </a:spcAft>
            </a:pPr>
            <a:r>
              <a:rPr sz="930" b="1" dirty="0">
                <a:solidFill>
                  <a:srgbClr val="B91C1C"/>
                </a:solidFill>
                <a:latin typeface="Segoe UI"/>
              </a:rPr>
              <a:t>▪  </a:t>
            </a:r>
            <a:r>
              <a:rPr sz="930" b="0" i="0" dirty="0">
                <a:solidFill>
                  <a:srgbClr val="334155"/>
                </a:solidFill>
                <a:latin typeface="Segoe UI"/>
              </a:rPr>
              <a:t>A complaint → </a:t>
            </a:r>
            <a:r>
              <a:rPr sz="883" b="0" i="0" dirty="0">
                <a:solidFill>
                  <a:srgbClr val="334155"/>
                </a:solidFill>
                <a:latin typeface="Consolas"/>
              </a:rPr>
              <a:t>handoff</a:t>
            </a:r>
            <a:r>
              <a:rPr sz="930" b="0" i="0" dirty="0">
                <a:solidFill>
                  <a:srgbClr val="334155"/>
                </a:solidFill>
                <a:latin typeface="Segoe UI"/>
              </a:rPr>
              <a:t>, booking state is kept</a:t>
            </a:r>
          </a:p>
          <a:p>
            <a:pPr>
              <a:lnSpc>
                <a:spcPct val="103000"/>
              </a:lnSpc>
              <a:spcAft>
                <a:spcPts val="300"/>
              </a:spcAft>
            </a:pPr>
            <a:r>
              <a:rPr sz="930" b="1" dirty="0">
                <a:solidFill>
                  <a:srgbClr val="B91C1C"/>
                </a:solidFill>
                <a:latin typeface="Segoe UI"/>
              </a:rPr>
              <a:t>▪  </a:t>
            </a:r>
            <a:r>
              <a:rPr sz="930" b="0" i="0" dirty="0">
                <a:solidFill>
                  <a:srgbClr val="334155"/>
                </a:solidFill>
                <a:latin typeface="Segoe UI"/>
              </a:rPr>
              <a:t>Consent refused → nothing is written</a:t>
            </a:r>
          </a:p>
        </p:txBody>
      </p:sp>
      <p:sp>
        <p:nvSpPr>
          <p:cNvPr id="48" name="Rounded Rectangle 47"/>
          <p:cNvSpPr/>
          <p:nvPr/>
        </p:nvSpPr>
        <p:spPr>
          <a:xfrm>
            <a:off x="8048548" y="2798064"/>
            <a:ext cx="3576218" cy="157276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9" name="Rectangle 48"/>
          <p:cNvSpPr/>
          <p:nvPr/>
        </p:nvSpPr>
        <p:spPr>
          <a:xfrm>
            <a:off x="8048548" y="2798064"/>
            <a:ext cx="3576218" cy="411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8213140" y="2944368"/>
            <a:ext cx="3247034" cy="237744"/>
          </a:xfrm>
          <a:prstGeom prst="rect">
            <a:avLst/>
          </a:prstGeom>
          <a:noFill/>
        </p:spPr>
        <p:txBody>
          <a:bodyPr wrap="square" lIns="0" tIns="0" rIns="0" bIns="0" anchor="t">
            <a:spAutoFit/>
          </a:bodyPr>
          <a:lstStyle/>
          <a:p>
            <a:pPr algn="l">
              <a:lnSpc>
                <a:spcPct val="100000"/>
              </a:lnSpc>
            </a:pPr>
            <a:r>
              <a:rPr sz="960" b="1" i="0">
                <a:solidFill>
                  <a:srgbClr val="6D28D9"/>
                </a:solidFill>
                <a:latin typeface="Segoe UI"/>
              </a:rPr>
              <a:t>WHAT THE MODEL IS FOR</a:t>
            </a:r>
          </a:p>
        </p:txBody>
      </p:sp>
      <p:sp>
        <p:nvSpPr>
          <p:cNvPr id="51" name="TextBox 50"/>
          <p:cNvSpPr txBox="1"/>
          <p:nvPr/>
        </p:nvSpPr>
        <p:spPr>
          <a:xfrm>
            <a:off x="8213140" y="3218688"/>
            <a:ext cx="3265322" cy="1097280"/>
          </a:xfrm>
          <a:prstGeom prst="rect">
            <a:avLst/>
          </a:prstGeom>
          <a:noFill/>
        </p:spPr>
        <p:txBody>
          <a:bodyPr wrap="square" lIns="0" tIns="0" rIns="0" bIns="0">
            <a:spAutoFit/>
          </a:bodyPr>
          <a:lstStyle/>
          <a:p>
            <a:pPr>
              <a:lnSpc>
                <a:spcPct val="103000"/>
              </a:lnSpc>
              <a:spcAft>
                <a:spcPts val="300"/>
              </a:spcAft>
            </a:pPr>
            <a:r>
              <a:rPr sz="930" b="1" dirty="0">
                <a:solidFill>
                  <a:srgbClr val="6D28D9"/>
                </a:solidFill>
                <a:latin typeface="Segoe UI"/>
              </a:rPr>
              <a:t>▪  </a:t>
            </a:r>
            <a:r>
              <a:rPr sz="930" b="0" i="0" dirty="0">
                <a:solidFill>
                  <a:srgbClr val="334155"/>
                </a:solidFill>
                <a:latin typeface="Segoe UI"/>
              </a:rPr>
              <a:t>Reading intent (</a:t>
            </a:r>
            <a:r>
              <a:rPr sz="930" b="1" i="0" dirty="0">
                <a:solidFill>
                  <a:srgbClr val="334155"/>
                </a:solidFill>
                <a:latin typeface="Segoe UI"/>
              </a:rPr>
              <a:t>route</a:t>
            </a:r>
            <a:r>
              <a:rPr sz="930" b="0" i="0" dirty="0">
                <a:solidFill>
                  <a:srgbClr val="334155"/>
                </a:solidFill>
                <a:latin typeface="Segoe UI"/>
              </a:rPr>
              <a:t>)</a:t>
            </a:r>
          </a:p>
          <a:p>
            <a:pPr>
              <a:lnSpc>
                <a:spcPct val="103000"/>
              </a:lnSpc>
              <a:spcAft>
                <a:spcPts val="300"/>
              </a:spcAft>
            </a:pPr>
            <a:r>
              <a:rPr sz="930" b="1" dirty="0">
                <a:solidFill>
                  <a:srgbClr val="6D28D9"/>
                </a:solidFill>
                <a:latin typeface="Segoe UI"/>
              </a:rPr>
              <a:t>▪  </a:t>
            </a:r>
            <a:r>
              <a:rPr sz="930" b="0" i="0" dirty="0">
                <a:solidFill>
                  <a:srgbClr val="334155"/>
                </a:solidFill>
                <a:latin typeface="Segoe UI"/>
              </a:rPr>
              <a:t>Rewriting free text into a value (</a:t>
            </a:r>
            <a:r>
              <a:rPr sz="930" b="1" i="0" dirty="0">
                <a:solidFill>
                  <a:srgbClr val="334155"/>
                </a:solidFill>
                <a:latin typeface="Segoe UI"/>
              </a:rPr>
              <a:t>service, date, time slot</a:t>
            </a:r>
            <a:r>
              <a:rPr sz="930" b="0" i="0" dirty="0">
                <a:solidFill>
                  <a:srgbClr val="334155"/>
                </a:solidFill>
                <a:latin typeface="Segoe UI"/>
              </a:rPr>
              <a:t>)</a:t>
            </a:r>
          </a:p>
          <a:p>
            <a:pPr>
              <a:lnSpc>
                <a:spcPct val="103000"/>
              </a:lnSpc>
              <a:spcAft>
                <a:spcPts val="300"/>
              </a:spcAft>
            </a:pPr>
            <a:r>
              <a:rPr sz="930" b="1" dirty="0">
                <a:solidFill>
                  <a:srgbClr val="6D28D9"/>
                </a:solidFill>
                <a:latin typeface="Segoe UI"/>
              </a:rPr>
              <a:t>▪  </a:t>
            </a:r>
            <a:r>
              <a:rPr sz="930" b="0" i="0" dirty="0">
                <a:solidFill>
                  <a:srgbClr val="334155"/>
                </a:solidFill>
                <a:latin typeface="Segoe UI"/>
              </a:rPr>
              <a:t>Turning retrieved text into an answer (</a:t>
            </a:r>
            <a:r>
              <a:rPr sz="930" b="1" i="0" dirty="0" err="1">
                <a:solidFill>
                  <a:srgbClr val="334155"/>
                </a:solidFill>
                <a:latin typeface="Segoe UI"/>
              </a:rPr>
              <a:t>faq</a:t>
            </a:r>
            <a:r>
              <a:rPr sz="930" b="0" i="0" dirty="0">
                <a:solidFill>
                  <a:srgbClr val="334155"/>
                </a:solidFill>
                <a:latin typeface="Segoe UI"/>
              </a:rPr>
              <a:t>)</a:t>
            </a:r>
          </a:p>
          <a:p>
            <a:pPr>
              <a:lnSpc>
                <a:spcPct val="103000"/>
              </a:lnSpc>
              <a:spcAft>
                <a:spcPts val="300"/>
              </a:spcAft>
            </a:pPr>
            <a:r>
              <a:rPr sz="930" b="1" dirty="0">
                <a:solidFill>
                  <a:srgbClr val="6D28D9"/>
                </a:solidFill>
                <a:latin typeface="Segoe UI"/>
              </a:rPr>
              <a:t>▪  </a:t>
            </a:r>
            <a:r>
              <a:rPr sz="930" b="0" i="0" dirty="0">
                <a:solidFill>
                  <a:srgbClr val="334155"/>
                </a:solidFill>
                <a:latin typeface="Segoe UI"/>
              </a:rPr>
              <a:t>Never: validating, deciding, or writing</a:t>
            </a:r>
          </a:p>
        </p:txBody>
      </p:sp>
      <p:sp>
        <p:nvSpPr>
          <p:cNvPr id="52" name="TextBox 51"/>
          <p:cNvSpPr txBox="1"/>
          <p:nvPr/>
        </p:nvSpPr>
        <p:spPr>
          <a:xfrm>
            <a:off x="566928" y="4517136"/>
            <a:ext cx="11057839" cy="237744"/>
          </a:xfrm>
          <a:prstGeom prst="rect">
            <a:avLst/>
          </a:prstGeom>
          <a:noFill/>
        </p:spPr>
        <p:txBody>
          <a:bodyPr wrap="square" lIns="0" tIns="0" rIns="0" bIns="0" anchor="t">
            <a:spAutoFit/>
          </a:bodyPr>
          <a:lstStyle/>
          <a:p>
            <a:pPr algn="l">
              <a:lnSpc>
                <a:spcPct val="100000"/>
              </a:lnSpc>
            </a:pPr>
            <a:r>
              <a:rPr sz="960" b="1" i="0">
                <a:solidFill>
                  <a:srgbClr val="64748B"/>
                </a:solidFill>
                <a:latin typeface="Segoe UI"/>
              </a:rPr>
              <a:t>WHERE THE SECONDS GO — ONE FAQ TURN</a:t>
            </a:r>
          </a:p>
        </p:txBody>
      </p:sp>
      <p:sp>
        <p:nvSpPr>
          <p:cNvPr id="53" name="Rounded Rectangle 52"/>
          <p:cNvSpPr/>
          <p:nvPr/>
        </p:nvSpPr>
        <p:spPr>
          <a:xfrm>
            <a:off x="566928" y="4791456"/>
            <a:ext cx="2109155" cy="292608"/>
          </a:xfrm>
          <a:prstGeom prst="roundRect">
            <a:avLst>
              <a:gd name="adj" fmla="val 14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FFFFFF"/>
                </a:solidFill>
                <a:latin typeface="Segoe UI"/>
              </a:rPr>
              <a:t>5 ms</a:t>
            </a:r>
          </a:p>
        </p:txBody>
      </p:sp>
      <p:sp>
        <p:nvSpPr>
          <p:cNvPr id="54" name="TextBox 53"/>
          <p:cNvSpPr txBox="1"/>
          <p:nvPr/>
        </p:nvSpPr>
        <p:spPr>
          <a:xfrm>
            <a:off x="566928" y="5120640"/>
            <a:ext cx="2109155" cy="219456"/>
          </a:xfrm>
          <a:prstGeom prst="rect">
            <a:avLst/>
          </a:prstGeom>
          <a:noFill/>
        </p:spPr>
        <p:txBody>
          <a:bodyPr wrap="square" lIns="0" tIns="0" rIns="0" bIns="0" anchor="t">
            <a:spAutoFit/>
          </a:bodyPr>
          <a:lstStyle/>
          <a:p>
            <a:pPr algn="ctr">
              <a:lnSpc>
                <a:spcPct val="100000"/>
              </a:lnSpc>
            </a:pPr>
            <a:r>
              <a:rPr sz="800" b="0" i="0">
                <a:solidFill>
                  <a:srgbClr val="64748B"/>
                </a:solidFill>
                <a:latin typeface="Segoe UI"/>
              </a:rPr>
              <a:t>Guard + route schema</a:t>
            </a:r>
          </a:p>
        </p:txBody>
      </p:sp>
      <p:sp>
        <p:nvSpPr>
          <p:cNvPr id="55" name="Rounded Rectangle 54"/>
          <p:cNvSpPr/>
          <p:nvPr/>
        </p:nvSpPr>
        <p:spPr>
          <a:xfrm>
            <a:off x="2804099" y="4791456"/>
            <a:ext cx="2109155" cy="292608"/>
          </a:xfrm>
          <a:prstGeom prst="roundRect">
            <a:avLst>
              <a:gd name="adj" fmla="val 14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FFFFFF"/>
                </a:solidFill>
                <a:latin typeface="Segoe UI"/>
              </a:rPr>
              <a:t>900 ms</a:t>
            </a:r>
          </a:p>
        </p:txBody>
      </p:sp>
      <p:sp>
        <p:nvSpPr>
          <p:cNvPr id="56" name="TextBox 55"/>
          <p:cNvSpPr txBox="1"/>
          <p:nvPr/>
        </p:nvSpPr>
        <p:spPr>
          <a:xfrm>
            <a:off x="2804099" y="5120640"/>
            <a:ext cx="2109155" cy="219456"/>
          </a:xfrm>
          <a:prstGeom prst="rect">
            <a:avLst/>
          </a:prstGeom>
          <a:noFill/>
        </p:spPr>
        <p:txBody>
          <a:bodyPr wrap="square" lIns="0" tIns="0" rIns="0" bIns="0" anchor="t">
            <a:spAutoFit/>
          </a:bodyPr>
          <a:lstStyle/>
          <a:p>
            <a:pPr algn="ctr">
              <a:lnSpc>
                <a:spcPct val="100000"/>
              </a:lnSpc>
            </a:pPr>
            <a:r>
              <a:rPr sz="800" b="0" i="0">
                <a:solidFill>
                  <a:srgbClr val="64748B"/>
                </a:solidFill>
                <a:latin typeface="Segoe UI"/>
              </a:rPr>
              <a:t>Router (model)</a:t>
            </a:r>
          </a:p>
        </p:txBody>
      </p:sp>
      <p:sp>
        <p:nvSpPr>
          <p:cNvPr id="57" name="Rounded Rectangle 56"/>
          <p:cNvSpPr/>
          <p:nvPr/>
        </p:nvSpPr>
        <p:spPr>
          <a:xfrm>
            <a:off x="5041270" y="4791456"/>
            <a:ext cx="2109155" cy="292608"/>
          </a:xfrm>
          <a:prstGeom prst="roundRect">
            <a:avLst>
              <a:gd name="adj" fmla="val 14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FFFFFF"/>
                </a:solidFill>
                <a:latin typeface="Segoe UI"/>
              </a:rPr>
              <a:t>30 ms</a:t>
            </a:r>
          </a:p>
        </p:txBody>
      </p:sp>
      <p:sp>
        <p:nvSpPr>
          <p:cNvPr id="58" name="TextBox 57"/>
          <p:cNvSpPr txBox="1"/>
          <p:nvPr/>
        </p:nvSpPr>
        <p:spPr>
          <a:xfrm>
            <a:off x="5041270" y="5120640"/>
            <a:ext cx="2109155" cy="219456"/>
          </a:xfrm>
          <a:prstGeom prst="rect">
            <a:avLst/>
          </a:prstGeom>
          <a:noFill/>
        </p:spPr>
        <p:txBody>
          <a:bodyPr wrap="square" lIns="0" tIns="0" rIns="0" bIns="0" anchor="t">
            <a:spAutoFit/>
          </a:bodyPr>
          <a:lstStyle/>
          <a:p>
            <a:pPr algn="ctr">
              <a:lnSpc>
                <a:spcPct val="100000"/>
              </a:lnSpc>
            </a:pPr>
            <a:r>
              <a:rPr sz="800" b="0" i="0">
                <a:solidFill>
                  <a:srgbClr val="64748B"/>
                </a:solidFill>
                <a:latin typeface="Segoe UI"/>
              </a:rPr>
              <a:t>Search + synonyms</a:t>
            </a:r>
          </a:p>
        </p:txBody>
      </p:sp>
      <p:sp>
        <p:nvSpPr>
          <p:cNvPr id="59" name="Rounded Rectangle 58"/>
          <p:cNvSpPr/>
          <p:nvPr/>
        </p:nvSpPr>
        <p:spPr>
          <a:xfrm>
            <a:off x="7278441" y="4791456"/>
            <a:ext cx="2109155" cy="292608"/>
          </a:xfrm>
          <a:prstGeom prst="roundRect">
            <a:avLst>
              <a:gd name="adj" fmla="val 14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FFFFFF"/>
                </a:solidFill>
                <a:latin typeface="Segoe UI"/>
              </a:rPr>
              <a:t>1200 ms</a:t>
            </a:r>
          </a:p>
        </p:txBody>
      </p:sp>
      <p:sp>
        <p:nvSpPr>
          <p:cNvPr id="60" name="TextBox 59"/>
          <p:cNvSpPr txBox="1"/>
          <p:nvPr/>
        </p:nvSpPr>
        <p:spPr>
          <a:xfrm>
            <a:off x="7278441" y="5120640"/>
            <a:ext cx="2109155" cy="219456"/>
          </a:xfrm>
          <a:prstGeom prst="rect">
            <a:avLst/>
          </a:prstGeom>
          <a:noFill/>
        </p:spPr>
        <p:txBody>
          <a:bodyPr wrap="square" lIns="0" tIns="0" rIns="0" bIns="0" anchor="t">
            <a:spAutoFit/>
          </a:bodyPr>
          <a:lstStyle/>
          <a:p>
            <a:pPr algn="ctr">
              <a:lnSpc>
                <a:spcPct val="100000"/>
              </a:lnSpc>
            </a:pPr>
            <a:r>
              <a:rPr sz="800" b="0" i="0">
                <a:solidFill>
                  <a:srgbClr val="64748B"/>
                </a:solidFill>
                <a:latin typeface="Segoe UI"/>
              </a:rPr>
              <a:t>Answer (model)</a:t>
            </a:r>
          </a:p>
        </p:txBody>
      </p:sp>
      <p:sp>
        <p:nvSpPr>
          <p:cNvPr id="61" name="Rounded Rectangle 60"/>
          <p:cNvSpPr/>
          <p:nvPr/>
        </p:nvSpPr>
        <p:spPr>
          <a:xfrm>
            <a:off x="9515612" y="4791456"/>
            <a:ext cx="2109155" cy="292608"/>
          </a:xfrm>
          <a:prstGeom prst="roundRect">
            <a:avLst>
              <a:gd name="adj" fmla="val 14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80" b="1" i="0">
                <a:solidFill>
                  <a:srgbClr val="FFFFFF"/>
                </a:solidFill>
                <a:latin typeface="Segoe UI"/>
              </a:rPr>
              <a:t>10 ms</a:t>
            </a:r>
          </a:p>
        </p:txBody>
      </p:sp>
      <p:sp>
        <p:nvSpPr>
          <p:cNvPr id="62" name="TextBox 61"/>
          <p:cNvSpPr txBox="1"/>
          <p:nvPr/>
        </p:nvSpPr>
        <p:spPr>
          <a:xfrm>
            <a:off x="9515612" y="5120640"/>
            <a:ext cx="2109155" cy="219456"/>
          </a:xfrm>
          <a:prstGeom prst="rect">
            <a:avLst/>
          </a:prstGeom>
          <a:noFill/>
        </p:spPr>
        <p:txBody>
          <a:bodyPr wrap="square" lIns="0" tIns="0" rIns="0" bIns="0" anchor="t">
            <a:spAutoFit/>
          </a:bodyPr>
          <a:lstStyle/>
          <a:p>
            <a:pPr algn="ctr">
              <a:lnSpc>
                <a:spcPct val="100000"/>
              </a:lnSpc>
            </a:pPr>
            <a:r>
              <a:rPr sz="800" b="0" i="0">
                <a:solidFill>
                  <a:srgbClr val="64748B"/>
                </a:solidFill>
                <a:latin typeface="Segoe UI"/>
              </a:rPr>
              <a:t>Citation + trace</a:t>
            </a:r>
          </a:p>
        </p:txBody>
      </p:sp>
      <p:sp>
        <p:nvSpPr>
          <p:cNvPr id="63" name="TextBox 62"/>
          <p:cNvSpPr txBox="1"/>
          <p:nvPr/>
        </p:nvSpPr>
        <p:spPr>
          <a:xfrm>
            <a:off x="566928" y="5468112"/>
            <a:ext cx="11057839" cy="219456"/>
          </a:xfrm>
          <a:prstGeom prst="rect">
            <a:avLst/>
          </a:prstGeom>
          <a:noFill/>
        </p:spPr>
        <p:txBody>
          <a:bodyPr wrap="square" lIns="0" tIns="0" rIns="0" bIns="0" anchor="t">
            <a:spAutoFit/>
          </a:bodyPr>
          <a:lstStyle/>
          <a:p>
            <a:pPr algn="l">
              <a:lnSpc>
                <a:spcPct val="100000"/>
              </a:lnSpc>
            </a:pPr>
            <a:r>
              <a:rPr sz="960" b="0" i="0">
                <a:solidFill>
                  <a:srgbClr val="0F172A"/>
                </a:solidFill>
                <a:latin typeface="Segoe UI"/>
              </a:rPr>
              <a:t>≈ 2.1 s end to end, two model calls. Everything else is code and is measured in milliseconds.</a:t>
            </a:r>
          </a:p>
        </p:txBody>
      </p:sp>
      <p:sp>
        <p:nvSpPr>
          <p:cNvPr id="64" name="Rounded Rectangle 63"/>
          <p:cNvSpPr/>
          <p:nvPr/>
        </p:nvSpPr>
        <p:spPr>
          <a:xfrm>
            <a:off x="566928" y="5833872"/>
            <a:ext cx="11057839" cy="34747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65" name="TextBox 64"/>
          <p:cNvSpPr txBox="1"/>
          <p:nvPr/>
        </p:nvSpPr>
        <p:spPr>
          <a:xfrm>
            <a:off x="749808" y="5907024"/>
            <a:ext cx="10692079" cy="219456"/>
          </a:xfrm>
          <a:prstGeom prst="rect">
            <a:avLst/>
          </a:prstGeom>
          <a:noFill/>
        </p:spPr>
        <p:txBody>
          <a:bodyPr wrap="square" lIns="0" tIns="0" rIns="0" bIns="0" anchor="t">
            <a:spAutoFit/>
          </a:bodyPr>
          <a:lstStyle/>
          <a:p>
            <a:pPr algn="l">
              <a:lnSpc>
                <a:spcPct val="100000"/>
              </a:lnSpc>
            </a:pPr>
            <a:r>
              <a:rPr sz="1000" b="1" i="0">
                <a:solidFill>
                  <a:srgbClr val="334155"/>
                </a:solidFill>
                <a:latin typeface="Segoe UI"/>
              </a:rPr>
              <a:t>The invariant:</a:t>
            </a:r>
            <a:r>
              <a:rPr sz="1000" b="0" i="0">
                <a:solidFill>
                  <a:srgbClr val="334155"/>
                </a:solidFill>
                <a:latin typeface="Segoe UI"/>
              </a:rPr>
              <a:t> a model may extract; only code decides, validates and writes. Two model calls is the hard ceiling for one customer message.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INTERACTION</a:t>
            </a:r>
          </a:p>
        </p:txBody>
      </p:sp>
      <p:sp>
        <p:nvSpPr>
          <p:cNvPr id="4" name="TextBox 3"/>
          <p:cNvSpPr txBox="1"/>
          <p:nvPr/>
        </p:nvSpPr>
        <p:spPr>
          <a:xfrm>
            <a:off x="566928" y="566928"/>
            <a:ext cx="11057839" cy="502920"/>
          </a:xfrm>
          <a:prstGeom prst="rect">
            <a:avLst/>
          </a:prstGeom>
          <a:noFill/>
        </p:spPr>
        <p:txBody>
          <a:bodyPr wrap="square" lIns="0" tIns="0" rIns="0" bIns="0" anchor="t">
            <a:spAutoFit/>
          </a:bodyPr>
          <a:lstStyle/>
          <a:p>
            <a:pPr algn="l">
              <a:lnSpc>
                <a:spcPct val="100000"/>
              </a:lnSpc>
            </a:pPr>
            <a:r>
              <a:rPr sz="2500" b="1" i="0">
                <a:solidFill>
                  <a:srgbClr val="0F172A"/>
                </a:solidFill>
                <a:latin typeface="Segoe UI"/>
              </a:rPr>
              <a:t>Inside the router — model call 1</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The model chooses a route. It does not choose the rules, and it cannot refuse the schema.</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5</a:t>
            </a:r>
          </a:p>
        </p:txBody>
      </p:sp>
      <p:sp>
        <p:nvSpPr>
          <p:cNvPr id="9" name="Rounded Rectangle 8"/>
          <p:cNvSpPr/>
          <p:nvPr/>
        </p:nvSpPr>
        <p:spPr>
          <a:xfrm>
            <a:off x="566928" y="1481328"/>
            <a:ext cx="5413248" cy="239572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0" name="TextBox 9"/>
          <p:cNvSpPr txBox="1"/>
          <p:nvPr/>
        </p:nvSpPr>
        <p:spPr>
          <a:xfrm>
            <a:off x="768096" y="1645920"/>
            <a:ext cx="5029200" cy="237744"/>
          </a:xfrm>
          <a:prstGeom prst="rect">
            <a:avLst/>
          </a:prstGeom>
          <a:noFill/>
        </p:spPr>
        <p:txBody>
          <a:bodyPr wrap="square" lIns="0" tIns="0" rIns="0" bIns="0" anchor="t">
            <a:spAutoFit/>
          </a:bodyPr>
          <a:lstStyle/>
          <a:p>
            <a:pPr algn="l">
              <a:lnSpc>
                <a:spcPct val="100000"/>
              </a:lnSpc>
            </a:pPr>
            <a:r>
              <a:rPr sz="980" b="1" i="0">
                <a:solidFill>
                  <a:srgbClr val="6D28D9"/>
                </a:solidFill>
                <a:latin typeface="Segoe UI"/>
              </a:rPr>
              <a:t>WHAT GOES IN</a:t>
            </a:r>
          </a:p>
        </p:txBody>
      </p:sp>
      <p:sp>
        <p:nvSpPr>
          <p:cNvPr id="11" name="Rounded Rectangle 10"/>
          <p:cNvSpPr/>
          <p:nvPr/>
        </p:nvSpPr>
        <p:spPr>
          <a:xfrm>
            <a:off x="768096" y="1920240"/>
            <a:ext cx="5010912" cy="1810512"/>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2" name="TextBox 11"/>
          <p:cNvSpPr txBox="1"/>
          <p:nvPr/>
        </p:nvSpPr>
        <p:spPr>
          <a:xfrm>
            <a:off x="950976" y="2029968"/>
            <a:ext cx="4663440" cy="1645920"/>
          </a:xfrm>
          <a:prstGeom prst="rect">
            <a:avLst/>
          </a:prstGeom>
          <a:noFill/>
        </p:spPr>
        <p:txBody>
          <a:bodyPr wrap="square" lIns="0" tIns="0" rIns="0" bIns="0" anchor="t">
            <a:spAutoFit/>
          </a:bodyPr>
          <a:lstStyle/>
          <a:p>
            <a:pPr algn="l">
              <a:lnSpc>
                <a:spcPct val="116000"/>
              </a:lnSpc>
            </a:pPr>
            <a:r>
              <a:rPr sz="893" b="0" i="0" dirty="0">
                <a:solidFill>
                  <a:srgbClr val="334155"/>
                </a:solidFill>
                <a:latin typeface="Consolas"/>
              </a:rPr>
              <a:t>system   You route one customer message for Kallang Auto Care.
         Choose exactly one route:
         </a:t>
            </a:r>
            <a:r>
              <a:rPr sz="893" b="0" i="0" dirty="0" err="1">
                <a:solidFill>
                  <a:srgbClr val="334155"/>
                </a:solidFill>
                <a:latin typeface="Consolas"/>
              </a:rPr>
              <a:t>faq</a:t>
            </a:r>
            <a:r>
              <a:rPr sz="893" b="0" i="0" dirty="0">
                <a:solidFill>
                  <a:srgbClr val="334155"/>
                </a:solidFill>
                <a:latin typeface="Consolas"/>
              </a:rPr>
              <a:t> | booking | handoff | </a:t>
            </a:r>
            <a:r>
              <a:rPr sz="893" b="0" i="0" dirty="0" err="1">
                <a:solidFill>
                  <a:srgbClr val="334155"/>
                </a:solidFill>
                <a:latin typeface="Consolas"/>
              </a:rPr>
              <a:t>out_of_scope</a:t>
            </a:r>
            <a:r>
              <a:rPr sz="893" b="0" i="0" dirty="0">
                <a:solidFill>
                  <a:srgbClr val="334155"/>
                </a:solidFill>
                <a:latin typeface="Consolas"/>
              </a:rPr>
              <a:t>
         A complaint → handoff. A question the knowledge base
         might answer → </a:t>
            </a:r>
            <a:r>
              <a:rPr sz="893" b="0" i="0" dirty="0" err="1">
                <a:solidFill>
                  <a:srgbClr val="334155"/>
                </a:solidFill>
                <a:latin typeface="Consolas"/>
              </a:rPr>
              <a:t>faq</a:t>
            </a:r>
            <a:r>
              <a:rPr sz="893" b="0" i="0" dirty="0">
                <a:solidFill>
                  <a:srgbClr val="334155"/>
                </a:solidFill>
                <a:latin typeface="Consolas"/>
              </a:rPr>
              <a:t>. A booking value → booking.
         Return JSON only.
messages the last 2 turns + the current message
state    the current booking state (idle, service, date, …)</a:t>
            </a:r>
          </a:p>
        </p:txBody>
      </p:sp>
      <p:sp>
        <p:nvSpPr>
          <p:cNvPr id="13" name="Rounded Rectangle 12"/>
          <p:cNvSpPr/>
          <p:nvPr/>
        </p:nvSpPr>
        <p:spPr>
          <a:xfrm>
            <a:off x="6263640" y="1481328"/>
            <a:ext cx="5358384" cy="239572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4" name="TextBox 13"/>
          <p:cNvSpPr txBox="1"/>
          <p:nvPr/>
        </p:nvSpPr>
        <p:spPr>
          <a:xfrm>
            <a:off x="6464808" y="1645920"/>
            <a:ext cx="4937760" cy="237744"/>
          </a:xfrm>
          <a:prstGeom prst="rect">
            <a:avLst/>
          </a:prstGeom>
          <a:noFill/>
        </p:spPr>
        <p:txBody>
          <a:bodyPr wrap="square" lIns="0" tIns="0" rIns="0" bIns="0" anchor="t">
            <a:spAutoFit/>
          </a:bodyPr>
          <a:lstStyle/>
          <a:p>
            <a:pPr algn="l">
              <a:lnSpc>
                <a:spcPct val="100000"/>
              </a:lnSpc>
            </a:pPr>
            <a:r>
              <a:rPr sz="980" b="1" i="0">
                <a:solidFill>
                  <a:srgbClr val="0F766E"/>
                </a:solidFill>
                <a:latin typeface="Segoe UI"/>
              </a:rPr>
              <a:t>WHAT COMES OUT — AND WHAT CODE DOES WITH IT</a:t>
            </a:r>
          </a:p>
        </p:txBody>
      </p:sp>
      <p:sp>
        <p:nvSpPr>
          <p:cNvPr id="15" name="Rounded Rectangle 14"/>
          <p:cNvSpPr/>
          <p:nvPr/>
        </p:nvSpPr>
        <p:spPr>
          <a:xfrm>
            <a:off x="6464808" y="1920240"/>
            <a:ext cx="4956048" cy="786384"/>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6" name="TextBox 15"/>
          <p:cNvSpPr txBox="1"/>
          <p:nvPr/>
        </p:nvSpPr>
        <p:spPr>
          <a:xfrm>
            <a:off x="6629400" y="2011680"/>
            <a:ext cx="4663440" cy="640080"/>
          </a:xfrm>
          <a:prstGeom prst="rect">
            <a:avLst/>
          </a:prstGeom>
          <a:noFill/>
        </p:spPr>
        <p:txBody>
          <a:bodyPr wrap="square" lIns="0" tIns="0" rIns="0" bIns="0" anchor="t">
            <a:spAutoFit/>
          </a:bodyPr>
          <a:lstStyle/>
          <a:p>
            <a:pPr algn="l">
              <a:lnSpc>
                <a:spcPct val="118000"/>
              </a:lnSpc>
            </a:pPr>
            <a:r>
              <a:rPr sz="911" b="0" i="0">
                <a:solidFill>
                  <a:srgbClr val="0F172A"/>
                </a:solidFill>
                <a:latin typeface="Consolas"/>
              </a:rPr>
              <a:t>{ "route": "booking",
  "reason": "customer gave a plate while idle" }</a:t>
            </a:r>
          </a:p>
        </p:txBody>
      </p:sp>
      <p:sp>
        <p:nvSpPr>
          <p:cNvPr id="17" name="TextBox 16"/>
          <p:cNvSpPr txBox="1"/>
          <p:nvPr/>
        </p:nvSpPr>
        <p:spPr>
          <a:xfrm>
            <a:off x="6464808" y="2798064"/>
            <a:ext cx="4937760" cy="1005840"/>
          </a:xfrm>
          <a:prstGeom prst="rect">
            <a:avLst/>
          </a:prstGeom>
          <a:noFill/>
        </p:spPr>
        <p:txBody>
          <a:bodyPr wrap="square" lIns="0" tIns="0" rIns="0" bIns="0">
            <a:spAutoFit/>
          </a:bodyPr>
          <a:lstStyle/>
          <a:p>
            <a:pPr>
              <a:lnSpc>
                <a:spcPct val="106000"/>
              </a:lnSpc>
              <a:spcAft>
                <a:spcPts val="500"/>
              </a:spcAft>
            </a:pPr>
            <a:r>
              <a:rPr sz="960" b="1">
                <a:solidFill>
                  <a:srgbClr val="0F766E"/>
                </a:solidFill>
                <a:latin typeface="Segoe UI"/>
              </a:rPr>
              <a:t>▪  </a:t>
            </a:r>
            <a:r>
              <a:rPr sz="960" b="0" i="0">
                <a:solidFill>
                  <a:srgbClr val="334155"/>
                </a:solidFill>
                <a:latin typeface="Segoe UI"/>
              </a:rPr>
              <a:t>Code checks the route is one of the four — bad JSON falls back to </a:t>
            </a:r>
            <a:r>
              <a:rPr sz="911" b="0" i="0">
                <a:solidFill>
                  <a:srgbClr val="334155"/>
                </a:solidFill>
                <a:latin typeface="Consolas"/>
              </a:rPr>
              <a:t>faq</a:t>
            </a:r>
          </a:p>
          <a:p>
            <a:pPr>
              <a:lnSpc>
                <a:spcPct val="106000"/>
              </a:lnSpc>
              <a:spcAft>
                <a:spcPts val="500"/>
              </a:spcAft>
            </a:pPr>
            <a:r>
              <a:rPr sz="960" b="1">
                <a:solidFill>
                  <a:srgbClr val="0F766E"/>
                </a:solidFill>
                <a:latin typeface="Segoe UI"/>
              </a:rPr>
              <a:t>▪  </a:t>
            </a:r>
            <a:r>
              <a:rPr sz="960" b="0" i="0">
                <a:solidFill>
                  <a:srgbClr val="334155"/>
                </a:solidFill>
                <a:latin typeface="Segoe UI"/>
              </a:rPr>
              <a:t>Inside a booking, a question is answered </a:t>
            </a:r>
            <a:r>
              <a:rPr sz="960" b="1" i="0">
                <a:solidFill>
                  <a:srgbClr val="334155"/>
                </a:solidFill>
                <a:latin typeface="Segoe UI"/>
              </a:rPr>
              <a:t>and</a:t>
            </a:r>
            <a:r>
              <a:rPr sz="960" b="0" i="0">
                <a:solidFill>
                  <a:srgbClr val="334155"/>
                </a:solidFill>
                <a:latin typeface="Segoe UI"/>
              </a:rPr>
              <a:t> the state is kept</a:t>
            </a:r>
          </a:p>
          <a:p>
            <a:pPr>
              <a:lnSpc>
                <a:spcPct val="106000"/>
              </a:lnSpc>
              <a:spcAft>
                <a:spcPts val="500"/>
              </a:spcAft>
            </a:pPr>
            <a:r>
              <a:rPr sz="960" b="1">
                <a:solidFill>
                  <a:srgbClr val="0F766E"/>
                </a:solidFill>
                <a:latin typeface="Segoe UI"/>
              </a:rPr>
              <a:t>▪  </a:t>
            </a:r>
            <a:r>
              <a:rPr sz="960" b="0" i="0">
                <a:solidFill>
                  <a:srgbClr val="334155"/>
                </a:solidFill>
                <a:latin typeface="Segoe UI"/>
              </a:rPr>
              <a:t>A complaint anywhere wins over the other three routes</a:t>
            </a:r>
          </a:p>
        </p:txBody>
      </p:sp>
      <p:sp>
        <p:nvSpPr>
          <p:cNvPr id="18" name="TextBox 17"/>
          <p:cNvSpPr txBox="1"/>
          <p:nvPr/>
        </p:nvSpPr>
        <p:spPr>
          <a:xfrm>
            <a:off x="566928" y="4059936"/>
            <a:ext cx="11057839" cy="237744"/>
          </a:xfrm>
          <a:prstGeom prst="rect">
            <a:avLst/>
          </a:prstGeom>
          <a:noFill/>
        </p:spPr>
        <p:txBody>
          <a:bodyPr wrap="square" lIns="0" tIns="0" rIns="0" bIns="0" anchor="t">
            <a:spAutoFit/>
          </a:bodyPr>
          <a:lstStyle/>
          <a:p>
            <a:pPr algn="l">
              <a:lnSpc>
                <a:spcPct val="100000"/>
              </a:lnSpc>
            </a:pPr>
            <a:r>
              <a:rPr sz="960" b="1" i="0">
                <a:solidFill>
                  <a:srgbClr val="64748B"/>
                </a:solidFill>
                <a:latin typeface="Segoe UI"/>
              </a:rPr>
              <a:t>FIVE DISAMBIGUATION RULES — ALL APPLIED IN CODE AFTER THE MODEL ANSWERS</a:t>
            </a:r>
          </a:p>
        </p:txBody>
      </p:sp>
      <p:sp>
        <p:nvSpPr>
          <p:cNvPr id="19" name="Rounded Rectangle 18"/>
          <p:cNvSpPr/>
          <p:nvPr/>
        </p:nvSpPr>
        <p:spPr>
          <a:xfrm>
            <a:off x="566928" y="4352544"/>
            <a:ext cx="2094524" cy="1481328"/>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20" name="TextBox 19"/>
          <p:cNvSpPr txBox="1"/>
          <p:nvPr/>
        </p:nvSpPr>
        <p:spPr>
          <a:xfrm>
            <a:off x="713232" y="4480560"/>
            <a:ext cx="1801916" cy="274320"/>
          </a:xfrm>
          <a:prstGeom prst="rect">
            <a:avLst/>
          </a:prstGeom>
          <a:noFill/>
        </p:spPr>
        <p:txBody>
          <a:bodyPr wrap="square" lIns="0" tIns="0" rIns="0" bIns="0" anchor="t">
            <a:spAutoFit/>
          </a:bodyPr>
          <a:lstStyle/>
          <a:p>
            <a:pPr algn="l">
              <a:lnSpc>
                <a:spcPct val="105000"/>
              </a:lnSpc>
            </a:pPr>
            <a:r>
              <a:rPr sz="1000" b="1" i="0">
                <a:solidFill>
                  <a:srgbClr val="0F172A"/>
                </a:solidFill>
                <a:latin typeface="Segoe UI"/>
              </a:rPr>
              <a:t>In a booking?</a:t>
            </a:r>
          </a:p>
        </p:txBody>
      </p:sp>
      <p:sp>
        <p:nvSpPr>
          <p:cNvPr id="21" name="TextBox 20"/>
          <p:cNvSpPr txBox="1"/>
          <p:nvPr/>
        </p:nvSpPr>
        <p:spPr>
          <a:xfrm>
            <a:off x="713232" y="4864608"/>
            <a:ext cx="1801916" cy="896112"/>
          </a:xfrm>
          <a:prstGeom prst="rect">
            <a:avLst/>
          </a:prstGeom>
          <a:noFill/>
        </p:spPr>
        <p:txBody>
          <a:bodyPr wrap="square" lIns="0" tIns="0" rIns="0" bIns="0" anchor="t">
            <a:spAutoFit/>
          </a:bodyPr>
          <a:lstStyle/>
          <a:p>
            <a:pPr algn="l">
              <a:lnSpc>
                <a:spcPct val="110000"/>
              </a:lnSpc>
            </a:pPr>
            <a:r>
              <a:rPr sz="919" b="0" i="0">
                <a:solidFill>
                  <a:srgbClr val="64748B"/>
                </a:solidFill>
                <a:latin typeface="Segoe UI"/>
              </a:rPr>
              <a:t>The message is booking input, not a new question — unless it clearly asks something else</a:t>
            </a:r>
          </a:p>
        </p:txBody>
      </p:sp>
      <p:sp>
        <p:nvSpPr>
          <p:cNvPr id="22" name="Rounded Rectangle 21"/>
          <p:cNvSpPr/>
          <p:nvPr/>
        </p:nvSpPr>
        <p:spPr>
          <a:xfrm>
            <a:off x="2807756" y="4352544"/>
            <a:ext cx="2094524" cy="1481328"/>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23" name="TextBox 22"/>
          <p:cNvSpPr txBox="1"/>
          <p:nvPr/>
        </p:nvSpPr>
        <p:spPr>
          <a:xfrm>
            <a:off x="2954060" y="4480560"/>
            <a:ext cx="1801916" cy="274320"/>
          </a:xfrm>
          <a:prstGeom prst="rect">
            <a:avLst/>
          </a:prstGeom>
          <a:noFill/>
        </p:spPr>
        <p:txBody>
          <a:bodyPr wrap="square" lIns="0" tIns="0" rIns="0" bIns="0" anchor="t">
            <a:spAutoFit/>
          </a:bodyPr>
          <a:lstStyle/>
          <a:p>
            <a:pPr algn="l">
              <a:lnSpc>
                <a:spcPct val="105000"/>
              </a:lnSpc>
            </a:pPr>
            <a:r>
              <a:rPr sz="1000" b="1" i="0">
                <a:solidFill>
                  <a:srgbClr val="0F172A"/>
                </a:solidFill>
                <a:latin typeface="Segoe UI"/>
              </a:rPr>
              <a:t>A complaint?</a:t>
            </a:r>
          </a:p>
        </p:txBody>
      </p:sp>
      <p:sp>
        <p:nvSpPr>
          <p:cNvPr id="24" name="TextBox 23"/>
          <p:cNvSpPr txBox="1"/>
          <p:nvPr/>
        </p:nvSpPr>
        <p:spPr>
          <a:xfrm>
            <a:off x="2954060" y="4864608"/>
            <a:ext cx="1801916" cy="896112"/>
          </a:xfrm>
          <a:prstGeom prst="rect">
            <a:avLst/>
          </a:prstGeom>
          <a:noFill/>
        </p:spPr>
        <p:txBody>
          <a:bodyPr wrap="square" lIns="0" tIns="0" rIns="0" bIns="0" anchor="t">
            <a:spAutoFit/>
          </a:bodyPr>
          <a:lstStyle/>
          <a:p>
            <a:pPr algn="l">
              <a:lnSpc>
                <a:spcPct val="110000"/>
              </a:lnSpc>
            </a:pPr>
            <a:r>
              <a:rPr sz="919" b="0" i="0" dirty="0">
                <a:solidFill>
                  <a:srgbClr val="64748B"/>
                </a:solidFill>
                <a:latin typeface="Segoe UI"/>
              </a:rPr>
              <a:t>Words like angry, refund, manager, complaint → handoff, booking state preserved</a:t>
            </a:r>
          </a:p>
        </p:txBody>
      </p:sp>
      <p:sp>
        <p:nvSpPr>
          <p:cNvPr id="25" name="Rounded Rectangle 24"/>
          <p:cNvSpPr/>
          <p:nvPr/>
        </p:nvSpPr>
        <p:spPr>
          <a:xfrm>
            <a:off x="5048585" y="4352544"/>
            <a:ext cx="2094524" cy="1481328"/>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26" name="TextBox 25"/>
          <p:cNvSpPr txBox="1"/>
          <p:nvPr/>
        </p:nvSpPr>
        <p:spPr>
          <a:xfrm>
            <a:off x="5194889" y="4480560"/>
            <a:ext cx="1801916" cy="274320"/>
          </a:xfrm>
          <a:prstGeom prst="rect">
            <a:avLst/>
          </a:prstGeom>
          <a:noFill/>
        </p:spPr>
        <p:txBody>
          <a:bodyPr wrap="square" lIns="0" tIns="0" rIns="0" bIns="0" anchor="t">
            <a:spAutoFit/>
          </a:bodyPr>
          <a:lstStyle/>
          <a:p>
            <a:pPr algn="l">
              <a:lnSpc>
                <a:spcPct val="105000"/>
              </a:lnSpc>
            </a:pPr>
            <a:r>
              <a:rPr sz="1000" b="1" i="0">
                <a:solidFill>
                  <a:srgbClr val="0F172A"/>
                </a:solidFill>
                <a:latin typeface="Segoe UI"/>
              </a:rPr>
              <a:t>Both a question and a booking?</a:t>
            </a:r>
          </a:p>
        </p:txBody>
      </p:sp>
      <p:sp>
        <p:nvSpPr>
          <p:cNvPr id="27" name="TextBox 26"/>
          <p:cNvSpPr txBox="1"/>
          <p:nvPr/>
        </p:nvSpPr>
        <p:spPr>
          <a:xfrm>
            <a:off x="5194889" y="4864608"/>
            <a:ext cx="1801916" cy="896112"/>
          </a:xfrm>
          <a:prstGeom prst="rect">
            <a:avLst/>
          </a:prstGeom>
          <a:noFill/>
        </p:spPr>
        <p:txBody>
          <a:bodyPr wrap="square" lIns="0" tIns="0" rIns="0" bIns="0" anchor="t">
            <a:spAutoFit/>
          </a:bodyPr>
          <a:lstStyle/>
          <a:p>
            <a:pPr algn="l">
              <a:lnSpc>
                <a:spcPct val="110000"/>
              </a:lnSpc>
            </a:pPr>
            <a:r>
              <a:rPr sz="919" b="0" i="0" dirty="0">
                <a:solidFill>
                  <a:srgbClr val="64748B"/>
                </a:solidFill>
                <a:latin typeface="Segoe UI"/>
              </a:rPr>
              <a:t>Answer the question from the KB, then ask for the missing booking field</a:t>
            </a:r>
          </a:p>
        </p:txBody>
      </p:sp>
      <p:sp>
        <p:nvSpPr>
          <p:cNvPr id="28" name="Rounded Rectangle 27"/>
          <p:cNvSpPr/>
          <p:nvPr/>
        </p:nvSpPr>
        <p:spPr>
          <a:xfrm>
            <a:off x="7289413" y="4352544"/>
            <a:ext cx="2094524" cy="1481328"/>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29" name="TextBox 28"/>
          <p:cNvSpPr txBox="1"/>
          <p:nvPr/>
        </p:nvSpPr>
        <p:spPr>
          <a:xfrm>
            <a:off x="7435717" y="4480560"/>
            <a:ext cx="1801916" cy="274320"/>
          </a:xfrm>
          <a:prstGeom prst="rect">
            <a:avLst/>
          </a:prstGeom>
          <a:noFill/>
        </p:spPr>
        <p:txBody>
          <a:bodyPr wrap="square" lIns="0" tIns="0" rIns="0" bIns="0" anchor="t">
            <a:spAutoFit/>
          </a:bodyPr>
          <a:lstStyle/>
          <a:p>
            <a:pPr algn="l">
              <a:lnSpc>
                <a:spcPct val="105000"/>
              </a:lnSpc>
            </a:pPr>
            <a:r>
              <a:rPr sz="1000" b="1" i="0">
                <a:solidFill>
                  <a:srgbClr val="0F172A"/>
                </a:solidFill>
                <a:latin typeface="Segoe UI"/>
              </a:rPr>
              <a:t>Out of scope?</a:t>
            </a:r>
          </a:p>
        </p:txBody>
      </p:sp>
      <p:sp>
        <p:nvSpPr>
          <p:cNvPr id="30" name="TextBox 29"/>
          <p:cNvSpPr txBox="1"/>
          <p:nvPr/>
        </p:nvSpPr>
        <p:spPr>
          <a:xfrm>
            <a:off x="7435717" y="4864608"/>
            <a:ext cx="1801916" cy="896112"/>
          </a:xfrm>
          <a:prstGeom prst="rect">
            <a:avLst/>
          </a:prstGeom>
          <a:noFill/>
        </p:spPr>
        <p:txBody>
          <a:bodyPr wrap="square" lIns="0" tIns="0" rIns="0" bIns="0" anchor="t">
            <a:spAutoFit/>
          </a:bodyPr>
          <a:lstStyle/>
          <a:p>
            <a:pPr algn="l">
              <a:lnSpc>
                <a:spcPct val="110000"/>
              </a:lnSpc>
            </a:pPr>
            <a:r>
              <a:rPr sz="919" b="0" i="0" dirty="0">
                <a:solidFill>
                  <a:srgbClr val="64748B"/>
                </a:solidFill>
                <a:latin typeface="Segoe UI"/>
              </a:rPr>
              <a:t>Insurance, loan, parts sourcing, anything not about our workshop → polite decline</a:t>
            </a:r>
          </a:p>
        </p:txBody>
      </p:sp>
      <p:sp>
        <p:nvSpPr>
          <p:cNvPr id="31" name="Rounded Rectangle 30"/>
          <p:cNvSpPr/>
          <p:nvPr/>
        </p:nvSpPr>
        <p:spPr>
          <a:xfrm>
            <a:off x="9530242" y="4352544"/>
            <a:ext cx="2094524" cy="1481328"/>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2" name="TextBox 31"/>
          <p:cNvSpPr txBox="1"/>
          <p:nvPr/>
        </p:nvSpPr>
        <p:spPr>
          <a:xfrm>
            <a:off x="9676546" y="4480560"/>
            <a:ext cx="1801916" cy="274320"/>
          </a:xfrm>
          <a:prstGeom prst="rect">
            <a:avLst/>
          </a:prstGeom>
          <a:noFill/>
        </p:spPr>
        <p:txBody>
          <a:bodyPr wrap="square" lIns="0" tIns="0" rIns="0" bIns="0" anchor="t">
            <a:spAutoFit/>
          </a:bodyPr>
          <a:lstStyle/>
          <a:p>
            <a:pPr algn="l">
              <a:lnSpc>
                <a:spcPct val="105000"/>
              </a:lnSpc>
            </a:pPr>
            <a:r>
              <a:rPr sz="1000" b="1" i="0">
                <a:solidFill>
                  <a:srgbClr val="0F172A"/>
                </a:solidFill>
                <a:latin typeface="Segoe UI"/>
              </a:rPr>
              <a:t>No confidence?</a:t>
            </a:r>
          </a:p>
        </p:txBody>
      </p:sp>
      <p:sp>
        <p:nvSpPr>
          <p:cNvPr id="33" name="TextBox 32"/>
          <p:cNvSpPr txBox="1"/>
          <p:nvPr/>
        </p:nvSpPr>
        <p:spPr>
          <a:xfrm>
            <a:off x="9676546" y="4864608"/>
            <a:ext cx="1801916" cy="896112"/>
          </a:xfrm>
          <a:prstGeom prst="rect">
            <a:avLst/>
          </a:prstGeom>
          <a:noFill/>
        </p:spPr>
        <p:txBody>
          <a:bodyPr wrap="square" lIns="0" tIns="0" rIns="0" bIns="0" anchor="t">
            <a:spAutoFit/>
          </a:bodyPr>
          <a:lstStyle/>
          <a:p>
            <a:pPr algn="l">
              <a:lnSpc>
                <a:spcPct val="110000"/>
              </a:lnSpc>
            </a:pPr>
            <a:r>
              <a:rPr sz="919" b="0" i="0" dirty="0">
                <a:solidFill>
                  <a:srgbClr val="64748B"/>
                </a:solidFill>
                <a:latin typeface="Segoe UI"/>
              </a:rPr>
              <a:t>Low confidence falls back to </a:t>
            </a:r>
            <a:r>
              <a:rPr sz="919" b="0" i="0" dirty="0" err="1">
                <a:solidFill>
                  <a:srgbClr val="64748B"/>
                </a:solidFill>
                <a:latin typeface="Segoe UI"/>
              </a:rPr>
              <a:t>faq</a:t>
            </a:r>
            <a:r>
              <a:rPr sz="919" b="0" i="0" dirty="0">
                <a:solidFill>
                  <a:srgbClr val="64748B"/>
                </a:solidFill>
                <a:latin typeface="Segoe UI"/>
              </a:rPr>
              <a:t>, which can safely say “I don't have that”</a:t>
            </a:r>
          </a:p>
        </p:txBody>
      </p:sp>
      <p:sp>
        <p:nvSpPr>
          <p:cNvPr id="34" name="Rounded Rectangle 33"/>
          <p:cNvSpPr/>
          <p:nvPr/>
        </p:nvSpPr>
        <p:spPr>
          <a:xfrm>
            <a:off x="566928" y="6016752"/>
            <a:ext cx="11057839" cy="329184"/>
          </a:xfrm>
          <a:prstGeom prst="roundRect">
            <a:avLst>
              <a:gd name="adj" fmla="val 8000"/>
            </a:avLst>
          </a:prstGeom>
          <a:solidFill>
            <a:srgbClr val="EEE9F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5" name="TextBox 34"/>
          <p:cNvSpPr txBox="1"/>
          <p:nvPr/>
        </p:nvSpPr>
        <p:spPr>
          <a:xfrm>
            <a:off x="749808" y="6089904"/>
            <a:ext cx="10692079" cy="219456"/>
          </a:xfrm>
          <a:prstGeom prst="rect">
            <a:avLst/>
          </a:prstGeom>
          <a:noFill/>
        </p:spPr>
        <p:txBody>
          <a:bodyPr wrap="square" lIns="0" tIns="0" rIns="0" bIns="0" anchor="t">
            <a:spAutoFit/>
          </a:bodyPr>
          <a:lstStyle/>
          <a:p>
            <a:pPr algn="l">
              <a:lnSpc>
                <a:spcPct val="100000"/>
              </a:lnSpc>
            </a:pPr>
            <a:r>
              <a:rPr sz="1000" b="1" i="0" dirty="0">
                <a:solidFill>
                  <a:srgbClr val="334155"/>
                </a:solidFill>
                <a:latin typeface="Segoe UI"/>
              </a:rPr>
              <a:t>One model call, one label, one JSON object.</a:t>
            </a:r>
            <a:r>
              <a:rPr sz="1000" b="0" i="0" dirty="0">
                <a:solidFill>
                  <a:srgbClr val="334155"/>
                </a:solidFill>
                <a:latin typeface="Segoe UI"/>
              </a:rPr>
              <a:t> The prompt names the four routes; the code decides what a route means.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INTERACTION</a:t>
            </a:r>
          </a:p>
        </p:txBody>
      </p:sp>
      <p:sp>
        <p:nvSpPr>
          <p:cNvPr id="4" name="TextBox 3"/>
          <p:cNvSpPr txBox="1"/>
          <p:nvPr/>
        </p:nvSpPr>
        <p:spPr>
          <a:xfrm>
            <a:off x="566928" y="566928"/>
            <a:ext cx="11057839" cy="384721"/>
          </a:xfrm>
          <a:prstGeom prst="rect">
            <a:avLst/>
          </a:prstGeom>
          <a:noFill/>
        </p:spPr>
        <p:txBody>
          <a:bodyPr wrap="square" lIns="0" tIns="0" rIns="0" bIns="0" anchor="t">
            <a:spAutoFit/>
          </a:bodyPr>
          <a:lstStyle/>
          <a:p>
            <a:pPr algn="l">
              <a:lnSpc>
                <a:spcPct val="100000"/>
              </a:lnSpc>
            </a:pPr>
            <a:r>
              <a:rPr sz="2500" b="1" dirty="0">
                <a:solidFill>
                  <a:srgbClr val="0F172A"/>
                </a:solidFill>
                <a:latin typeface="Segoe UI"/>
              </a:rPr>
              <a:t>The FAQ path: look it up, answer, show the source</a:t>
            </a:r>
            <a:endParaRPr sz="2500" b="1" i="0" dirty="0">
              <a:solidFill>
                <a:srgbClr val="0F172A"/>
              </a:solidFill>
              <a:latin typeface="Segoe UI"/>
            </a:endParaRP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192360"/>
          </a:xfrm>
          <a:prstGeom prst="rect">
            <a:avLst/>
          </a:prstGeom>
          <a:noFill/>
        </p:spPr>
        <p:txBody>
          <a:bodyPr wrap="square" lIns="0" tIns="0" rIns="0" bIns="0" anchor="t">
            <a:spAutoFit/>
          </a:bodyPr>
          <a:lstStyle/>
          <a:p>
            <a:pPr algn="l">
              <a:lnSpc>
                <a:spcPct val="100000"/>
              </a:lnSpc>
            </a:pPr>
            <a:r>
              <a:rPr sz="1250" b="0">
                <a:solidFill>
                  <a:srgbClr val="64748B"/>
                </a:solidFill>
                <a:latin typeface="Segoe UI"/>
              </a:rPr>
              <a:t>The AI never answers from memory. It answers from one section of the FAQ handbook, or says it doesn’t know.</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6</a:t>
            </a:r>
          </a:p>
        </p:txBody>
      </p:sp>
      <p:sp>
        <p:nvSpPr>
          <p:cNvPr id="9" name="Rounded Rectangle 8"/>
          <p:cNvSpPr/>
          <p:nvPr/>
        </p:nvSpPr>
        <p:spPr>
          <a:xfrm>
            <a:off x="566928"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49224" y="1627632"/>
            <a:ext cx="1275588"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Question</a:t>
            </a:r>
          </a:p>
        </p:txBody>
      </p:sp>
      <p:sp>
        <p:nvSpPr>
          <p:cNvPr id="11" name="TextBox 10"/>
          <p:cNvSpPr txBox="1"/>
          <p:nvPr/>
        </p:nvSpPr>
        <p:spPr>
          <a:xfrm>
            <a:off x="649224" y="1837943"/>
            <a:ext cx="1275588" cy="621792"/>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the customer's message</a:t>
            </a:r>
          </a:p>
        </p:txBody>
      </p:sp>
      <p:cxnSp>
        <p:nvCxnSpPr>
          <p:cNvPr id="12" name="Connector 11"/>
          <p:cNvCxnSpPr/>
          <p:nvPr/>
        </p:nvCxnSpPr>
        <p:spPr>
          <a:xfrm>
            <a:off x="2020824" y="2048256"/>
            <a:ext cx="128015"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62556"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2244851" y="1627632"/>
            <a:ext cx="1275588" cy="201168"/>
          </a:xfrm>
          <a:prstGeom prst="rect">
            <a:avLst/>
          </a:prstGeom>
          <a:noFill/>
        </p:spPr>
        <p:txBody>
          <a:bodyPr wrap="square" lIns="0" tIns="0" rIns="0" bIns="0" anchor="t">
            <a:spAutoFit/>
          </a:bodyPr>
          <a:lstStyle/>
          <a:p>
            <a:pPr algn="l">
              <a:lnSpc>
                <a:spcPct val="100000"/>
              </a:lnSpc>
            </a:pPr>
            <a:r>
              <a:rPr sz="940" b="1">
                <a:solidFill>
                  <a:srgbClr val="475569"/>
                </a:solidFill>
                <a:latin typeface="Segoe UI"/>
              </a:rPr>
              <a:t>Split the handbook</a:t>
            </a:r>
          </a:p>
        </p:txBody>
      </p:sp>
      <p:sp>
        <p:nvSpPr>
          <p:cNvPr id="15" name="TextBox 14"/>
          <p:cNvSpPr txBox="1"/>
          <p:nvPr/>
        </p:nvSpPr>
        <p:spPr>
          <a:xfrm>
            <a:off x="2244851" y="1837943"/>
            <a:ext cx="1275588" cy="372090"/>
          </a:xfrm>
          <a:prstGeom prst="rect">
            <a:avLst/>
          </a:prstGeom>
          <a:noFill/>
        </p:spPr>
        <p:txBody>
          <a:bodyPr wrap="square" lIns="0" tIns="0" rIns="0" bIns="0" anchor="t">
            <a:spAutoFit/>
          </a:bodyPr>
          <a:lstStyle/>
          <a:p>
            <a:pPr algn="l">
              <a:lnSpc>
                <a:spcPct val="103000"/>
              </a:lnSpc>
            </a:pPr>
            <a:r>
              <a:rPr sz="800" b="0">
                <a:solidFill>
                  <a:srgbClr val="334155"/>
                </a:solidFill>
                <a:latin typeface="Segoe UI"/>
              </a:rPr>
              <a:t>the FAQ file is cut into 12 sections, one per topic heading</a:t>
            </a:r>
          </a:p>
        </p:txBody>
      </p:sp>
      <p:cxnSp>
        <p:nvCxnSpPr>
          <p:cNvPr id="16" name="Connector 15"/>
          <p:cNvCxnSpPr/>
          <p:nvPr/>
        </p:nvCxnSpPr>
        <p:spPr>
          <a:xfrm>
            <a:off x="3616451" y="2048256"/>
            <a:ext cx="128017"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58183"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840479" y="1627632"/>
            <a:ext cx="1275588" cy="201168"/>
          </a:xfrm>
          <a:prstGeom prst="rect">
            <a:avLst/>
          </a:prstGeom>
          <a:noFill/>
        </p:spPr>
        <p:txBody>
          <a:bodyPr wrap="square" lIns="0" tIns="0" rIns="0" bIns="0" anchor="t">
            <a:spAutoFit/>
          </a:bodyPr>
          <a:lstStyle/>
          <a:p>
            <a:pPr algn="l">
              <a:lnSpc>
                <a:spcPct val="100000"/>
              </a:lnSpc>
            </a:pPr>
            <a:r>
              <a:rPr sz="940" b="1">
                <a:solidFill>
                  <a:srgbClr val="475569"/>
                </a:solidFill>
                <a:latin typeface="Segoe UI"/>
              </a:rPr>
              <a:t>Find best match</a:t>
            </a:r>
          </a:p>
        </p:txBody>
      </p:sp>
      <p:sp>
        <p:nvSpPr>
          <p:cNvPr id="19" name="TextBox 18"/>
          <p:cNvSpPr txBox="1"/>
          <p:nvPr/>
        </p:nvSpPr>
        <p:spPr>
          <a:xfrm>
            <a:off x="3840479" y="1837943"/>
            <a:ext cx="1275588" cy="372090"/>
          </a:xfrm>
          <a:prstGeom prst="rect">
            <a:avLst/>
          </a:prstGeom>
          <a:noFill/>
        </p:spPr>
        <p:txBody>
          <a:bodyPr wrap="square" lIns="0" tIns="0" rIns="0" bIns="0" anchor="t">
            <a:spAutoFit/>
          </a:bodyPr>
          <a:lstStyle/>
          <a:p>
            <a:pPr algn="l">
              <a:lnSpc>
                <a:spcPct val="103000"/>
              </a:lnSpc>
            </a:pPr>
            <a:r>
              <a:rPr sz="800" b="0">
                <a:solidFill>
                  <a:srgbClr val="334155"/>
                </a:solidFill>
                <a:latin typeface="Segoe UI"/>
              </a:rPr>
              <a:t>keyword search, plus a list of words that mean the same</a:t>
            </a:r>
          </a:p>
        </p:txBody>
      </p:sp>
      <p:cxnSp>
        <p:nvCxnSpPr>
          <p:cNvPr id="20" name="Connector 19"/>
          <p:cNvCxnSpPr/>
          <p:nvPr/>
        </p:nvCxnSpPr>
        <p:spPr>
          <a:xfrm>
            <a:off x="5212079" y="2048256"/>
            <a:ext cx="128017"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353812" y="1572768"/>
            <a:ext cx="1440180" cy="950976"/>
          </a:xfrm>
          <a:prstGeom prst="roundRect">
            <a:avLst>
              <a:gd name="adj" fmla="val 6000"/>
            </a:avLst>
          </a:prstGeom>
          <a:solidFill>
            <a:srgbClr val="FDF0D9"/>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5436107" y="1627632"/>
            <a:ext cx="1275588" cy="144655"/>
          </a:xfrm>
          <a:prstGeom prst="rect">
            <a:avLst/>
          </a:prstGeom>
          <a:noFill/>
        </p:spPr>
        <p:txBody>
          <a:bodyPr wrap="square" lIns="0" tIns="0" rIns="0" bIns="0" anchor="t">
            <a:spAutoFit/>
          </a:bodyPr>
          <a:lstStyle/>
          <a:p>
            <a:pPr algn="l">
              <a:lnSpc>
                <a:spcPct val="100000"/>
              </a:lnSpc>
            </a:pPr>
            <a:r>
              <a:rPr lang="en-US" sz="940" b="1" dirty="0">
                <a:solidFill>
                  <a:srgbClr val="B45309"/>
                </a:solidFill>
                <a:latin typeface="Segoe UI"/>
              </a:rPr>
              <a:t>Confidence check</a:t>
            </a:r>
            <a:endParaRPr sz="940" b="1" i="0" dirty="0">
              <a:solidFill>
                <a:srgbClr val="B45309"/>
              </a:solidFill>
              <a:latin typeface="Segoe UI"/>
            </a:endParaRPr>
          </a:p>
        </p:txBody>
      </p:sp>
      <p:sp>
        <p:nvSpPr>
          <p:cNvPr id="23" name="TextBox 22"/>
          <p:cNvSpPr txBox="1"/>
          <p:nvPr/>
        </p:nvSpPr>
        <p:spPr>
          <a:xfrm>
            <a:off x="5436107" y="1837943"/>
            <a:ext cx="1275588" cy="245260"/>
          </a:xfrm>
          <a:prstGeom prst="rect">
            <a:avLst/>
          </a:prstGeom>
          <a:noFill/>
        </p:spPr>
        <p:txBody>
          <a:bodyPr wrap="square" lIns="0" tIns="0" rIns="0" bIns="0" anchor="t">
            <a:spAutoFit/>
          </a:bodyPr>
          <a:lstStyle/>
          <a:p>
            <a:pPr algn="l">
              <a:lnSpc>
                <a:spcPct val="103000"/>
              </a:lnSpc>
            </a:pPr>
            <a:r>
              <a:rPr sz="800" b="0">
                <a:solidFill>
                  <a:srgbClr val="334155"/>
                </a:solidFill>
                <a:latin typeface="Segoe UI"/>
              </a:rPr>
              <a:t>is the best match strong enough?</a:t>
            </a:r>
          </a:p>
        </p:txBody>
      </p:sp>
      <p:cxnSp>
        <p:nvCxnSpPr>
          <p:cNvPr id="24" name="Connector 23"/>
          <p:cNvCxnSpPr/>
          <p:nvPr/>
        </p:nvCxnSpPr>
        <p:spPr>
          <a:xfrm>
            <a:off x="6807707" y="2048256"/>
            <a:ext cx="128017"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949440"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031736" y="1627632"/>
            <a:ext cx="1275588" cy="201168"/>
          </a:xfrm>
          <a:prstGeom prst="rect">
            <a:avLst/>
          </a:prstGeom>
          <a:noFill/>
        </p:spPr>
        <p:txBody>
          <a:bodyPr wrap="square" lIns="0" tIns="0" rIns="0" bIns="0" anchor="t">
            <a:spAutoFit/>
          </a:bodyPr>
          <a:lstStyle/>
          <a:p>
            <a:pPr algn="l">
              <a:lnSpc>
                <a:spcPct val="100000"/>
              </a:lnSpc>
            </a:pPr>
            <a:r>
              <a:rPr sz="940" b="1">
                <a:solidFill>
                  <a:srgbClr val="475569"/>
                </a:solidFill>
                <a:latin typeface="Segoe UI"/>
              </a:rPr>
              <a:t>Prepare</a:t>
            </a:r>
          </a:p>
        </p:txBody>
      </p:sp>
      <p:sp>
        <p:nvSpPr>
          <p:cNvPr id="27" name="TextBox 26"/>
          <p:cNvSpPr txBox="1"/>
          <p:nvPr/>
        </p:nvSpPr>
        <p:spPr>
          <a:xfrm>
            <a:off x="7031736" y="1837943"/>
            <a:ext cx="1275588" cy="245260"/>
          </a:xfrm>
          <a:prstGeom prst="rect">
            <a:avLst/>
          </a:prstGeom>
          <a:noFill/>
        </p:spPr>
        <p:txBody>
          <a:bodyPr wrap="square" lIns="0" tIns="0" rIns="0" bIns="0" anchor="t">
            <a:spAutoFit/>
          </a:bodyPr>
          <a:lstStyle/>
          <a:p>
            <a:pPr algn="l">
              <a:lnSpc>
                <a:spcPct val="103000"/>
              </a:lnSpc>
            </a:pPr>
            <a:r>
              <a:rPr sz="800" b="0" dirty="0">
                <a:solidFill>
                  <a:srgbClr val="334155"/>
                </a:solidFill>
                <a:latin typeface="Segoe UI"/>
              </a:rPr>
              <a:t>the matching section, word for word</a:t>
            </a:r>
          </a:p>
        </p:txBody>
      </p:sp>
      <p:cxnSp>
        <p:nvCxnSpPr>
          <p:cNvPr id="28" name="Connector 27"/>
          <p:cNvCxnSpPr/>
          <p:nvPr/>
        </p:nvCxnSpPr>
        <p:spPr>
          <a:xfrm>
            <a:off x="8403336" y="2048256"/>
            <a:ext cx="128015"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545067" y="1572768"/>
            <a:ext cx="1440180" cy="950976"/>
          </a:xfrm>
          <a:prstGeom prst="roundRect">
            <a:avLst>
              <a:gd name="adj" fmla="val 6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8627363" y="1627632"/>
            <a:ext cx="1275588" cy="201168"/>
          </a:xfrm>
          <a:prstGeom prst="rect">
            <a:avLst/>
          </a:prstGeom>
          <a:noFill/>
        </p:spPr>
        <p:txBody>
          <a:bodyPr wrap="square" lIns="0" tIns="0" rIns="0" bIns="0" anchor="t">
            <a:spAutoFit/>
          </a:bodyPr>
          <a:lstStyle/>
          <a:p>
            <a:pPr algn="l">
              <a:lnSpc>
                <a:spcPct val="100000"/>
              </a:lnSpc>
            </a:pPr>
            <a:r>
              <a:rPr sz="940" b="1">
                <a:solidFill>
                  <a:srgbClr val="6D28D9"/>
                </a:solidFill>
                <a:latin typeface="Segoe UI"/>
              </a:rPr>
              <a:t>Answer  AI</a:t>
            </a:r>
          </a:p>
        </p:txBody>
      </p:sp>
      <p:sp>
        <p:nvSpPr>
          <p:cNvPr id="31" name="TextBox 30"/>
          <p:cNvSpPr txBox="1"/>
          <p:nvPr/>
        </p:nvSpPr>
        <p:spPr>
          <a:xfrm>
            <a:off x="8627363" y="1837943"/>
            <a:ext cx="1275588" cy="245260"/>
          </a:xfrm>
          <a:prstGeom prst="rect">
            <a:avLst/>
          </a:prstGeom>
          <a:noFill/>
        </p:spPr>
        <p:txBody>
          <a:bodyPr wrap="square" lIns="0" tIns="0" rIns="0" bIns="0" anchor="t">
            <a:spAutoFit/>
          </a:bodyPr>
          <a:lstStyle/>
          <a:p>
            <a:pPr algn="l">
              <a:lnSpc>
                <a:spcPct val="103000"/>
              </a:lnSpc>
            </a:pPr>
            <a:r>
              <a:rPr sz="800" b="0">
                <a:solidFill>
                  <a:srgbClr val="334155"/>
                </a:solidFill>
                <a:latin typeface="Segoe UI"/>
              </a:rPr>
              <a:t>one AI call, using only that section</a:t>
            </a:r>
          </a:p>
        </p:txBody>
      </p:sp>
      <p:cxnSp>
        <p:nvCxnSpPr>
          <p:cNvPr id="32" name="Connector 31"/>
          <p:cNvCxnSpPr/>
          <p:nvPr/>
        </p:nvCxnSpPr>
        <p:spPr>
          <a:xfrm>
            <a:off x="9998963" y="2048256"/>
            <a:ext cx="128016"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140695" y="1572768"/>
            <a:ext cx="1440180" cy="950976"/>
          </a:xfrm>
          <a:prstGeom prst="roundRect">
            <a:avLst>
              <a:gd name="adj" fmla="val 6000"/>
            </a:avLst>
          </a:prstGeom>
          <a:solidFill>
            <a:srgbClr val="D6F5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10222991" y="1627632"/>
            <a:ext cx="1275588" cy="201168"/>
          </a:xfrm>
          <a:prstGeom prst="rect">
            <a:avLst/>
          </a:prstGeom>
          <a:noFill/>
        </p:spPr>
        <p:txBody>
          <a:bodyPr wrap="square" lIns="0" tIns="0" rIns="0" bIns="0" anchor="t">
            <a:spAutoFit/>
          </a:bodyPr>
          <a:lstStyle/>
          <a:p>
            <a:pPr algn="l">
              <a:lnSpc>
                <a:spcPct val="100000"/>
              </a:lnSpc>
            </a:pPr>
            <a:r>
              <a:rPr sz="940" b="1" i="0">
                <a:solidFill>
                  <a:srgbClr val="0F766E"/>
                </a:solidFill>
                <a:latin typeface="Segoe UI"/>
              </a:rPr>
              <a:t>Cite</a:t>
            </a:r>
          </a:p>
        </p:txBody>
      </p:sp>
      <p:sp>
        <p:nvSpPr>
          <p:cNvPr id="35" name="TextBox 34"/>
          <p:cNvSpPr txBox="1"/>
          <p:nvPr/>
        </p:nvSpPr>
        <p:spPr>
          <a:xfrm>
            <a:off x="10222991" y="1837943"/>
            <a:ext cx="1275588" cy="118430"/>
          </a:xfrm>
          <a:prstGeom prst="rect">
            <a:avLst/>
          </a:prstGeom>
          <a:noFill/>
        </p:spPr>
        <p:txBody>
          <a:bodyPr wrap="square" lIns="0" tIns="0" rIns="0" bIns="0" anchor="t">
            <a:spAutoFit/>
          </a:bodyPr>
          <a:lstStyle/>
          <a:p>
            <a:pPr algn="l">
              <a:lnSpc>
                <a:spcPct val="103000"/>
              </a:lnSpc>
            </a:pPr>
            <a:r>
              <a:rPr sz="800" b="0">
                <a:solidFill>
                  <a:srgbClr val="334155"/>
                </a:solidFill>
                <a:latin typeface="Segoe UI"/>
              </a:rPr>
              <a:t>“Source: &lt;section name&gt;”</a:t>
            </a:r>
          </a:p>
        </p:txBody>
      </p:sp>
      <p:cxnSp>
        <p:nvCxnSpPr>
          <p:cNvPr id="36" name="Connector 35"/>
          <p:cNvCxnSpPr/>
          <p:nvPr/>
        </p:nvCxnSpPr>
        <p:spPr>
          <a:xfrm>
            <a:off x="6073901" y="2523744"/>
            <a:ext cx="0" cy="201168"/>
          </a:xfrm>
          <a:prstGeom prst="line">
            <a:avLst/>
          </a:prstGeom>
          <a:ln w="16510">
            <a:solidFill>
              <a:srgbClr val="B91C1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033772" y="2724912"/>
            <a:ext cx="2080260" cy="786384"/>
          </a:xfrm>
          <a:prstGeom prst="roundRect">
            <a:avLst>
              <a:gd name="adj" fmla="val 8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00" b="0">
                <a:solidFill>
                  <a:srgbClr val="B91C1C"/>
                </a:solidFill>
                <a:latin typeface="Segoe UI"/>
              </a:rPr>
              <a:t>Weak match → no answer. The bot says “I don’t have that information” and points to the service desk. </a:t>
            </a:r>
            <a:r>
              <a:rPr sz="900" b="1">
                <a:solidFill>
                  <a:srgbClr val="B91C1C"/>
                </a:solidFill>
                <a:latin typeface="Segoe UI"/>
              </a:rPr>
              <a:t>It never makes up a source.</a:t>
            </a:r>
          </a:p>
        </p:txBody>
      </p:sp>
      <p:sp>
        <p:nvSpPr>
          <p:cNvPr id="38" name="Rounded Rectangle 37"/>
          <p:cNvSpPr/>
          <p:nvPr/>
        </p:nvSpPr>
        <p:spPr>
          <a:xfrm>
            <a:off x="566928" y="3602736"/>
            <a:ext cx="5486400" cy="1792224"/>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9" name="TextBox 38"/>
          <p:cNvSpPr txBox="1"/>
          <p:nvPr/>
        </p:nvSpPr>
        <p:spPr>
          <a:xfrm>
            <a:off x="768096" y="3749039"/>
            <a:ext cx="5029200" cy="237744"/>
          </a:xfrm>
          <a:prstGeom prst="rect">
            <a:avLst/>
          </a:prstGeom>
          <a:noFill/>
        </p:spPr>
        <p:txBody>
          <a:bodyPr wrap="square" lIns="0" tIns="0" rIns="0" bIns="0" anchor="t">
            <a:spAutoFit/>
          </a:bodyPr>
          <a:lstStyle/>
          <a:p>
            <a:pPr algn="l">
              <a:lnSpc>
                <a:spcPct val="100000"/>
              </a:lnSpc>
            </a:pPr>
            <a:r>
              <a:rPr sz="980" b="1" i="0">
                <a:solidFill>
                  <a:srgbClr val="0F766E"/>
                </a:solidFill>
                <a:latin typeface="Segoe UI"/>
              </a:rPr>
              <a:t>WORKED EXAMPLE</a:t>
            </a:r>
          </a:p>
        </p:txBody>
      </p:sp>
      <p:sp>
        <p:nvSpPr>
          <p:cNvPr id="40" name="TextBox 39"/>
          <p:cNvSpPr txBox="1"/>
          <p:nvPr/>
        </p:nvSpPr>
        <p:spPr>
          <a:xfrm>
            <a:off x="768096" y="4023360"/>
            <a:ext cx="5084064" cy="935449"/>
          </a:xfrm>
          <a:prstGeom prst="rect">
            <a:avLst/>
          </a:prstGeom>
          <a:noFill/>
        </p:spPr>
        <p:txBody>
          <a:bodyPr wrap="square" lIns="0" tIns="0" rIns="0" bIns="0" anchor="t">
            <a:spAutoFit/>
          </a:bodyPr>
          <a:lstStyle/>
          <a:p>
            <a:pPr algn="l">
              <a:lnSpc>
                <a:spcPct val="124000"/>
              </a:lnSpc>
            </a:pPr>
            <a:r>
              <a:rPr sz="1000" b="0" dirty="0">
                <a:solidFill>
                  <a:srgbClr val="334155"/>
                </a:solidFill>
                <a:latin typeface="Segoe UI"/>
              </a:rPr>
              <a:t>“How much does a </a:t>
            </a:r>
            <a:r>
              <a:rPr sz="1000" b="1" dirty="0">
                <a:solidFill>
                  <a:srgbClr val="334155"/>
                </a:solidFill>
                <a:latin typeface="Segoe UI"/>
              </a:rPr>
              <a:t>maintenance</a:t>
            </a:r>
            <a:r>
              <a:rPr sz="1000" b="0" dirty="0">
                <a:solidFill>
                  <a:srgbClr val="334155"/>
                </a:solidFill>
                <a:latin typeface="Segoe UI"/>
              </a:rPr>
              <a:t> cost?”</a:t>
            </a:r>
            <a:br>
              <a:rPr sz="1000" dirty="0">
                <a:solidFill>
                  <a:srgbClr val="334155"/>
                </a:solidFill>
                <a:latin typeface="Segoe UI"/>
              </a:rPr>
            </a:br>
            <a:r>
              <a:rPr sz="1000" b="0" dirty="0">
                <a:solidFill>
                  <a:srgbClr val="334155"/>
                </a:solidFill>
                <a:latin typeface="Segoe UI"/>
              </a:rPr>
              <a:t>→ the bot swaps </a:t>
            </a:r>
            <a:r>
              <a:rPr sz="1000" b="0" i="1" dirty="0">
                <a:solidFill>
                  <a:srgbClr val="334155"/>
                </a:solidFill>
                <a:latin typeface="Segoe UI"/>
              </a:rPr>
              <a:t>maintenance</a:t>
            </a:r>
            <a:r>
              <a:rPr sz="1000" b="0" dirty="0">
                <a:solidFill>
                  <a:srgbClr val="334155"/>
                </a:solidFill>
                <a:latin typeface="Segoe UI"/>
              </a:rPr>
              <a:t> for the handbook’s word, </a:t>
            </a:r>
            <a:r>
              <a:rPr sz="1000" b="0" i="1" dirty="0">
                <a:solidFill>
                  <a:srgbClr val="334155"/>
                </a:solidFill>
                <a:latin typeface="Segoe UI"/>
              </a:rPr>
              <a:t>servicing</a:t>
            </a:r>
            <a:br>
              <a:rPr sz="1000" dirty="0">
                <a:solidFill>
                  <a:srgbClr val="334155"/>
                </a:solidFill>
                <a:latin typeface="Segoe UI"/>
              </a:rPr>
            </a:br>
            <a:r>
              <a:rPr sz="1000" b="0" dirty="0">
                <a:solidFill>
                  <a:srgbClr val="334155"/>
                </a:solidFill>
                <a:latin typeface="Segoe UI"/>
              </a:rPr>
              <a:t>→ the best match is </a:t>
            </a:r>
            <a:r>
              <a:rPr sz="1000" b="1" dirty="0">
                <a:solidFill>
                  <a:srgbClr val="334155"/>
                </a:solidFill>
                <a:latin typeface="Segoe UI"/>
              </a:rPr>
              <a:t>Servicing packages</a:t>
            </a:r>
            <a:br>
              <a:rPr sz="1000" dirty="0">
                <a:solidFill>
                  <a:srgbClr val="334155"/>
                </a:solidFill>
                <a:latin typeface="Segoe UI"/>
              </a:rPr>
            </a:br>
            <a:r>
              <a:rPr sz="1000" b="0" dirty="0">
                <a:solidFill>
                  <a:srgbClr val="334155"/>
                </a:solidFill>
                <a:latin typeface="Segoe UI"/>
              </a:rPr>
              <a:t>→ the answer quotes SGD 128 / SGD 268 from that section</a:t>
            </a:r>
            <a:br>
              <a:rPr sz="1000" dirty="0">
                <a:solidFill>
                  <a:srgbClr val="334155"/>
                </a:solidFill>
                <a:latin typeface="Segoe UI"/>
              </a:rPr>
            </a:br>
            <a:r>
              <a:rPr sz="1000" b="0" dirty="0">
                <a:solidFill>
                  <a:srgbClr val="334155"/>
                </a:solidFill>
                <a:latin typeface="Segoe UI"/>
              </a:rPr>
              <a:t>→ the reply ends “Source: Servicing packages”</a:t>
            </a:r>
          </a:p>
        </p:txBody>
      </p:sp>
      <p:sp>
        <p:nvSpPr>
          <p:cNvPr id="41" name="Rounded Rectangle 40"/>
          <p:cNvSpPr/>
          <p:nvPr/>
        </p:nvSpPr>
        <p:spPr>
          <a:xfrm>
            <a:off x="6446520" y="3602736"/>
            <a:ext cx="5175504" cy="1792224"/>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2" name="TextBox 41"/>
          <p:cNvSpPr txBox="1"/>
          <p:nvPr/>
        </p:nvSpPr>
        <p:spPr>
          <a:xfrm>
            <a:off x="6647688" y="3749039"/>
            <a:ext cx="4754880" cy="237744"/>
          </a:xfrm>
          <a:prstGeom prst="rect">
            <a:avLst/>
          </a:prstGeom>
          <a:noFill/>
        </p:spPr>
        <p:txBody>
          <a:bodyPr wrap="square" lIns="0" tIns="0" rIns="0" bIns="0" anchor="t">
            <a:spAutoFit/>
          </a:bodyPr>
          <a:lstStyle/>
          <a:p>
            <a:pPr algn="l">
              <a:lnSpc>
                <a:spcPct val="100000"/>
              </a:lnSpc>
            </a:pPr>
            <a:r>
              <a:rPr sz="980" b="1">
                <a:solidFill>
                  <a:srgbClr val="B45309"/>
                </a:solidFill>
                <a:latin typeface="Segoe UI"/>
              </a:rPr>
              <a:t>WHAT THE SYSTEM MUST GET RIGHT</a:t>
            </a:r>
          </a:p>
        </p:txBody>
      </p:sp>
      <p:sp>
        <p:nvSpPr>
          <p:cNvPr id="43" name="TextBox 42"/>
          <p:cNvSpPr txBox="1"/>
          <p:nvPr/>
        </p:nvSpPr>
        <p:spPr>
          <a:xfrm>
            <a:off x="6647688" y="4023360"/>
            <a:ext cx="4791456" cy="957763"/>
          </a:xfrm>
          <a:prstGeom prst="rect">
            <a:avLst/>
          </a:prstGeom>
          <a:noFill/>
        </p:spPr>
        <p:txBody>
          <a:bodyPr wrap="square" lIns="0" tIns="0" rIns="0" bIns="0">
            <a:spAutoFit/>
          </a:bodyPr>
          <a:lstStyle/>
          <a:p>
            <a:pPr>
              <a:lnSpc>
                <a:spcPct val="106000"/>
              </a:lnSpc>
              <a:spcAft>
                <a:spcPts val="600"/>
              </a:spcAft>
            </a:pPr>
            <a:r>
              <a:rPr sz="1000" b="1">
                <a:solidFill>
                  <a:srgbClr val="B45309"/>
                </a:solidFill>
                <a:latin typeface="Segoe UI"/>
              </a:rPr>
              <a:t>▪  Same meaning, different words</a:t>
            </a:r>
            <a:r>
              <a:rPr sz="1000" b="0">
                <a:solidFill>
                  <a:srgbClr val="B45309"/>
                </a:solidFill>
                <a:latin typeface="Segoe UI"/>
              </a:rPr>
              <a:t>: the handbook says </a:t>
            </a:r>
            <a:r>
              <a:rPr sz="1000" b="0" i="1">
                <a:solidFill>
                  <a:srgbClr val="B45309"/>
                </a:solidFill>
                <a:latin typeface="Segoe UI"/>
              </a:rPr>
              <a:t>servicing</a:t>
            </a:r>
            <a:r>
              <a:rPr sz="1000" b="0">
                <a:solidFill>
                  <a:srgbClr val="B45309"/>
                </a:solidFill>
                <a:latin typeface="Segoe UI"/>
              </a:rPr>
              <a:t>, the customer says </a:t>
            </a:r>
            <a:r>
              <a:rPr sz="1000" b="0" i="1">
                <a:solidFill>
                  <a:srgbClr val="B45309"/>
                </a:solidFill>
                <a:latin typeface="Segoe UI"/>
              </a:rPr>
              <a:t>maintenance</a:t>
            </a:r>
          </a:p>
          <a:p>
            <a:pPr>
              <a:lnSpc>
                <a:spcPct val="106000"/>
              </a:lnSpc>
              <a:spcAft>
                <a:spcPts val="600"/>
              </a:spcAft>
            </a:pPr>
            <a:r>
              <a:rPr sz="1000" b="1">
                <a:solidFill>
                  <a:srgbClr val="B45309"/>
                </a:solidFill>
                <a:latin typeface="Segoe UI"/>
              </a:rPr>
              <a:t>▪  Know when to stop</a:t>
            </a:r>
            <a:r>
              <a:rPr sz="1000" b="0">
                <a:solidFill>
                  <a:srgbClr val="B45309"/>
                </a:solidFill>
                <a:latin typeface="Segoe UI"/>
              </a:rPr>
              <a:t>: a question with no good match gets an honest “I don’t know”</a:t>
            </a:r>
          </a:p>
          <a:p>
            <a:pPr>
              <a:lnSpc>
                <a:spcPct val="106000"/>
              </a:lnSpc>
              <a:spcAft>
                <a:spcPts val="600"/>
              </a:spcAft>
            </a:pPr>
            <a:r>
              <a:rPr sz="1000" b="1">
                <a:solidFill>
                  <a:srgbClr val="B45309"/>
                </a:solidFill>
                <a:latin typeface="Segoe UI"/>
              </a:rPr>
              <a:t>▪  Accurate sources</a:t>
            </a:r>
            <a:r>
              <a:rPr sz="1000" b="0">
                <a:solidFill>
                  <a:srgbClr val="B45309"/>
                </a:solidFill>
                <a:latin typeface="Segoe UI"/>
              </a:rPr>
              <a:t>: the section name is added automatically, so it always matches the text used</a:t>
            </a:r>
          </a:p>
        </p:txBody>
      </p:sp>
      <p:sp>
        <p:nvSpPr>
          <p:cNvPr id="44" name="Rounded Rectangle 43"/>
          <p:cNvSpPr/>
          <p:nvPr/>
        </p:nvSpPr>
        <p:spPr>
          <a:xfrm>
            <a:off x="566928" y="5559552"/>
            <a:ext cx="11057839" cy="786384"/>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5" name="TextBox 44"/>
          <p:cNvSpPr txBox="1"/>
          <p:nvPr/>
        </p:nvSpPr>
        <p:spPr>
          <a:xfrm>
            <a:off x="786384" y="5669280"/>
            <a:ext cx="5120640" cy="237744"/>
          </a:xfrm>
          <a:prstGeom prst="rect">
            <a:avLst/>
          </a:prstGeom>
          <a:noFill/>
        </p:spPr>
        <p:txBody>
          <a:bodyPr wrap="square" lIns="0" tIns="0" rIns="0" bIns="0" anchor="t">
            <a:spAutoFit/>
          </a:bodyPr>
          <a:lstStyle/>
          <a:p>
            <a:pPr algn="l">
              <a:lnSpc>
                <a:spcPct val="100000"/>
              </a:lnSpc>
            </a:pPr>
            <a:r>
              <a:rPr sz="960" b="1">
                <a:solidFill>
                  <a:srgbClr val="6D28D9"/>
                </a:solidFill>
                <a:latin typeface="Segoe UI"/>
              </a:rPr>
              <a:t>THE INSTRUCTION GIVEN TO THE AI</a:t>
            </a:r>
          </a:p>
        </p:txBody>
      </p:sp>
      <p:sp>
        <p:nvSpPr>
          <p:cNvPr id="46" name="TextBox 45"/>
          <p:cNvSpPr txBox="1"/>
          <p:nvPr/>
        </p:nvSpPr>
        <p:spPr>
          <a:xfrm>
            <a:off x="786384" y="5907024"/>
            <a:ext cx="10618927" cy="365760"/>
          </a:xfrm>
          <a:prstGeom prst="rect">
            <a:avLst/>
          </a:prstGeom>
          <a:noFill/>
        </p:spPr>
        <p:txBody>
          <a:bodyPr wrap="square" lIns="0" tIns="0" rIns="0" bIns="0" anchor="t">
            <a:spAutoFit/>
          </a:bodyPr>
          <a:lstStyle/>
          <a:p>
            <a:pPr algn="l">
              <a:lnSpc>
                <a:spcPct val="110000"/>
              </a:lnSpc>
            </a:pPr>
            <a:r>
              <a:rPr sz="1000" b="0" i="0">
                <a:solidFill>
                  <a:srgbClr val="334155"/>
                </a:solidFill>
                <a:latin typeface="Segoe UI"/>
              </a:rPr>
              <a:t>“Answer </a:t>
            </a:r>
            <a:r>
              <a:rPr sz="1000" b="1" i="0">
                <a:solidFill>
                  <a:srgbClr val="334155"/>
                </a:solidFill>
                <a:latin typeface="Segoe UI"/>
              </a:rPr>
              <a:t>only</a:t>
            </a:r>
            <a:r>
              <a:rPr sz="1000" b="0" i="0">
                <a:solidFill>
                  <a:srgbClr val="334155"/>
                </a:solidFill>
                <a:latin typeface="Segoe UI"/>
              </a:rPr>
              <a:t> from the section below. If the section does not contain the answer, say so. Do not use any other knowledge. Section: &lt;retrieved text&gt;”</a:t>
            </a:r>
          </a:p>
        </p:txBody>
      </p:sp>
    </p:spTree>
    <p:extLst>
      <p:ext uri="{BB962C8B-B14F-4D97-AF65-F5344CB8AC3E}">
        <p14:creationId xmlns:p14="http://schemas.microsoft.com/office/powerpoint/2010/main" val="30737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INTERACTION</a:t>
            </a:r>
          </a:p>
        </p:txBody>
      </p:sp>
      <p:sp>
        <p:nvSpPr>
          <p:cNvPr id="4" name="TextBox 3"/>
          <p:cNvSpPr txBox="1"/>
          <p:nvPr/>
        </p:nvSpPr>
        <p:spPr>
          <a:xfrm>
            <a:off x="566928" y="566928"/>
            <a:ext cx="11057839" cy="384721"/>
          </a:xfrm>
          <a:prstGeom prst="rect">
            <a:avLst/>
          </a:prstGeom>
          <a:noFill/>
        </p:spPr>
        <p:txBody>
          <a:bodyPr wrap="square" lIns="0" tIns="0" rIns="0" bIns="0" anchor="t">
            <a:spAutoFit/>
          </a:bodyPr>
          <a:lstStyle/>
          <a:p>
            <a:pPr algn="l">
              <a:lnSpc>
                <a:spcPct val="100000"/>
              </a:lnSpc>
            </a:pPr>
            <a:r>
              <a:rPr sz="2500" b="1" i="0" dirty="0">
                <a:solidFill>
                  <a:srgbClr val="0F172A"/>
                </a:solidFill>
                <a:latin typeface="Segoe UI"/>
              </a:rPr>
              <a:t>The FAQ path: </a:t>
            </a:r>
            <a:r>
              <a:rPr lang="en-US" sz="2500" b="1" i="0" dirty="0" err="1">
                <a:solidFill>
                  <a:srgbClr val="0F172A"/>
                </a:solidFill>
                <a:latin typeface="Segoe UI"/>
              </a:rPr>
              <a:t>GraphRAG</a:t>
            </a:r>
            <a:r>
              <a:rPr lang="en-US" sz="2500" b="1" i="0" dirty="0">
                <a:solidFill>
                  <a:srgbClr val="0F172A"/>
                </a:solidFill>
                <a:latin typeface="Segoe UI"/>
              </a:rPr>
              <a:t> </a:t>
            </a:r>
            <a:r>
              <a:rPr sz="2500" b="1" i="0" dirty="0">
                <a:solidFill>
                  <a:srgbClr val="0F172A"/>
                </a:solidFill>
                <a:latin typeface="Segoe UI"/>
              </a:rPr>
              <a:t>for broad questions (sidebar toggle)</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19236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A knowledge map (GraphRAG) answers broad questions plain search can’t, still refuses when unsure, and falls back to keyword search.</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7</a:t>
            </a:r>
          </a:p>
        </p:txBody>
      </p:sp>
      <p:sp>
        <p:nvSpPr>
          <p:cNvPr id="9" name="Rounded Rectangle 8"/>
          <p:cNvSpPr/>
          <p:nvPr/>
        </p:nvSpPr>
        <p:spPr>
          <a:xfrm>
            <a:off x="566928"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49224" y="1627632"/>
            <a:ext cx="1275588"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Question</a:t>
            </a:r>
          </a:p>
        </p:txBody>
      </p:sp>
      <p:sp>
        <p:nvSpPr>
          <p:cNvPr id="11" name="TextBox 10"/>
          <p:cNvSpPr txBox="1"/>
          <p:nvPr/>
        </p:nvSpPr>
        <p:spPr>
          <a:xfrm>
            <a:off x="649224" y="1837943"/>
            <a:ext cx="1275588" cy="621792"/>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“summarise all your policies”</a:t>
            </a:r>
          </a:p>
        </p:txBody>
      </p:sp>
      <p:cxnSp>
        <p:nvCxnSpPr>
          <p:cNvPr id="12" name="Connector 11"/>
          <p:cNvCxnSpPr/>
          <p:nvPr/>
        </p:nvCxnSpPr>
        <p:spPr>
          <a:xfrm>
            <a:off x="2020824" y="2048256"/>
            <a:ext cx="128015"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62556"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2244851" y="1627632"/>
            <a:ext cx="1275588"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Classify</a:t>
            </a:r>
          </a:p>
        </p:txBody>
      </p:sp>
      <p:sp>
        <p:nvSpPr>
          <p:cNvPr id="15" name="TextBox 14"/>
          <p:cNvSpPr txBox="1"/>
          <p:nvPr/>
        </p:nvSpPr>
        <p:spPr>
          <a:xfrm>
            <a:off x="2244851" y="1837943"/>
            <a:ext cx="1275588" cy="372090"/>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simple rules decide: broad or specific question, no AI needed</a:t>
            </a:r>
          </a:p>
        </p:txBody>
      </p:sp>
      <p:cxnSp>
        <p:nvCxnSpPr>
          <p:cNvPr id="16" name="Connector 15"/>
          <p:cNvCxnSpPr/>
          <p:nvPr/>
        </p:nvCxnSpPr>
        <p:spPr>
          <a:xfrm>
            <a:off x="3616451" y="2048256"/>
            <a:ext cx="128017"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58183"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840479" y="1627632"/>
            <a:ext cx="1275588"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Look up</a:t>
            </a:r>
          </a:p>
        </p:txBody>
      </p:sp>
      <p:sp>
        <p:nvSpPr>
          <p:cNvPr id="19" name="TextBox 18"/>
          <p:cNvSpPr txBox="1"/>
          <p:nvPr/>
        </p:nvSpPr>
        <p:spPr>
          <a:xfrm>
            <a:off x="3840479" y="1837943"/>
            <a:ext cx="1275588" cy="372090"/>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related facts, or topic summaries for broad questions</a:t>
            </a:r>
          </a:p>
        </p:txBody>
      </p:sp>
      <p:cxnSp>
        <p:nvCxnSpPr>
          <p:cNvPr id="20" name="Connector 19"/>
          <p:cNvCxnSpPr/>
          <p:nvPr/>
        </p:nvCxnSpPr>
        <p:spPr>
          <a:xfrm>
            <a:off x="5212079" y="2048256"/>
            <a:ext cx="128017"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353812" y="1572768"/>
            <a:ext cx="1440180" cy="950976"/>
          </a:xfrm>
          <a:prstGeom prst="roundRect">
            <a:avLst>
              <a:gd name="adj" fmla="val 6000"/>
            </a:avLst>
          </a:prstGeom>
          <a:solidFill>
            <a:srgbClr val="FDF0D9"/>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5436107" y="1627632"/>
            <a:ext cx="1275588" cy="201168"/>
          </a:xfrm>
          <a:prstGeom prst="rect">
            <a:avLst/>
          </a:prstGeom>
          <a:noFill/>
        </p:spPr>
        <p:txBody>
          <a:bodyPr wrap="square" lIns="0" tIns="0" rIns="0" bIns="0" anchor="t">
            <a:spAutoFit/>
          </a:bodyPr>
          <a:lstStyle/>
          <a:p>
            <a:pPr algn="l">
              <a:lnSpc>
                <a:spcPct val="100000"/>
              </a:lnSpc>
            </a:pPr>
            <a:r>
              <a:rPr sz="940" b="1" i="0">
                <a:solidFill>
                  <a:srgbClr val="B45309"/>
                </a:solidFill>
                <a:latin typeface="Segoe UI"/>
              </a:rPr>
              <a:t>Confidence check</a:t>
            </a:r>
          </a:p>
        </p:txBody>
      </p:sp>
      <p:sp>
        <p:nvSpPr>
          <p:cNvPr id="23" name="TextBox 22"/>
          <p:cNvSpPr txBox="1"/>
          <p:nvPr/>
        </p:nvSpPr>
        <p:spPr>
          <a:xfrm>
            <a:off x="5436107" y="1837943"/>
            <a:ext cx="1275588" cy="245260"/>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is the match strong enough, or broad enough?</a:t>
            </a:r>
          </a:p>
        </p:txBody>
      </p:sp>
      <p:cxnSp>
        <p:nvCxnSpPr>
          <p:cNvPr id="24" name="Connector 23"/>
          <p:cNvCxnSpPr/>
          <p:nvPr/>
        </p:nvCxnSpPr>
        <p:spPr>
          <a:xfrm>
            <a:off x="6807707" y="2048256"/>
            <a:ext cx="128017"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949440" y="1572768"/>
            <a:ext cx="1440180" cy="950976"/>
          </a:xfrm>
          <a:prstGeom prst="roundRect">
            <a:avLst>
              <a:gd name="adj" fmla="val 6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031736" y="1627632"/>
            <a:ext cx="1275588" cy="201168"/>
          </a:xfrm>
          <a:prstGeom prst="rect">
            <a:avLst/>
          </a:prstGeom>
          <a:noFill/>
        </p:spPr>
        <p:txBody>
          <a:bodyPr wrap="square" lIns="0" tIns="0" rIns="0" bIns="0" anchor="t">
            <a:spAutoFit/>
          </a:bodyPr>
          <a:lstStyle/>
          <a:p>
            <a:pPr algn="l">
              <a:lnSpc>
                <a:spcPct val="100000"/>
              </a:lnSpc>
            </a:pPr>
            <a:r>
              <a:rPr sz="940" b="1" i="0">
                <a:solidFill>
                  <a:srgbClr val="475569"/>
                </a:solidFill>
                <a:latin typeface="Segoe UI"/>
              </a:rPr>
              <a:t>Prepare</a:t>
            </a:r>
          </a:p>
        </p:txBody>
      </p:sp>
      <p:sp>
        <p:nvSpPr>
          <p:cNvPr id="27" name="TextBox 26"/>
          <p:cNvSpPr txBox="1"/>
          <p:nvPr/>
        </p:nvSpPr>
        <p:spPr>
          <a:xfrm>
            <a:off x="7031736" y="1837943"/>
            <a:ext cx="1275588" cy="245260"/>
          </a:xfrm>
          <a:prstGeom prst="rect">
            <a:avLst/>
          </a:prstGeom>
          <a:noFill/>
        </p:spPr>
        <p:txBody>
          <a:bodyPr wrap="square" lIns="0" tIns="0" rIns="0" bIns="0" anchor="t">
            <a:spAutoFit/>
          </a:bodyPr>
          <a:lstStyle/>
          <a:p>
            <a:pPr algn="l">
              <a:lnSpc>
                <a:spcPct val="103000"/>
              </a:lnSpc>
            </a:pPr>
            <a:r>
              <a:rPr sz="800" b="0" i="0" dirty="0">
                <a:solidFill>
                  <a:srgbClr val="334155"/>
                </a:solidFill>
                <a:latin typeface="Segoe UI"/>
              </a:rPr>
              <a:t>verified facts only, exact wording kept</a:t>
            </a:r>
          </a:p>
        </p:txBody>
      </p:sp>
      <p:cxnSp>
        <p:nvCxnSpPr>
          <p:cNvPr id="28" name="Connector 27"/>
          <p:cNvCxnSpPr/>
          <p:nvPr/>
        </p:nvCxnSpPr>
        <p:spPr>
          <a:xfrm>
            <a:off x="8403336" y="2048256"/>
            <a:ext cx="128015"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545067" y="1572768"/>
            <a:ext cx="1440180" cy="950976"/>
          </a:xfrm>
          <a:prstGeom prst="roundRect">
            <a:avLst>
              <a:gd name="adj" fmla="val 6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8627363" y="1627632"/>
            <a:ext cx="1275588" cy="201168"/>
          </a:xfrm>
          <a:prstGeom prst="rect">
            <a:avLst/>
          </a:prstGeom>
          <a:noFill/>
        </p:spPr>
        <p:txBody>
          <a:bodyPr wrap="square" lIns="0" tIns="0" rIns="0" bIns="0" anchor="t">
            <a:spAutoFit/>
          </a:bodyPr>
          <a:lstStyle/>
          <a:p>
            <a:pPr algn="l">
              <a:lnSpc>
                <a:spcPct val="100000"/>
              </a:lnSpc>
            </a:pPr>
            <a:r>
              <a:rPr sz="940" b="1" i="0">
                <a:solidFill>
                  <a:srgbClr val="6D28D9"/>
                </a:solidFill>
                <a:latin typeface="Segoe UI"/>
              </a:rPr>
              <a:t>Answer  AI</a:t>
            </a:r>
          </a:p>
        </p:txBody>
      </p:sp>
      <p:sp>
        <p:nvSpPr>
          <p:cNvPr id="31" name="TextBox 30"/>
          <p:cNvSpPr txBox="1"/>
          <p:nvPr/>
        </p:nvSpPr>
        <p:spPr>
          <a:xfrm>
            <a:off x="8627363" y="1837943"/>
            <a:ext cx="1275588" cy="245260"/>
          </a:xfrm>
          <a:prstGeom prst="rect">
            <a:avLst/>
          </a:prstGeom>
          <a:noFill/>
        </p:spPr>
        <p:txBody>
          <a:bodyPr wrap="square" lIns="0" tIns="0" rIns="0" bIns="0" anchor="t">
            <a:spAutoFit/>
          </a:bodyPr>
          <a:lstStyle/>
          <a:p>
            <a:pPr algn="l">
              <a:lnSpc>
                <a:spcPct val="103000"/>
              </a:lnSpc>
            </a:pPr>
            <a:r>
              <a:rPr sz="800" b="0" i="0" dirty="0">
                <a:solidFill>
                  <a:srgbClr val="334155"/>
                </a:solidFill>
                <a:latin typeface="Segoe UI"/>
              </a:rPr>
              <a:t>one AI call writes the reply from those facts</a:t>
            </a:r>
          </a:p>
        </p:txBody>
      </p:sp>
      <p:cxnSp>
        <p:nvCxnSpPr>
          <p:cNvPr id="32" name="Connector 31"/>
          <p:cNvCxnSpPr/>
          <p:nvPr/>
        </p:nvCxnSpPr>
        <p:spPr>
          <a:xfrm>
            <a:off x="9998963" y="2048256"/>
            <a:ext cx="128016"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140695" y="1572768"/>
            <a:ext cx="1440180" cy="950976"/>
          </a:xfrm>
          <a:prstGeom prst="roundRect">
            <a:avLst>
              <a:gd name="adj" fmla="val 6000"/>
            </a:avLst>
          </a:prstGeom>
          <a:solidFill>
            <a:srgbClr val="D6F5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10222991" y="1627632"/>
            <a:ext cx="1275588" cy="201168"/>
          </a:xfrm>
          <a:prstGeom prst="rect">
            <a:avLst/>
          </a:prstGeom>
          <a:noFill/>
        </p:spPr>
        <p:txBody>
          <a:bodyPr wrap="square" lIns="0" tIns="0" rIns="0" bIns="0" anchor="t">
            <a:spAutoFit/>
          </a:bodyPr>
          <a:lstStyle/>
          <a:p>
            <a:pPr algn="l">
              <a:lnSpc>
                <a:spcPct val="100000"/>
              </a:lnSpc>
            </a:pPr>
            <a:r>
              <a:rPr sz="940" b="1" i="0">
                <a:solidFill>
                  <a:srgbClr val="0F766E"/>
                </a:solidFill>
                <a:latin typeface="Segoe UI"/>
              </a:rPr>
              <a:t>Cite</a:t>
            </a:r>
          </a:p>
        </p:txBody>
      </p:sp>
      <p:sp>
        <p:nvSpPr>
          <p:cNvPr id="35" name="TextBox 34"/>
          <p:cNvSpPr txBox="1"/>
          <p:nvPr/>
        </p:nvSpPr>
        <p:spPr>
          <a:xfrm>
            <a:off x="10222991" y="1837943"/>
            <a:ext cx="1275588" cy="372090"/>
          </a:xfrm>
          <a:prstGeom prst="rect">
            <a:avLst/>
          </a:prstGeom>
          <a:noFill/>
        </p:spPr>
        <p:txBody>
          <a:bodyPr wrap="square" lIns="0" tIns="0" rIns="0" bIns="0" anchor="t">
            <a:spAutoFit/>
          </a:bodyPr>
          <a:lstStyle/>
          <a:p>
            <a:pPr algn="l">
              <a:lnSpc>
                <a:spcPct val="103000"/>
              </a:lnSpc>
            </a:pPr>
            <a:r>
              <a:rPr sz="800" b="0" i="0">
                <a:solidFill>
                  <a:srgbClr val="334155"/>
                </a:solidFill>
                <a:latin typeface="Segoe UI"/>
              </a:rPr>
              <a:t>shows the source section(s); all of them for broad questions</a:t>
            </a:r>
          </a:p>
        </p:txBody>
      </p:sp>
      <p:cxnSp>
        <p:nvCxnSpPr>
          <p:cNvPr id="36" name="Connector 35"/>
          <p:cNvCxnSpPr/>
          <p:nvPr/>
        </p:nvCxnSpPr>
        <p:spPr>
          <a:xfrm>
            <a:off x="6073901" y="2523744"/>
            <a:ext cx="0" cy="201168"/>
          </a:xfrm>
          <a:prstGeom prst="line">
            <a:avLst/>
          </a:prstGeom>
          <a:ln w="16510">
            <a:solidFill>
              <a:srgbClr val="B91C1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033772" y="2724912"/>
            <a:ext cx="2080260" cy="786384"/>
          </a:xfrm>
          <a:prstGeom prst="roundRect">
            <a:avLst>
              <a:gd name="adj" fmla="val 8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lnSpc>
                <a:spcPct val="100000"/>
              </a:lnSpc>
              <a:spcBef>
                <a:spcPts val="0"/>
              </a:spcBef>
              <a:spcAft>
                <a:spcPts val="0"/>
              </a:spcAft>
            </a:pPr>
            <a:r>
              <a:rPr sz="900" b="0" i="0">
                <a:solidFill>
                  <a:srgbClr val="B91C1C"/>
                </a:solidFill>
                <a:latin typeface="Segoe UI"/>
              </a:rPr>
              <a:t>Weak match → try keyword search. Still nothing → the bot says it doesn’t know rather than guess.</a:t>
            </a:r>
          </a:p>
        </p:txBody>
      </p:sp>
      <p:sp>
        <p:nvSpPr>
          <p:cNvPr id="38" name="Rounded Rectangle 37"/>
          <p:cNvSpPr/>
          <p:nvPr/>
        </p:nvSpPr>
        <p:spPr>
          <a:xfrm>
            <a:off x="566928" y="3602736"/>
            <a:ext cx="5486400" cy="1792224"/>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9" name="TextBox 38"/>
          <p:cNvSpPr txBox="1"/>
          <p:nvPr/>
        </p:nvSpPr>
        <p:spPr>
          <a:xfrm>
            <a:off x="768096" y="3749039"/>
            <a:ext cx="5029200" cy="237744"/>
          </a:xfrm>
          <a:prstGeom prst="rect">
            <a:avLst/>
          </a:prstGeom>
          <a:noFill/>
        </p:spPr>
        <p:txBody>
          <a:bodyPr wrap="square" lIns="0" tIns="0" rIns="0" bIns="0" anchor="t">
            <a:spAutoFit/>
          </a:bodyPr>
          <a:lstStyle/>
          <a:p>
            <a:pPr algn="l">
              <a:lnSpc>
                <a:spcPct val="100000"/>
              </a:lnSpc>
            </a:pPr>
            <a:r>
              <a:rPr sz="980" b="1" i="0">
                <a:solidFill>
                  <a:srgbClr val="0F766E"/>
                </a:solidFill>
                <a:latin typeface="Segoe UI"/>
              </a:rPr>
              <a:t>WORKED EXAMPLE</a:t>
            </a:r>
          </a:p>
        </p:txBody>
      </p:sp>
      <p:sp>
        <p:nvSpPr>
          <p:cNvPr id="40" name="TextBox 39"/>
          <p:cNvSpPr txBox="1"/>
          <p:nvPr/>
        </p:nvSpPr>
        <p:spPr>
          <a:xfrm>
            <a:off x="768096" y="4023360"/>
            <a:ext cx="5084064" cy="935449"/>
          </a:xfrm>
          <a:prstGeom prst="rect">
            <a:avLst/>
          </a:prstGeom>
          <a:noFill/>
        </p:spPr>
        <p:txBody>
          <a:bodyPr wrap="square" lIns="0" tIns="0" rIns="0" bIns="0" anchor="t">
            <a:spAutoFit/>
          </a:bodyPr>
          <a:lstStyle/>
          <a:p>
            <a:pPr algn="l">
              <a:lnSpc>
                <a:spcPct val="124000"/>
              </a:lnSpc>
            </a:pPr>
            <a:r>
              <a:rPr sz="1000" b="0" i="0" dirty="0">
                <a:solidFill>
                  <a:srgbClr val="334155"/>
                </a:solidFill>
                <a:latin typeface="Segoe UI"/>
              </a:rPr>
              <a:t>“Summarise all your policies and rules for customers?”</a:t>
            </a:r>
          </a:p>
          <a:p>
            <a:pPr algn="l">
              <a:lnSpc>
                <a:spcPct val="124000"/>
              </a:lnSpc>
            </a:pPr>
            <a:r>
              <a:rPr sz="1000" b="0" i="0" dirty="0">
                <a:solidFill>
                  <a:srgbClr val="334155"/>
                </a:solidFill>
                <a:latin typeface="Segoe UI"/>
              </a:rPr>
              <a:t>→ flagged as broad: asks for “all”, names no single topic</a:t>
            </a:r>
          </a:p>
          <a:p>
            <a:pPr algn="l">
              <a:lnSpc>
                <a:spcPct val="124000"/>
              </a:lnSpc>
            </a:pPr>
            <a:r>
              <a:rPr sz="1000" b="0" i="0" dirty="0">
                <a:solidFill>
                  <a:srgbClr val="334155"/>
                </a:solidFill>
                <a:latin typeface="Segoe UI"/>
              </a:rPr>
              <a:t>→ finds 8 topic summaries across 7 handbook sections</a:t>
            </a:r>
          </a:p>
          <a:p>
            <a:pPr algn="l">
              <a:lnSpc>
                <a:spcPct val="124000"/>
              </a:lnSpc>
            </a:pPr>
            <a:r>
              <a:rPr sz="1000" b="0" i="0" dirty="0">
                <a:solidFill>
                  <a:srgbClr val="334155"/>
                </a:solidFill>
                <a:latin typeface="Segoe UI"/>
              </a:rPr>
              <a:t>→ answer covers warranty, invoicing and servicing</a:t>
            </a:r>
          </a:p>
          <a:p>
            <a:pPr algn="l">
              <a:lnSpc>
                <a:spcPct val="124000"/>
              </a:lnSpc>
            </a:pPr>
            <a:r>
              <a:rPr sz="1000" b="0" i="0" dirty="0">
                <a:solidFill>
                  <a:srgbClr val="334155"/>
                </a:solidFill>
                <a:latin typeface="Segoe UI"/>
              </a:rPr>
              <a:t>→ ends “Source: Warranty; Payment methods; …”</a:t>
            </a:r>
          </a:p>
        </p:txBody>
      </p:sp>
      <p:sp>
        <p:nvSpPr>
          <p:cNvPr id="41" name="Rounded Rectangle 40"/>
          <p:cNvSpPr/>
          <p:nvPr/>
        </p:nvSpPr>
        <p:spPr>
          <a:xfrm>
            <a:off x="6446520" y="3602736"/>
            <a:ext cx="5175504" cy="1792224"/>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2" name="TextBox 41"/>
          <p:cNvSpPr txBox="1"/>
          <p:nvPr/>
        </p:nvSpPr>
        <p:spPr>
          <a:xfrm>
            <a:off x="6647688" y="3749039"/>
            <a:ext cx="4754880" cy="237744"/>
          </a:xfrm>
          <a:prstGeom prst="rect">
            <a:avLst/>
          </a:prstGeom>
          <a:noFill/>
        </p:spPr>
        <p:txBody>
          <a:bodyPr wrap="square" lIns="0" tIns="0" rIns="0" bIns="0" anchor="t">
            <a:spAutoFit/>
          </a:bodyPr>
          <a:lstStyle/>
          <a:p>
            <a:pPr algn="l">
              <a:lnSpc>
                <a:spcPct val="100000"/>
              </a:lnSpc>
            </a:pPr>
            <a:r>
              <a:rPr sz="980" b="1" i="0">
                <a:solidFill>
                  <a:srgbClr val="B45309"/>
                </a:solidFill>
                <a:latin typeface="Segoe UI"/>
              </a:rPr>
              <a:t>WHAT THE SYSTEM MUST GET RIGHT</a:t>
            </a:r>
          </a:p>
        </p:txBody>
      </p:sp>
      <p:sp>
        <p:nvSpPr>
          <p:cNvPr id="43" name="TextBox 42"/>
          <p:cNvSpPr txBox="1"/>
          <p:nvPr/>
        </p:nvSpPr>
        <p:spPr>
          <a:xfrm>
            <a:off x="6647688" y="4023360"/>
            <a:ext cx="4791456" cy="794641"/>
          </a:xfrm>
          <a:prstGeom prst="rect">
            <a:avLst/>
          </a:prstGeom>
          <a:noFill/>
        </p:spPr>
        <p:txBody>
          <a:bodyPr wrap="square" lIns="0" tIns="0" rIns="0" bIns="0">
            <a:spAutoFit/>
          </a:bodyPr>
          <a:lstStyle/>
          <a:p>
            <a:pPr>
              <a:lnSpc>
                <a:spcPct val="106000"/>
              </a:lnSpc>
              <a:spcAft>
                <a:spcPts val="600"/>
              </a:spcAft>
            </a:pPr>
            <a:r>
              <a:rPr sz="1000" b="1" dirty="0">
                <a:solidFill>
                  <a:srgbClr val="B45309"/>
                </a:solidFill>
                <a:latin typeface="Segoe UI"/>
              </a:rPr>
              <a:t>▪  Broad vs specific: only questions flagged as broad can pass on breadth</a:t>
            </a:r>
          </a:p>
          <a:p>
            <a:pPr>
              <a:lnSpc>
                <a:spcPct val="106000"/>
              </a:lnSpc>
              <a:spcAft>
                <a:spcPts val="600"/>
              </a:spcAft>
            </a:pPr>
            <a:r>
              <a:rPr sz="1000" b="1" dirty="0">
                <a:solidFill>
                  <a:srgbClr val="B45309"/>
                </a:solidFill>
                <a:latin typeface="Segoe UI"/>
              </a:rPr>
              <a:t>▪  Still says “I don’t know”: off-topic asks (e.g. COE, insurance) are refused</a:t>
            </a:r>
          </a:p>
          <a:p>
            <a:pPr>
              <a:lnSpc>
                <a:spcPct val="106000"/>
              </a:lnSpc>
              <a:spcAft>
                <a:spcPts val="600"/>
              </a:spcAft>
            </a:pPr>
            <a:r>
              <a:rPr sz="1000" b="1" dirty="0">
                <a:solidFill>
                  <a:srgbClr val="B45309"/>
                </a:solidFill>
                <a:latin typeface="Segoe UI"/>
              </a:rPr>
              <a:t>▪  Tested, not assumed: right answer first 78% of the time, refuses 100% when it should, covers 6.3 sections vs 3.7 with plain search</a:t>
            </a:r>
          </a:p>
        </p:txBody>
      </p:sp>
      <p:sp>
        <p:nvSpPr>
          <p:cNvPr id="44" name="Rounded Rectangle 43"/>
          <p:cNvSpPr/>
          <p:nvPr/>
        </p:nvSpPr>
        <p:spPr>
          <a:xfrm>
            <a:off x="566928" y="5559552"/>
            <a:ext cx="11057839" cy="786384"/>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5" name="TextBox 44"/>
          <p:cNvSpPr txBox="1"/>
          <p:nvPr/>
        </p:nvSpPr>
        <p:spPr>
          <a:xfrm>
            <a:off x="786384" y="5669280"/>
            <a:ext cx="5120640" cy="237744"/>
          </a:xfrm>
          <a:prstGeom prst="rect">
            <a:avLst/>
          </a:prstGeom>
          <a:noFill/>
        </p:spPr>
        <p:txBody>
          <a:bodyPr wrap="square" lIns="0" tIns="0" rIns="0" bIns="0" anchor="t">
            <a:spAutoFit/>
          </a:bodyPr>
          <a:lstStyle/>
          <a:p>
            <a:pPr algn="l">
              <a:lnSpc>
                <a:spcPct val="100000"/>
              </a:lnSpc>
            </a:pPr>
            <a:r>
              <a:rPr sz="960" b="1" i="0">
                <a:solidFill>
                  <a:srgbClr val="6D28D9"/>
                </a:solidFill>
                <a:latin typeface="Segoe UI"/>
              </a:rPr>
              <a:t>WHEN THE BOT ANSWERS VS. SAYS “I DON’T KNOW”</a:t>
            </a:r>
          </a:p>
        </p:txBody>
      </p:sp>
      <p:sp>
        <p:nvSpPr>
          <p:cNvPr id="46" name="TextBox 45"/>
          <p:cNvSpPr txBox="1"/>
          <p:nvPr/>
        </p:nvSpPr>
        <p:spPr>
          <a:xfrm>
            <a:off x="786384" y="5907024"/>
            <a:ext cx="10618927" cy="325282"/>
          </a:xfrm>
          <a:prstGeom prst="rect">
            <a:avLst/>
          </a:prstGeom>
          <a:noFill/>
        </p:spPr>
        <p:txBody>
          <a:bodyPr wrap="square" lIns="0" tIns="0" rIns="0" bIns="0" anchor="t">
            <a:spAutoFit/>
          </a:bodyPr>
          <a:lstStyle/>
          <a:p>
            <a:pPr algn="l">
              <a:lnSpc>
                <a:spcPct val="110000"/>
              </a:lnSpc>
            </a:pPr>
            <a:r>
              <a:rPr sz="1000" b="0" i="0">
                <a:solidFill>
                  <a:srgbClr val="334155"/>
                </a:solidFill>
                <a:latin typeface="Segoe UI"/>
              </a:rPr>
              <a:t>A specific question gets an answer only if its best match scores at least 0.35 (out of 1). A broad question can pass instead by drawing on 3+ topics across 4+ handbook sections. A weak match never gets through.</a:t>
            </a:r>
          </a:p>
        </p:txBody>
      </p:sp>
    </p:spTree>
    <p:extLst>
      <p:ext uri="{BB962C8B-B14F-4D97-AF65-F5344CB8AC3E}">
        <p14:creationId xmlns:p14="http://schemas.microsoft.com/office/powerpoint/2010/main" val="3839195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INTERACTION</a:t>
            </a:r>
          </a:p>
        </p:txBody>
      </p:sp>
      <p:sp>
        <p:nvSpPr>
          <p:cNvPr id="4" name="TextBox 3"/>
          <p:cNvSpPr txBox="1"/>
          <p:nvPr/>
        </p:nvSpPr>
        <p:spPr>
          <a:xfrm>
            <a:off x="566928" y="566928"/>
            <a:ext cx="11057839" cy="384721"/>
          </a:xfrm>
          <a:prstGeom prst="rect">
            <a:avLst/>
          </a:prstGeom>
          <a:noFill/>
        </p:spPr>
        <p:txBody>
          <a:bodyPr wrap="square" lIns="0" tIns="0" rIns="0" bIns="0" anchor="t">
            <a:spAutoFit/>
          </a:bodyPr>
          <a:lstStyle/>
          <a:p>
            <a:pPr algn="l">
              <a:lnSpc>
                <a:spcPct val="100000"/>
              </a:lnSpc>
            </a:pPr>
            <a:r>
              <a:rPr sz="2500" b="1" i="0" dirty="0">
                <a:solidFill>
                  <a:srgbClr val="0F172A"/>
                </a:solidFill>
                <a:latin typeface="Segoe UI"/>
              </a:rPr>
              <a:t>The booking path — </a:t>
            </a:r>
            <a:r>
              <a:rPr lang="en-US" sz="2500" b="1" i="0" dirty="0">
                <a:solidFill>
                  <a:srgbClr val="0F172A"/>
                </a:solidFill>
                <a:latin typeface="Segoe UI"/>
              </a:rPr>
              <a:t>10</a:t>
            </a:r>
            <a:r>
              <a:rPr sz="2500" b="1" i="0" dirty="0">
                <a:solidFill>
                  <a:srgbClr val="0F172A"/>
                </a:solidFill>
                <a:latin typeface="Segoe UI"/>
              </a:rPr>
              <a:t> states, code-driven</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The model may extract a value. It never decides whether a booking is valid, and it never writes a row.</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8</a:t>
            </a:r>
          </a:p>
        </p:txBody>
      </p:sp>
      <p:sp>
        <p:nvSpPr>
          <p:cNvPr id="9" name="Rounded Rectangle 8"/>
          <p:cNvSpPr/>
          <p:nvPr/>
        </p:nvSpPr>
        <p:spPr>
          <a:xfrm>
            <a:off x="566928" y="1572768"/>
            <a:ext cx="1051560" cy="475488"/>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service</a:t>
            </a:r>
          </a:p>
        </p:txBody>
      </p:sp>
      <p:cxnSp>
        <p:nvCxnSpPr>
          <p:cNvPr id="10" name="Connector 9"/>
          <p:cNvCxnSpPr/>
          <p:nvPr/>
        </p:nvCxnSpPr>
        <p:spPr>
          <a:xfrm>
            <a:off x="1623060" y="1810512"/>
            <a:ext cx="51206"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678838" y="1572768"/>
            <a:ext cx="1051560" cy="475488"/>
          </a:xfrm>
          <a:prstGeom prst="roundRect">
            <a:avLst>
              <a:gd name="adj" fmla="val 1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vehicle_plate</a:t>
            </a:r>
          </a:p>
        </p:txBody>
      </p:sp>
      <p:cxnSp>
        <p:nvCxnSpPr>
          <p:cNvPr id="12" name="Connector 11"/>
          <p:cNvCxnSpPr/>
          <p:nvPr/>
        </p:nvCxnSpPr>
        <p:spPr>
          <a:xfrm>
            <a:off x="2734970" y="1810512"/>
            <a:ext cx="51206"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90748" y="1572768"/>
            <a:ext cx="1051560" cy="475488"/>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date</a:t>
            </a:r>
          </a:p>
        </p:txBody>
      </p:sp>
      <p:cxnSp>
        <p:nvCxnSpPr>
          <p:cNvPr id="14" name="Connector 13"/>
          <p:cNvCxnSpPr/>
          <p:nvPr/>
        </p:nvCxnSpPr>
        <p:spPr>
          <a:xfrm>
            <a:off x="3846880" y="1810512"/>
            <a:ext cx="51207"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02659" y="1572768"/>
            <a:ext cx="1051560" cy="475488"/>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time_slot</a:t>
            </a:r>
          </a:p>
        </p:txBody>
      </p:sp>
      <p:cxnSp>
        <p:nvCxnSpPr>
          <p:cNvPr id="16" name="Connector 15"/>
          <p:cNvCxnSpPr/>
          <p:nvPr/>
        </p:nvCxnSpPr>
        <p:spPr>
          <a:xfrm>
            <a:off x="4958791" y="1810512"/>
            <a:ext cx="51206"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14569" y="1572768"/>
            <a:ext cx="1051560" cy="475488"/>
          </a:xfrm>
          <a:prstGeom prst="roundRect">
            <a:avLst>
              <a:gd name="adj" fmla="val 1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name</a:t>
            </a:r>
          </a:p>
        </p:txBody>
      </p:sp>
      <p:cxnSp>
        <p:nvCxnSpPr>
          <p:cNvPr id="18" name="Connector 17"/>
          <p:cNvCxnSpPr/>
          <p:nvPr/>
        </p:nvCxnSpPr>
        <p:spPr>
          <a:xfrm>
            <a:off x="6070701" y="1810512"/>
            <a:ext cx="51207"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572768"/>
            <a:ext cx="1051560" cy="475488"/>
          </a:xfrm>
          <a:prstGeom prst="roundRect">
            <a:avLst>
              <a:gd name="adj" fmla="val 1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mobile</a:t>
            </a:r>
          </a:p>
        </p:txBody>
      </p:sp>
      <p:cxnSp>
        <p:nvCxnSpPr>
          <p:cNvPr id="20" name="Connector 19"/>
          <p:cNvCxnSpPr/>
          <p:nvPr/>
        </p:nvCxnSpPr>
        <p:spPr>
          <a:xfrm>
            <a:off x="7182612" y="1810512"/>
            <a:ext cx="51206"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238390" y="1572768"/>
            <a:ext cx="1051560" cy="475488"/>
          </a:xfrm>
          <a:prstGeom prst="roundRect">
            <a:avLst>
              <a:gd name="adj" fmla="val 1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email</a:t>
            </a:r>
          </a:p>
        </p:txBody>
      </p:sp>
      <p:cxnSp>
        <p:nvCxnSpPr>
          <p:cNvPr id="22" name="Connector 21"/>
          <p:cNvCxnSpPr/>
          <p:nvPr/>
        </p:nvCxnSpPr>
        <p:spPr>
          <a:xfrm>
            <a:off x="8294522" y="1810512"/>
            <a:ext cx="51206"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350300" y="1572768"/>
            <a:ext cx="1051560" cy="475488"/>
          </a:xfrm>
          <a:prstGeom prst="roundRect">
            <a:avLst>
              <a:gd name="adj" fmla="val 12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consent</a:t>
            </a:r>
          </a:p>
        </p:txBody>
      </p:sp>
      <p:cxnSp>
        <p:nvCxnSpPr>
          <p:cNvPr id="24" name="Connector 23"/>
          <p:cNvCxnSpPr/>
          <p:nvPr/>
        </p:nvCxnSpPr>
        <p:spPr>
          <a:xfrm>
            <a:off x="9406432" y="1810512"/>
            <a:ext cx="51207"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62211" y="1572768"/>
            <a:ext cx="1051560" cy="475488"/>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confirm</a:t>
            </a:r>
          </a:p>
        </p:txBody>
      </p:sp>
      <p:cxnSp>
        <p:nvCxnSpPr>
          <p:cNvPr id="26" name="Connector 25"/>
          <p:cNvCxnSpPr/>
          <p:nvPr/>
        </p:nvCxnSpPr>
        <p:spPr>
          <a:xfrm>
            <a:off x="10518343" y="1810512"/>
            <a:ext cx="51206"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574121" y="1572768"/>
            <a:ext cx="1051560" cy="475488"/>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done</a:t>
            </a:r>
          </a:p>
        </p:txBody>
      </p:sp>
      <p:sp>
        <p:nvSpPr>
          <p:cNvPr id="28" name="Rounded Rectangle 27"/>
          <p:cNvSpPr/>
          <p:nvPr/>
        </p:nvSpPr>
        <p:spPr>
          <a:xfrm>
            <a:off x="566928" y="2194560"/>
            <a:ext cx="1165860" cy="201168"/>
          </a:xfrm>
          <a:prstGeom prst="roundRect">
            <a:avLst>
              <a:gd name="adj" fmla="val 35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personal data</a:t>
            </a:r>
          </a:p>
        </p:txBody>
      </p:sp>
      <p:sp>
        <p:nvSpPr>
          <p:cNvPr id="29" name="Rounded Rectangle 28"/>
          <p:cNvSpPr/>
          <p:nvPr/>
        </p:nvSpPr>
        <p:spPr>
          <a:xfrm>
            <a:off x="1842516" y="2194560"/>
            <a:ext cx="754380" cy="201168"/>
          </a:xfrm>
          <a:prstGeom prst="roundRect">
            <a:avLst>
              <a:gd name="adj" fmla="val 3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consent</a:t>
            </a:r>
          </a:p>
        </p:txBody>
      </p:sp>
      <p:sp>
        <p:nvSpPr>
          <p:cNvPr id="30" name="Rounded Rectangle 29"/>
          <p:cNvSpPr/>
          <p:nvPr/>
        </p:nvSpPr>
        <p:spPr>
          <a:xfrm>
            <a:off x="2706624" y="2194560"/>
            <a:ext cx="1028700" cy="201168"/>
          </a:xfrm>
          <a:prstGeom prst="roundRect">
            <a:avLst>
              <a:gd name="adj" fmla="val 35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860" b="1" i="0">
                <a:solidFill>
                  <a:srgbClr val="FFFFFF"/>
                </a:solidFill>
                <a:latin typeface="Segoe UI"/>
              </a:rPr>
              <a:t>other steps</a:t>
            </a:r>
          </a:p>
        </p:txBody>
      </p:sp>
      <p:sp>
        <p:nvSpPr>
          <p:cNvPr id="31" name="TextBox 30"/>
          <p:cNvSpPr txBox="1"/>
          <p:nvPr/>
        </p:nvSpPr>
        <p:spPr>
          <a:xfrm>
            <a:off x="4773168" y="2194560"/>
            <a:ext cx="3657600" cy="219456"/>
          </a:xfrm>
          <a:prstGeom prst="rect">
            <a:avLst/>
          </a:prstGeom>
          <a:noFill/>
        </p:spPr>
        <p:txBody>
          <a:bodyPr wrap="square" lIns="0" tIns="0" rIns="0" bIns="0" anchor="t">
            <a:spAutoFit/>
          </a:bodyPr>
          <a:lstStyle/>
          <a:p>
            <a:pPr algn="l">
              <a:lnSpc>
                <a:spcPct val="100000"/>
              </a:lnSpc>
            </a:pPr>
            <a:r>
              <a:rPr sz="880" b="0" i="0">
                <a:solidFill>
                  <a:srgbClr val="64748B"/>
                </a:solidFill>
                <a:latin typeface="Segoe UI"/>
              </a:rPr>
              <a:t>model-assisted: service · date · time_slot</a:t>
            </a:r>
          </a:p>
        </p:txBody>
      </p:sp>
      <p:sp>
        <p:nvSpPr>
          <p:cNvPr id="32" name="TextBox 31"/>
          <p:cNvSpPr txBox="1"/>
          <p:nvPr/>
        </p:nvSpPr>
        <p:spPr>
          <a:xfrm>
            <a:off x="566928" y="2615184"/>
            <a:ext cx="11057839" cy="237744"/>
          </a:xfrm>
          <a:prstGeom prst="rect">
            <a:avLst/>
          </a:prstGeom>
          <a:noFill/>
        </p:spPr>
        <p:txBody>
          <a:bodyPr wrap="square" lIns="0" tIns="0" rIns="0" bIns="0" anchor="t">
            <a:spAutoFit/>
          </a:bodyPr>
          <a:lstStyle/>
          <a:p>
            <a:pPr algn="l">
              <a:lnSpc>
                <a:spcPct val="100000"/>
              </a:lnSpc>
            </a:pPr>
            <a:r>
              <a:rPr sz="960" b="1" i="0">
                <a:solidFill>
                  <a:srgbClr val="64748B"/>
                </a:solidFill>
                <a:latin typeface="Segoe UI"/>
              </a:rPr>
              <a:t>THE THREE MODEL-ASSISTED STEPS — WHAT THE MODEL RETURNS AND WHAT CODE CHECKS</a:t>
            </a:r>
          </a:p>
        </p:txBody>
      </p:sp>
      <p:sp>
        <p:nvSpPr>
          <p:cNvPr id="33" name="Rounded Rectangle 32"/>
          <p:cNvSpPr/>
          <p:nvPr/>
        </p:nvSpPr>
        <p:spPr>
          <a:xfrm>
            <a:off x="566928" y="2907792"/>
            <a:ext cx="3576218" cy="1207008"/>
          </a:xfrm>
          <a:prstGeom prst="roundRect">
            <a:avLst>
              <a:gd name="adj" fmla="val 8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4" name="TextBox 33"/>
          <p:cNvSpPr txBox="1"/>
          <p:nvPr/>
        </p:nvSpPr>
        <p:spPr>
          <a:xfrm>
            <a:off x="713232" y="3017520"/>
            <a:ext cx="3283610" cy="237744"/>
          </a:xfrm>
          <a:prstGeom prst="rect">
            <a:avLst/>
          </a:prstGeom>
          <a:noFill/>
        </p:spPr>
        <p:txBody>
          <a:bodyPr wrap="square" lIns="0" tIns="0" rIns="0" bIns="0" anchor="t">
            <a:spAutoFit/>
          </a:bodyPr>
          <a:lstStyle/>
          <a:p>
            <a:pPr algn="l">
              <a:lnSpc>
                <a:spcPct val="100000"/>
              </a:lnSpc>
            </a:pPr>
            <a:r>
              <a:rPr sz="1040" b="1" i="0">
                <a:solidFill>
                  <a:srgbClr val="6D28D9"/>
                </a:solidFill>
                <a:latin typeface="Segoe UI"/>
              </a:rPr>
              <a:t>service</a:t>
            </a:r>
          </a:p>
        </p:txBody>
      </p:sp>
      <p:sp>
        <p:nvSpPr>
          <p:cNvPr id="35" name="TextBox 34"/>
          <p:cNvSpPr txBox="1"/>
          <p:nvPr/>
        </p:nvSpPr>
        <p:spPr>
          <a:xfrm>
            <a:off x="713232" y="3273552"/>
            <a:ext cx="3283610" cy="219456"/>
          </a:xfrm>
          <a:prstGeom prst="rect">
            <a:avLst/>
          </a:prstGeom>
          <a:noFill/>
        </p:spPr>
        <p:txBody>
          <a:bodyPr wrap="square" lIns="0" tIns="0" rIns="0" bIns="0" anchor="t">
            <a:spAutoFit/>
          </a:bodyPr>
          <a:lstStyle/>
          <a:p>
            <a:pPr algn="l">
              <a:lnSpc>
                <a:spcPct val="100000"/>
              </a:lnSpc>
            </a:pPr>
            <a:r>
              <a:rPr sz="840" b="1" i="0">
                <a:solidFill>
                  <a:srgbClr val="64748B"/>
                </a:solidFill>
                <a:latin typeface="Segoe UI"/>
              </a:rPr>
              <a:t>model returns</a:t>
            </a:r>
          </a:p>
        </p:txBody>
      </p:sp>
      <p:sp>
        <p:nvSpPr>
          <p:cNvPr id="36" name="TextBox 35"/>
          <p:cNvSpPr txBox="1"/>
          <p:nvPr/>
        </p:nvSpPr>
        <p:spPr>
          <a:xfrm>
            <a:off x="713232" y="3456432"/>
            <a:ext cx="3283610" cy="219456"/>
          </a:xfrm>
          <a:prstGeom prst="rect">
            <a:avLst/>
          </a:prstGeom>
          <a:noFill/>
        </p:spPr>
        <p:txBody>
          <a:bodyPr wrap="square" lIns="0" tIns="0" rIns="0" bIns="0" anchor="t">
            <a:spAutoFit/>
          </a:bodyPr>
          <a:lstStyle/>
          <a:p>
            <a:pPr algn="l">
              <a:lnSpc>
                <a:spcPct val="100000"/>
              </a:lnSpc>
            </a:pPr>
            <a:r>
              <a:rPr sz="893" b="0" i="0">
                <a:solidFill>
                  <a:srgbClr val="0F172A"/>
                </a:solidFill>
                <a:latin typeface="Consolas"/>
              </a:rPr>
              <a:t>“basic servicing” → SVC-BASIC</a:t>
            </a:r>
          </a:p>
        </p:txBody>
      </p:sp>
      <p:sp>
        <p:nvSpPr>
          <p:cNvPr id="37" name="TextBox 36"/>
          <p:cNvSpPr txBox="1"/>
          <p:nvPr/>
        </p:nvSpPr>
        <p:spPr>
          <a:xfrm>
            <a:off x="713232" y="3694176"/>
            <a:ext cx="3283610" cy="219456"/>
          </a:xfrm>
          <a:prstGeom prst="rect">
            <a:avLst/>
          </a:prstGeom>
          <a:noFill/>
        </p:spPr>
        <p:txBody>
          <a:bodyPr wrap="square" lIns="0" tIns="0" rIns="0" bIns="0" anchor="t">
            <a:spAutoFit/>
          </a:bodyPr>
          <a:lstStyle/>
          <a:p>
            <a:pPr algn="l">
              <a:lnSpc>
                <a:spcPct val="100000"/>
              </a:lnSpc>
            </a:pPr>
            <a:r>
              <a:rPr sz="840" b="1" i="0">
                <a:solidFill>
                  <a:srgbClr val="64748B"/>
                </a:solidFill>
                <a:latin typeface="Segoe UI"/>
              </a:rPr>
              <a:t>code checks</a:t>
            </a:r>
          </a:p>
        </p:txBody>
      </p:sp>
      <p:sp>
        <p:nvSpPr>
          <p:cNvPr id="38" name="TextBox 37"/>
          <p:cNvSpPr txBox="1"/>
          <p:nvPr/>
        </p:nvSpPr>
        <p:spPr>
          <a:xfrm>
            <a:off x="713232" y="3877056"/>
            <a:ext cx="3283610" cy="237744"/>
          </a:xfrm>
          <a:prstGeom prst="rect">
            <a:avLst/>
          </a:prstGeom>
          <a:noFill/>
        </p:spPr>
        <p:txBody>
          <a:bodyPr wrap="square" lIns="0" tIns="0" rIns="0" bIns="0" anchor="t">
            <a:spAutoFit/>
          </a:bodyPr>
          <a:lstStyle/>
          <a:p>
            <a:pPr algn="l">
              <a:lnSpc>
                <a:spcPct val="105000"/>
              </a:lnSpc>
            </a:pPr>
            <a:r>
              <a:rPr sz="900" b="0" i="0">
                <a:solidFill>
                  <a:srgbClr val="334155"/>
                </a:solidFill>
                <a:latin typeface="Segoe UI"/>
              </a:rPr>
              <a:t>the code must exist in services.csv</a:t>
            </a:r>
          </a:p>
        </p:txBody>
      </p:sp>
      <p:sp>
        <p:nvSpPr>
          <p:cNvPr id="39" name="Rounded Rectangle 38"/>
          <p:cNvSpPr/>
          <p:nvPr/>
        </p:nvSpPr>
        <p:spPr>
          <a:xfrm>
            <a:off x="4307738" y="2907792"/>
            <a:ext cx="3576218" cy="1207008"/>
          </a:xfrm>
          <a:prstGeom prst="roundRect">
            <a:avLst>
              <a:gd name="adj" fmla="val 8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0" name="TextBox 39"/>
          <p:cNvSpPr txBox="1"/>
          <p:nvPr/>
        </p:nvSpPr>
        <p:spPr>
          <a:xfrm>
            <a:off x="4454042" y="3017520"/>
            <a:ext cx="3283610" cy="237744"/>
          </a:xfrm>
          <a:prstGeom prst="rect">
            <a:avLst/>
          </a:prstGeom>
          <a:noFill/>
        </p:spPr>
        <p:txBody>
          <a:bodyPr wrap="square" lIns="0" tIns="0" rIns="0" bIns="0" anchor="t">
            <a:spAutoFit/>
          </a:bodyPr>
          <a:lstStyle/>
          <a:p>
            <a:pPr algn="l">
              <a:lnSpc>
                <a:spcPct val="100000"/>
              </a:lnSpc>
            </a:pPr>
            <a:r>
              <a:rPr sz="1040" b="1" i="0">
                <a:solidFill>
                  <a:srgbClr val="6D28D9"/>
                </a:solidFill>
                <a:latin typeface="Segoe UI"/>
              </a:rPr>
              <a:t>date</a:t>
            </a:r>
          </a:p>
        </p:txBody>
      </p:sp>
      <p:sp>
        <p:nvSpPr>
          <p:cNvPr id="41" name="TextBox 40"/>
          <p:cNvSpPr txBox="1"/>
          <p:nvPr/>
        </p:nvSpPr>
        <p:spPr>
          <a:xfrm>
            <a:off x="4454042" y="3273552"/>
            <a:ext cx="3283610" cy="219456"/>
          </a:xfrm>
          <a:prstGeom prst="rect">
            <a:avLst/>
          </a:prstGeom>
          <a:noFill/>
        </p:spPr>
        <p:txBody>
          <a:bodyPr wrap="square" lIns="0" tIns="0" rIns="0" bIns="0" anchor="t">
            <a:spAutoFit/>
          </a:bodyPr>
          <a:lstStyle/>
          <a:p>
            <a:pPr algn="l">
              <a:lnSpc>
                <a:spcPct val="100000"/>
              </a:lnSpc>
            </a:pPr>
            <a:r>
              <a:rPr sz="840" b="1" i="0">
                <a:solidFill>
                  <a:srgbClr val="64748B"/>
                </a:solidFill>
                <a:latin typeface="Segoe UI"/>
              </a:rPr>
              <a:t>model returns</a:t>
            </a:r>
          </a:p>
        </p:txBody>
      </p:sp>
      <p:sp>
        <p:nvSpPr>
          <p:cNvPr id="42" name="TextBox 41"/>
          <p:cNvSpPr txBox="1"/>
          <p:nvPr/>
        </p:nvSpPr>
        <p:spPr>
          <a:xfrm>
            <a:off x="4454042" y="3456432"/>
            <a:ext cx="3283610" cy="219456"/>
          </a:xfrm>
          <a:prstGeom prst="rect">
            <a:avLst/>
          </a:prstGeom>
          <a:noFill/>
        </p:spPr>
        <p:txBody>
          <a:bodyPr wrap="square" lIns="0" tIns="0" rIns="0" bIns="0" anchor="t">
            <a:spAutoFit/>
          </a:bodyPr>
          <a:lstStyle/>
          <a:p>
            <a:pPr algn="l">
              <a:lnSpc>
                <a:spcPct val="100000"/>
              </a:lnSpc>
            </a:pPr>
            <a:r>
              <a:rPr sz="893" b="0" i="0">
                <a:solidFill>
                  <a:srgbClr val="0F172A"/>
                </a:solidFill>
                <a:latin typeface="Consolas"/>
              </a:rPr>
              <a:t>“next Tuesday” → 2026-10-27</a:t>
            </a:r>
          </a:p>
        </p:txBody>
      </p:sp>
      <p:sp>
        <p:nvSpPr>
          <p:cNvPr id="43" name="TextBox 42"/>
          <p:cNvSpPr txBox="1"/>
          <p:nvPr/>
        </p:nvSpPr>
        <p:spPr>
          <a:xfrm>
            <a:off x="4454042" y="3694176"/>
            <a:ext cx="3283610" cy="219456"/>
          </a:xfrm>
          <a:prstGeom prst="rect">
            <a:avLst/>
          </a:prstGeom>
          <a:noFill/>
        </p:spPr>
        <p:txBody>
          <a:bodyPr wrap="square" lIns="0" tIns="0" rIns="0" bIns="0" anchor="t">
            <a:spAutoFit/>
          </a:bodyPr>
          <a:lstStyle/>
          <a:p>
            <a:pPr algn="l">
              <a:lnSpc>
                <a:spcPct val="100000"/>
              </a:lnSpc>
            </a:pPr>
            <a:r>
              <a:rPr sz="840" b="1" i="0">
                <a:solidFill>
                  <a:srgbClr val="64748B"/>
                </a:solidFill>
                <a:latin typeface="Segoe UI"/>
              </a:rPr>
              <a:t>code checks</a:t>
            </a:r>
          </a:p>
        </p:txBody>
      </p:sp>
      <p:sp>
        <p:nvSpPr>
          <p:cNvPr id="44" name="TextBox 43"/>
          <p:cNvSpPr txBox="1"/>
          <p:nvPr/>
        </p:nvSpPr>
        <p:spPr>
          <a:xfrm>
            <a:off x="4454042" y="3877056"/>
            <a:ext cx="3283610" cy="237744"/>
          </a:xfrm>
          <a:prstGeom prst="rect">
            <a:avLst/>
          </a:prstGeom>
          <a:noFill/>
        </p:spPr>
        <p:txBody>
          <a:bodyPr wrap="square" lIns="0" tIns="0" rIns="0" bIns="0" anchor="t">
            <a:spAutoFit/>
          </a:bodyPr>
          <a:lstStyle/>
          <a:p>
            <a:pPr algn="l">
              <a:lnSpc>
                <a:spcPct val="105000"/>
              </a:lnSpc>
            </a:pPr>
            <a:r>
              <a:rPr sz="900" b="0" i="0">
                <a:solidFill>
                  <a:srgbClr val="334155"/>
                </a:solidFill>
                <a:latin typeface="Segoe UI"/>
              </a:rPr>
              <a:t>inside 26 Oct – 7 Nov, not a Sunday, ≥1 free slot</a:t>
            </a:r>
          </a:p>
        </p:txBody>
      </p:sp>
      <p:sp>
        <p:nvSpPr>
          <p:cNvPr id="45" name="Rounded Rectangle 44"/>
          <p:cNvSpPr/>
          <p:nvPr/>
        </p:nvSpPr>
        <p:spPr>
          <a:xfrm>
            <a:off x="8048548" y="2907792"/>
            <a:ext cx="3576218" cy="1207008"/>
          </a:xfrm>
          <a:prstGeom prst="roundRect">
            <a:avLst>
              <a:gd name="adj" fmla="val 8000"/>
            </a:avLst>
          </a:prstGeom>
          <a:solidFill>
            <a:srgbClr val="EEE9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6" name="TextBox 45"/>
          <p:cNvSpPr txBox="1"/>
          <p:nvPr/>
        </p:nvSpPr>
        <p:spPr>
          <a:xfrm>
            <a:off x="8194852" y="3017520"/>
            <a:ext cx="3283610" cy="237744"/>
          </a:xfrm>
          <a:prstGeom prst="rect">
            <a:avLst/>
          </a:prstGeom>
          <a:noFill/>
        </p:spPr>
        <p:txBody>
          <a:bodyPr wrap="square" lIns="0" tIns="0" rIns="0" bIns="0" anchor="t">
            <a:spAutoFit/>
          </a:bodyPr>
          <a:lstStyle/>
          <a:p>
            <a:pPr algn="l">
              <a:lnSpc>
                <a:spcPct val="100000"/>
              </a:lnSpc>
            </a:pPr>
            <a:r>
              <a:rPr sz="1040" b="1" i="0">
                <a:solidFill>
                  <a:srgbClr val="6D28D9"/>
                </a:solidFill>
                <a:latin typeface="Segoe UI"/>
              </a:rPr>
              <a:t>time_slot</a:t>
            </a:r>
          </a:p>
        </p:txBody>
      </p:sp>
      <p:sp>
        <p:nvSpPr>
          <p:cNvPr id="47" name="TextBox 46"/>
          <p:cNvSpPr txBox="1"/>
          <p:nvPr/>
        </p:nvSpPr>
        <p:spPr>
          <a:xfrm>
            <a:off x="8194852" y="3273552"/>
            <a:ext cx="3283610" cy="219456"/>
          </a:xfrm>
          <a:prstGeom prst="rect">
            <a:avLst/>
          </a:prstGeom>
          <a:noFill/>
        </p:spPr>
        <p:txBody>
          <a:bodyPr wrap="square" lIns="0" tIns="0" rIns="0" bIns="0" anchor="t">
            <a:spAutoFit/>
          </a:bodyPr>
          <a:lstStyle/>
          <a:p>
            <a:pPr algn="l">
              <a:lnSpc>
                <a:spcPct val="100000"/>
              </a:lnSpc>
            </a:pPr>
            <a:r>
              <a:rPr sz="840" b="1" i="0">
                <a:solidFill>
                  <a:srgbClr val="64748B"/>
                </a:solidFill>
                <a:latin typeface="Segoe UI"/>
              </a:rPr>
              <a:t>model returns</a:t>
            </a:r>
          </a:p>
        </p:txBody>
      </p:sp>
      <p:sp>
        <p:nvSpPr>
          <p:cNvPr id="48" name="TextBox 47"/>
          <p:cNvSpPr txBox="1"/>
          <p:nvPr/>
        </p:nvSpPr>
        <p:spPr>
          <a:xfrm>
            <a:off x="8194852" y="3456432"/>
            <a:ext cx="3283610" cy="219456"/>
          </a:xfrm>
          <a:prstGeom prst="rect">
            <a:avLst/>
          </a:prstGeom>
          <a:noFill/>
        </p:spPr>
        <p:txBody>
          <a:bodyPr wrap="square" lIns="0" tIns="0" rIns="0" bIns="0" anchor="t">
            <a:spAutoFit/>
          </a:bodyPr>
          <a:lstStyle/>
          <a:p>
            <a:pPr algn="l">
              <a:lnSpc>
                <a:spcPct val="100000"/>
              </a:lnSpc>
            </a:pPr>
            <a:r>
              <a:rPr sz="893" b="0" i="0">
                <a:solidFill>
                  <a:srgbClr val="0F172A"/>
                </a:solidFill>
                <a:latin typeface="Consolas"/>
              </a:rPr>
              <a:t>“afternoon” → 13:00</a:t>
            </a:r>
          </a:p>
        </p:txBody>
      </p:sp>
      <p:sp>
        <p:nvSpPr>
          <p:cNvPr id="49" name="TextBox 48"/>
          <p:cNvSpPr txBox="1"/>
          <p:nvPr/>
        </p:nvSpPr>
        <p:spPr>
          <a:xfrm>
            <a:off x="8194852" y="3694176"/>
            <a:ext cx="3283610" cy="219456"/>
          </a:xfrm>
          <a:prstGeom prst="rect">
            <a:avLst/>
          </a:prstGeom>
          <a:noFill/>
        </p:spPr>
        <p:txBody>
          <a:bodyPr wrap="square" lIns="0" tIns="0" rIns="0" bIns="0" anchor="t">
            <a:spAutoFit/>
          </a:bodyPr>
          <a:lstStyle/>
          <a:p>
            <a:pPr algn="l">
              <a:lnSpc>
                <a:spcPct val="100000"/>
              </a:lnSpc>
            </a:pPr>
            <a:r>
              <a:rPr sz="840" b="1" i="0">
                <a:solidFill>
                  <a:srgbClr val="64748B"/>
                </a:solidFill>
                <a:latin typeface="Segoe UI"/>
              </a:rPr>
              <a:t>code checks</a:t>
            </a:r>
          </a:p>
        </p:txBody>
      </p:sp>
      <p:sp>
        <p:nvSpPr>
          <p:cNvPr id="50" name="TextBox 49"/>
          <p:cNvSpPr txBox="1"/>
          <p:nvPr/>
        </p:nvSpPr>
        <p:spPr>
          <a:xfrm>
            <a:off x="8194852" y="3877056"/>
            <a:ext cx="3283610" cy="237744"/>
          </a:xfrm>
          <a:prstGeom prst="rect">
            <a:avLst/>
          </a:prstGeom>
          <a:noFill/>
        </p:spPr>
        <p:txBody>
          <a:bodyPr wrap="square" lIns="0" tIns="0" rIns="0" bIns="0" anchor="t">
            <a:spAutoFit/>
          </a:bodyPr>
          <a:lstStyle/>
          <a:p>
            <a:pPr algn="l">
              <a:lnSpc>
                <a:spcPct val="105000"/>
              </a:lnSpc>
            </a:pPr>
            <a:r>
              <a:rPr sz="900" b="0" i="0">
                <a:solidFill>
                  <a:srgbClr val="334155"/>
                </a:solidFill>
                <a:latin typeface="Segoe UI"/>
              </a:rPr>
              <a:t>a free slot for that date and the service's bay type</a:t>
            </a:r>
          </a:p>
        </p:txBody>
      </p:sp>
      <p:sp>
        <p:nvSpPr>
          <p:cNvPr id="51" name="Rounded Rectangle 50"/>
          <p:cNvSpPr/>
          <p:nvPr/>
        </p:nvSpPr>
        <p:spPr>
          <a:xfrm>
            <a:off x="566928" y="4261104"/>
            <a:ext cx="3576218" cy="1316736"/>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52" name="TextBox 51"/>
          <p:cNvSpPr txBox="1"/>
          <p:nvPr/>
        </p:nvSpPr>
        <p:spPr>
          <a:xfrm>
            <a:off x="713232" y="4389120"/>
            <a:ext cx="3283610" cy="237744"/>
          </a:xfrm>
          <a:prstGeom prst="rect">
            <a:avLst/>
          </a:prstGeom>
          <a:noFill/>
        </p:spPr>
        <p:txBody>
          <a:bodyPr wrap="square" lIns="0" tIns="0" rIns="0" bIns="0" anchor="t">
            <a:spAutoFit/>
          </a:bodyPr>
          <a:lstStyle/>
          <a:p>
            <a:pPr algn="l">
              <a:lnSpc>
                <a:spcPct val="100000"/>
              </a:lnSpc>
            </a:pPr>
            <a:r>
              <a:rPr sz="980" b="1" i="0">
                <a:solidFill>
                  <a:srgbClr val="0F172A"/>
                </a:solidFill>
                <a:latin typeface="Segoe UI"/>
              </a:rPr>
              <a:t>THE STATE RULE</a:t>
            </a:r>
          </a:p>
        </p:txBody>
      </p:sp>
      <p:sp>
        <p:nvSpPr>
          <p:cNvPr id="53" name="TextBox 52"/>
          <p:cNvSpPr txBox="1"/>
          <p:nvPr/>
        </p:nvSpPr>
        <p:spPr>
          <a:xfrm>
            <a:off x="713232" y="4663440"/>
            <a:ext cx="3283610" cy="841248"/>
          </a:xfrm>
          <a:prstGeom prst="rect">
            <a:avLst/>
          </a:prstGeom>
          <a:noFill/>
        </p:spPr>
        <p:txBody>
          <a:bodyPr wrap="square" lIns="0" tIns="0" rIns="0" bIns="0" anchor="t">
            <a:spAutoFit/>
          </a:bodyPr>
          <a:lstStyle/>
          <a:p>
            <a:pPr algn="l">
              <a:lnSpc>
                <a:spcPct val="112000"/>
              </a:lnSpc>
            </a:pPr>
            <a:r>
              <a:rPr sz="940" b="0" i="0">
                <a:solidFill>
                  <a:srgbClr val="64748B"/>
                </a:solidFill>
                <a:latin typeface="Segoe UI"/>
              </a:rPr>
              <a:t>The current state is the </a:t>
            </a:r>
            <a:r>
              <a:rPr sz="940" b="1" i="0">
                <a:solidFill>
                  <a:srgbClr val="64748B"/>
                </a:solidFill>
                <a:latin typeface="Segoe UI"/>
              </a:rPr>
              <a:t>first empty field</a:t>
            </a:r>
            <a:r>
              <a:rPr sz="940" b="0" i="0">
                <a:solidFill>
                  <a:srgbClr val="64748B"/>
                </a:solidFill>
                <a:latin typeface="Segoe UI"/>
              </a:rPr>
              <a:t>. Clearing an earlier field sends the flow back to it — change the date and the time slot is asked again.</a:t>
            </a:r>
          </a:p>
        </p:txBody>
      </p:sp>
      <p:sp>
        <p:nvSpPr>
          <p:cNvPr id="54" name="Rounded Rectangle 53"/>
          <p:cNvSpPr/>
          <p:nvPr/>
        </p:nvSpPr>
        <p:spPr>
          <a:xfrm>
            <a:off x="4307738" y="4261104"/>
            <a:ext cx="3576218" cy="1316736"/>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55" name="TextBox 54"/>
          <p:cNvSpPr txBox="1"/>
          <p:nvPr/>
        </p:nvSpPr>
        <p:spPr>
          <a:xfrm>
            <a:off x="4454042" y="4389120"/>
            <a:ext cx="3283610" cy="237744"/>
          </a:xfrm>
          <a:prstGeom prst="rect">
            <a:avLst/>
          </a:prstGeom>
          <a:noFill/>
        </p:spPr>
        <p:txBody>
          <a:bodyPr wrap="square" lIns="0" tIns="0" rIns="0" bIns="0" anchor="t">
            <a:spAutoFit/>
          </a:bodyPr>
          <a:lstStyle/>
          <a:p>
            <a:pPr algn="l">
              <a:lnSpc>
                <a:spcPct val="100000"/>
              </a:lnSpc>
            </a:pPr>
            <a:r>
              <a:rPr sz="980" b="1" i="0">
                <a:solidFill>
                  <a:srgbClr val="0F172A"/>
                </a:solidFill>
                <a:latin typeface="Segoe UI"/>
              </a:rPr>
              <a:t>THE RETRY RULE</a:t>
            </a:r>
          </a:p>
        </p:txBody>
      </p:sp>
      <p:sp>
        <p:nvSpPr>
          <p:cNvPr id="56" name="TextBox 55"/>
          <p:cNvSpPr txBox="1"/>
          <p:nvPr/>
        </p:nvSpPr>
        <p:spPr>
          <a:xfrm>
            <a:off x="4454042" y="4663440"/>
            <a:ext cx="3283610" cy="841248"/>
          </a:xfrm>
          <a:prstGeom prst="rect">
            <a:avLst/>
          </a:prstGeom>
          <a:noFill/>
        </p:spPr>
        <p:txBody>
          <a:bodyPr wrap="square" lIns="0" tIns="0" rIns="0" bIns="0" anchor="t">
            <a:spAutoFit/>
          </a:bodyPr>
          <a:lstStyle/>
          <a:p>
            <a:pPr algn="l">
              <a:lnSpc>
                <a:spcPct val="112000"/>
              </a:lnSpc>
            </a:pPr>
            <a:r>
              <a:rPr sz="940" b="0" i="0">
                <a:solidFill>
                  <a:srgbClr val="64748B"/>
                </a:solidFill>
                <a:latin typeface="Segoe UI"/>
              </a:rPr>
              <a:t>Three failed attempts in a state and the flow stops, offers the service desk and ends as </a:t>
            </a:r>
            <a:r>
              <a:rPr sz="893" b="0" i="0">
                <a:solidFill>
                  <a:srgbClr val="64748B"/>
                </a:solidFill>
                <a:latin typeface="Consolas"/>
              </a:rPr>
              <a:t>handoff</a:t>
            </a:r>
            <a:r>
              <a:rPr sz="940" b="0" i="0">
                <a:solidFill>
                  <a:srgbClr val="64748B"/>
                </a:solidFill>
                <a:latin typeface="Segoe UI"/>
              </a:rPr>
              <a:t>. The bot never loops.</a:t>
            </a:r>
          </a:p>
        </p:txBody>
      </p:sp>
      <p:sp>
        <p:nvSpPr>
          <p:cNvPr id="57" name="Rounded Rectangle 56"/>
          <p:cNvSpPr/>
          <p:nvPr/>
        </p:nvSpPr>
        <p:spPr>
          <a:xfrm>
            <a:off x="8048548" y="4261104"/>
            <a:ext cx="3576218" cy="1316736"/>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58" name="TextBox 57"/>
          <p:cNvSpPr txBox="1"/>
          <p:nvPr/>
        </p:nvSpPr>
        <p:spPr>
          <a:xfrm>
            <a:off x="8194852" y="4389120"/>
            <a:ext cx="3283610" cy="237744"/>
          </a:xfrm>
          <a:prstGeom prst="rect">
            <a:avLst/>
          </a:prstGeom>
          <a:noFill/>
        </p:spPr>
        <p:txBody>
          <a:bodyPr wrap="square" lIns="0" tIns="0" rIns="0" bIns="0" anchor="t">
            <a:spAutoFit/>
          </a:bodyPr>
          <a:lstStyle/>
          <a:p>
            <a:pPr algn="l">
              <a:lnSpc>
                <a:spcPct val="100000"/>
              </a:lnSpc>
            </a:pPr>
            <a:r>
              <a:rPr sz="980" b="1" i="0">
                <a:solidFill>
                  <a:srgbClr val="0F172A"/>
                </a:solidFill>
                <a:latin typeface="Segoe UI"/>
              </a:rPr>
              <a:t>THE WRITE RULE</a:t>
            </a:r>
          </a:p>
        </p:txBody>
      </p:sp>
      <p:sp>
        <p:nvSpPr>
          <p:cNvPr id="59" name="TextBox 58"/>
          <p:cNvSpPr txBox="1"/>
          <p:nvPr/>
        </p:nvSpPr>
        <p:spPr>
          <a:xfrm>
            <a:off x="8194852" y="4663440"/>
            <a:ext cx="3283610" cy="841248"/>
          </a:xfrm>
          <a:prstGeom prst="rect">
            <a:avLst/>
          </a:prstGeom>
          <a:noFill/>
        </p:spPr>
        <p:txBody>
          <a:bodyPr wrap="square" lIns="0" tIns="0" rIns="0" bIns="0" anchor="t">
            <a:spAutoFit/>
          </a:bodyPr>
          <a:lstStyle/>
          <a:p>
            <a:pPr algn="l">
              <a:lnSpc>
                <a:spcPct val="112000"/>
              </a:lnSpc>
            </a:pPr>
            <a:r>
              <a:rPr sz="940" b="0" i="0">
                <a:solidFill>
                  <a:srgbClr val="64748B"/>
                </a:solidFill>
                <a:latin typeface="Segoe UI"/>
              </a:rPr>
              <a:t>Nothing is written until consent is </a:t>
            </a:r>
            <a:r>
              <a:rPr sz="893" b="0" i="0">
                <a:solidFill>
                  <a:srgbClr val="64748B"/>
                </a:solidFill>
                <a:latin typeface="Consolas"/>
              </a:rPr>
              <a:t>yes</a:t>
            </a:r>
            <a:r>
              <a:rPr sz="940" b="0" i="0">
                <a:solidFill>
                  <a:srgbClr val="64748B"/>
                </a:solidFill>
                <a:latin typeface="Segoe UI"/>
              </a:rPr>
              <a:t> </a:t>
            </a:r>
            <a:r>
              <a:rPr sz="940" b="1" i="0">
                <a:solidFill>
                  <a:srgbClr val="64748B"/>
                </a:solidFill>
                <a:latin typeface="Segoe UI"/>
              </a:rPr>
              <a:t>and</a:t>
            </a:r>
            <a:r>
              <a:rPr sz="940" b="0" i="0">
                <a:solidFill>
                  <a:srgbClr val="64748B"/>
                </a:solidFill>
                <a:latin typeface="Segoe UI"/>
              </a:rPr>
              <a:t> the customer confirms the summary. Then one row is appended and a reference is issued.</a:t>
            </a:r>
          </a:p>
        </p:txBody>
      </p:sp>
      <p:sp>
        <p:nvSpPr>
          <p:cNvPr id="60" name="Rounded Rectangle 59"/>
          <p:cNvSpPr/>
          <p:nvPr/>
        </p:nvSpPr>
        <p:spPr>
          <a:xfrm>
            <a:off x="566928" y="5742432"/>
            <a:ext cx="11057839" cy="566928"/>
          </a:xfrm>
          <a:prstGeom prst="roundRect">
            <a:avLst>
              <a:gd name="adj" fmla="val 8000"/>
            </a:avLst>
          </a:prstGeom>
          <a:solidFill>
            <a:srgbClr val="FDF0D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61" name="TextBox 60"/>
          <p:cNvSpPr txBox="1"/>
          <p:nvPr/>
        </p:nvSpPr>
        <p:spPr>
          <a:xfrm>
            <a:off x="786384" y="5833872"/>
            <a:ext cx="10618927" cy="402336"/>
          </a:xfrm>
          <a:prstGeom prst="rect">
            <a:avLst/>
          </a:prstGeom>
          <a:noFill/>
        </p:spPr>
        <p:txBody>
          <a:bodyPr wrap="square" lIns="0" tIns="0" rIns="0" bIns="0" anchor="t">
            <a:spAutoFit/>
          </a:bodyPr>
          <a:lstStyle/>
          <a:p>
            <a:pPr algn="l">
              <a:lnSpc>
                <a:spcPct val="112000"/>
              </a:lnSpc>
            </a:pPr>
            <a:r>
              <a:rPr sz="1000" b="1" i="0">
                <a:solidFill>
                  <a:srgbClr val="334155"/>
                </a:solidFill>
                <a:latin typeface="Segoe UI"/>
              </a:rPr>
              <a:t>Every value the model proposes is checked by code.</a:t>
            </a:r>
            <a:r>
              <a:rPr sz="1000" b="0" i="0">
                <a:solidFill>
                  <a:srgbClr val="334155"/>
                </a:solidFill>
                <a:latin typeface="Segoe UI"/>
              </a:rPr>
              <a:t> Plate, mobile and email are matched by regex and never sent to the model at all — they are personal data, and Singapore's PDPA asks us to send as little as possible.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ARCHITECTURE</a:t>
            </a:r>
          </a:p>
        </p:txBody>
      </p:sp>
      <p:sp>
        <p:nvSpPr>
          <p:cNvPr id="4" name="TextBox 3"/>
          <p:cNvSpPr txBox="1"/>
          <p:nvPr/>
        </p:nvSpPr>
        <p:spPr>
          <a:xfrm>
            <a:off x="566928" y="566928"/>
            <a:ext cx="11057839" cy="502920"/>
          </a:xfrm>
          <a:prstGeom prst="rect">
            <a:avLst/>
          </a:prstGeom>
          <a:noFill/>
        </p:spPr>
        <p:txBody>
          <a:bodyPr wrap="square" lIns="0" tIns="0" rIns="0" bIns="0" anchor="t">
            <a:spAutoFit/>
          </a:bodyPr>
          <a:lstStyle/>
          <a:p>
            <a:pPr algn="l">
              <a:lnSpc>
                <a:spcPct val="100000"/>
              </a:lnSpc>
            </a:pPr>
            <a:r>
              <a:rPr sz="2500" b="1" i="0">
                <a:solidFill>
                  <a:srgbClr val="0F172A"/>
                </a:solidFill>
                <a:latin typeface="Segoe UI"/>
              </a:rPr>
              <a:t>Data, storage and the PII boundary</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One rule decides what leaves the machine: personal data is handled by code, so it never reaches the model.</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9</a:t>
            </a:r>
          </a:p>
        </p:txBody>
      </p:sp>
      <p:sp>
        <p:nvSpPr>
          <p:cNvPr id="9" name="Rounded Rectangle 8"/>
          <p:cNvSpPr/>
          <p:nvPr/>
        </p:nvSpPr>
        <p:spPr>
          <a:xfrm>
            <a:off x="566928" y="1481328"/>
            <a:ext cx="5413248" cy="230428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0" name="TextBox 9"/>
          <p:cNvSpPr txBox="1"/>
          <p:nvPr/>
        </p:nvSpPr>
        <p:spPr>
          <a:xfrm>
            <a:off x="768096" y="1627632"/>
            <a:ext cx="5029200" cy="237744"/>
          </a:xfrm>
          <a:prstGeom prst="rect">
            <a:avLst/>
          </a:prstGeom>
          <a:noFill/>
        </p:spPr>
        <p:txBody>
          <a:bodyPr wrap="square" lIns="0" tIns="0" rIns="0" bIns="0" anchor="t">
            <a:spAutoFit/>
          </a:bodyPr>
          <a:lstStyle/>
          <a:p>
            <a:pPr algn="l">
              <a:lnSpc>
                <a:spcPct val="100000"/>
              </a:lnSpc>
            </a:pPr>
            <a:r>
              <a:rPr sz="980" b="1" i="0">
                <a:solidFill>
                  <a:srgbClr val="15803D"/>
                </a:solidFill>
                <a:latin typeface="Segoe UI"/>
              </a:rPr>
              <a:t>MAY CROSS THE BOUNDARY</a:t>
            </a:r>
          </a:p>
        </p:txBody>
      </p:sp>
      <p:sp>
        <p:nvSpPr>
          <p:cNvPr id="11" name="TextBox 10"/>
          <p:cNvSpPr txBox="1"/>
          <p:nvPr/>
        </p:nvSpPr>
        <p:spPr>
          <a:xfrm>
            <a:off x="768096" y="1920240"/>
            <a:ext cx="5029200" cy="219456"/>
          </a:xfrm>
          <a:prstGeom prst="rect">
            <a:avLst/>
          </a:prstGeom>
          <a:noFill/>
        </p:spPr>
        <p:txBody>
          <a:bodyPr wrap="square" lIns="0" tIns="0" rIns="0" bIns="0" anchor="t">
            <a:spAutoFit/>
          </a:bodyPr>
          <a:lstStyle/>
          <a:p>
            <a:pPr algn="l">
              <a:lnSpc>
                <a:spcPct val="100000"/>
              </a:lnSpc>
            </a:pPr>
            <a:r>
              <a:rPr sz="1000" b="1" i="0">
                <a:solidFill>
                  <a:srgbClr val="15803D"/>
                </a:solidFill>
                <a:latin typeface="Segoe UI"/>
              </a:rPr>
              <a:t>→  The customer message</a:t>
            </a:r>
          </a:p>
        </p:txBody>
      </p:sp>
      <p:sp>
        <p:nvSpPr>
          <p:cNvPr id="12" name="TextBox 11"/>
          <p:cNvSpPr txBox="1"/>
          <p:nvPr/>
        </p:nvSpPr>
        <p:spPr>
          <a:xfrm>
            <a:off x="987552" y="2139696"/>
            <a:ext cx="4809744" cy="310896"/>
          </a:xfrm>
          <a:prstGeom prst="rect">
            <a:avLst/>
          </a:prstGeom>
          <a:noFill/>
        </p:spPr>
        <p:txBody>
          <a:bodyPr wrap="square" lIns="0" tIns="0" rIns="0" bIns="0" anchor="t">
            <a:spAutoFit/>
          </a:bodyPr>
          <a:lstStyle/>
          <a:p>
            <a:pPr algn="l">
              <a:lnSpc>
                <a:spcPct val="108000"/>
              </a:lnSpc>
            </a:pPr>
            <a:r>
              <a:rPr sz="930" b="0" i="0">
                <a:solidFill>
                  <a:srgbClr val="64748B"/>
                </a:solidFill>
                <a:latin typeface="Segoe UI"/>
              </a:rPr>
              <a:t>after redaction — "my number is 9123 4567" becomes "my number is [removed]"</a:t>
            </a:r>
          </a:p>
        </p:txBody>
      </p:sp>
      <p:sp>
        <p:nvSpPr>
          <p:cNvPr id="13" name="TextBox 12"/>
          <p:cNvSpPr txBox="1"/>
          <p:nvPr/>
        </p:nvSpPr>
        <p:spPr>
          <a:xfrm>
            <a:off x="768096" y="2523744"/>
            <a:ext cx="5029200" cy="219456"/>
          </a:xfrm>
          <a:prstGeom prst="rect">
            <a:avLst/>
          </a:prstGeom>
          <a:noFill/>
        </p:spPr>
        <p:txBody>
          <a:bodyPr wrap="square" lIns="0" tIns="0" rIns="0" bIns="0" anchor="t">
            <a:spAutoFit/>
          </a:bodyPr>
          <a:lstStyle/>
          <a:p>
            <a:pPr algn="l">
              <a:lnSpc>
                <a:spcPct val="100000"/>
              </a:lnSpc>
            </a:pPr>
            <a:r>
              <a:rPr sz="1000" b="1" i="0">
                <a:solidFill>
                  <a:srgbClr val="15803D"/>
                </a:solidFill>
                <a:latin typeface="Segoe UI"/>
              </a:rPr>
              <a:t>→  A KB section</a:t>
            </a:r>
          </a:p>
        </p:txBody>
      </p:sp>
      <p:sp>
        <p:nvSpPr>
          <p:cNvPr id="14" name="TextBox 13"/>
          <p:cNvSpPr txBox="1"/>
          <p:nvPr/>
        </p:nvSpPr>
        <p:spPr>
          <a:xfrm>
            <a:off x="987552" y="2743200"/>
            <a:ext cx="4809744" cy="310896"/>
          </a:xfrm>
          <a:prstGeom prst="rect">
            <a:avLst/>
          </a:prstGeom>
          <a:noFill/>
        </p:spPr>
        <p:txBody>
          <a:bodyPr wrap="square" lIns="0" tIns="0" rIns="0" bIns="0" anchor="t">
            <a:spAutoFit/>
          </a:bodyPr>
          <a:lstStyle/>
          <a:p>
            <a:pPr algn="l">
              <a:lnSpc>
                <a:spcPct val="108000"/>
              </a:lnSpc>
            </a:pPr>
            <a:r>
              <a:rPr sz="930" b="0" i="0">
                <a:solidFill>
                  <a:srgbClr val="64748B"/>
                </a:solidFill>
                <a:latin typeface="Segoe UI"/>
              </a:rPr>
              <a:t>public text from faq_kb.md, sent as context for the answer</a:t>
            </a:r>
          </a:p>
        </p:txBody>
      </p:sp>
      <p:sp>
        <p:nvSpPr>
          <p:cNvPr id="15" name="TextBox 14"/>
          <p:cNvSpPr txBox="1"/>
          <p:nvPr/>
        </p:nvSpPr>
        <p:spPr>
          <a:xfrm>
            <a:off x="768096" y="3127248"/>
            <a:ext cx="5029200" cy="219456"/>
          </a:xfrm>
          <a:prstGeom prst="rect">
            <a:avLst/>
          </a:prstGeom>
          <a:noFill/>
        </p:spPr>
        <p:txBody>
          <a:bodyPr wrap="square" lIns="0" tIns="0" rIns="0" bIns="0" anchor="t">
            <a:spAutoFit/>
          </a:bodyPr>
          <a:lstStyle/>
          <a:p>
            <a:pPr algn="l">
              <a:lnSpc>
                <a:spcPct val="100000"/>
              </a:lnSpc>
            </a:pPr>
            <a:r>
              <a:rPr sz="1000" b="1" i="0">
                <a:solidFill>
                  <a:srgbClr val="15803D"/>
                </a:solidFill>
                <a:latin typeface="Segoe UI"/>
              </a:rPr>
              <a:t>→  A candidate value</a:t>
            </a:r>
          </a:p>
        </p:txBody>
      </p:sp>
      <p:sp>
        <p:nvSpPr>
          <p:cNvPr id="16" name="TextBox 15"/>
          <p:cNvSpPr txBox="1"/>
          <p:nvPr/>
        </p:nvSpPr>
        <p:spPr>
          <a:xfrm>
            <a:off x="987552" y="3346704"/>
            <a:ext cx="4809744" cy="310896"/>
          </a:xfrm>
          <a:prstGeom prst="rect">
            <a:avLst/>
          </a:prstGeom>
          <a:noFill/>
        </p:spPr>
        <p:txBody>
          <a:bodyPr wrap="square" lIns="0" tIns="0" rIns="0" bIns="0" anchor="t">
            <a:spAutoFit/>
          </a:bodyPr>
          <a:lstStyle/>
          <a:p>
            <a:pPr algn="l">
              <a:lnSpc>
                <a:spcPct val="108000"/>
              </a:lnSpc>
            </a:pPr>
            <a:r>
              <a:rPr sz="930" b="0" i="0">
                <a:solidFill>
                  <a:srgbClr val="64748B"/>
                </a:solidFill>
                <a:latin typeface="Segoe UI"/>
              </a:rPr>
              <a:t>service, date or time slot — no personal data in it</a:t>
            </a:r>
          </a:p>
        </p:txBody>
      </p:sp>
      <p:sp>
        <p:nvSpPr>
          <p:cNvPr id="17" name="Rounded Rectangle 16"/>
          <p:cNvSpPr/>
          <p:nvPr/>
        </p:nvSpPr>
        <p:spPr>
          <a:xfrm>
            <a:off x="6263640" y="1481328"/>
            <a:ext cx="5358384" cy="2304288"/>
          </a:xfrm>
          <a:prstGeom prst="roundRect">
            <a:avLst>
              <a:gd name="adj" fmla="val 8000"/>
            </a:avLst>
          </a:prstGeom>
          <a:solidFill>
            <a:srgbClr val="FFFFFF"/>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8" name="TextBox 17"/>
          <p:cNvSpPr txBox="1"/>
          <p:nvPr/>
        </p:nvSpPr>
        <p:spPr>
          <a:xfrm>
            <a:off x="6464808" y="1627632"/>
            <a:ext cx="4937760" cy="237744"/>
          </a:xfrm>
          <a:prstGeom prst="rect">
            <a:avLst/>
          </a:prstGeom>
          <a:noFill/>
        </p:spPr>
        <p:txBody>
          <a:bodyPr wrap="square" lIns="0" tIns="0" rIns="0" bIns="0" anchor="t">
            <a:spAutoFit/>
          </a:bodyPr>
          <a:lstStyle/>
          <a:p>
            <a:pPr algn="l">
              <a:lnSpc>
                <a:spcPct val="100000"/>
              </a:lnSpc>
            </a:pPr>
            <a:r>
              <a:rPr sz="980" b="1" i="0">
                <a:solidFill>
                  <a:srgbClr val="B91C1C"/>
                </a:solidFill>
                <a:latin typeface="Segoe UI"/>
              </a:rPr>
              <a:t>MUST NEVER CROSS — REDACTED IN CODE FIRST</a:t>
            </a:r>
          </a:p>
        </p:txBody>
      </p:sp>
      <p:sp>
        <p:nvSpPr>
          <p:cNvPr id="19" name="Rounded Rectangle 18"/>
          <p:cNvSpPr/>
          <p:nvPr/>
        </p:nvSpPr>
        <p:spPr>
          <a:xfrm>
            <a:off x="6464808" y="1938528"/>
            <a:ext cx="1554480" cy="29260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00" b="1" i="0">
                <a:solidFill>
                  <a:srgbClr val="B91C1C"/>
                </a:solidFill>
                <a:latin typeface="Segoe UI"/>
              </a:rPr>
              <a:t>NRIC / FIN numbers</a:t>
            </a:r>
          </a:p>
        </p:txBody>
      </p:sp>
      <p:sp>
        <p:nvSpPr>
          <p:cNvPr id="20" name="Rounded Rectangle 19"/>
          <p:cNvSpPr/>
          <p:nvPr/>
        </p:nvSpPr>
        <p:spPr>
          <a:xfrm>
            <a:off x="8129016" y="1938528"/>
            <a:ext cx="1554480" cy="29260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00" b="1" i="0">
                <a:solidFill>
                  <a:srgbClr val="B91C1C"/>
                </a:solidFill>
                <a:latin typeface="Segoe UI"/>
              </a:rPr>
              <a:t>Passport numbers</a:t>
            </a:r>
          </a:p>
        </p:txBody>
      </p:sp>
      <p:sp>
        <p:nvSpPr>
          <p:cNvPr id="21" name="Rounded Rectangle 20"/>
          <p:cNvSpPr/>
          <p:nvPr/>
        </p:nvSpPr>
        <p:spPr>
          <a:xfrm>
            <a:off x="9793224" y="1938528"/>
            <a:ext cx="1554480" cy="29260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00" b="1" i="0">
                <a:solidFill>
                  <a:srgbClr val="B91C1C"/>
                </a:solidFill>
                <a:latin typeface="Segoe UI"/>
              </a:rPr>
              <a:t>Card numbers</a:t>
            </a:r>
          </a:p>
        </p:txBody>
      </p:sp>
      <p:sp>
        <p:nvSpPr>
          <p:cNvPr id="22" name="Rounded Rectangle 21"/>
          <p:cNvSpPr/>
          <p:nvPr/>
        </p:nvSpPr>
        <p:spPr>
          <a:xfrm>
            <a:off x="6464808" y="2322576"/>
            <a:ext cx="1554480" cy="29260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00" b="1" i="0">
                <a:solidFill>
                  <a:srgbClr val="B91C1C"/>
                </a:solidFill>
                <a:latin typeface="Segoe UI"/>
              </a:rPr>
              <a:t>Full vehicle plate</a:t>
            </a:r>
          </a:p>
        </p:txBody>
      </p:sp>
      <p:sp>
        <p:nvSpPr>
          <p:cNvPr id="23" name="Rounded Rectangle 22"/>
          <p:cNvSpPr/>
          <p:nvPr/>
        </p:nvSpPr>
        <p:spPr>
          <a:xfrm>
            <a:off x="8129016" y="2322576"/>
            <a:ext cx="1554480" cy="29260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00" b="1" i="0">
                <a:solidFill>
                  <a:srgbClr val="B91C1C"/>
                </a:solidFill>
                <a:latin typeface="Segoe UI"/>
              </a:rPr>
              <a:t>Full mobile number</a:t>
            </a:r>
          </a:p>
        </p:txBody>
      </p:sp>
      <p:sp>
        <p:nvSpPr>
          <p:cNvPr id="24" name="Rounded Rectangle 23"/>
          <p:cNvSpPr/>
          <p:nvPr/>
        </p:nvSpPr>
        <p:spPr>
          <a:xfrm>
            <a:off x="9793224" y="2322576"/>
            <a:ext cx="1554480" cy="292608"/>
          </a:xfrm>
          <a:prstGeom prst="roundRect">
            <a:avLst>
              <a:gd name="adj" fmla="val 35000"/>
            </a:avLst>
          </a:prstGeom>
          <a:solidFill>
            <a:srgbClr val="FD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r>
              <a:rPr sz="900" b="1" i="0">
                <a:solidFill>
                  <a:srgbClr val="B91C1C"/>
                </a:solidFill>
                <a:latin typeface="Segoe UI"/>
              </a:rPr>
              <a:t>Full email address</a:t>
            </a:r>
          </a:p>
        </p:txBody>
      </p:sp>
      <p:sp>
        <p:nvSpPr>
          <p:cNvPr id="25" name="TextBox 24"/>
          <p:cNvSpPr txBox="1"/>
          <p:nvPr/>
        </p:nvSpPr>
        <p:spPr>
          <a:xfrm>
            <a:off x="6464808" y="2761488"/>
            <a:ext cx="4937760" cy="822960"/>
          </a:xfrm>
          <a:prstGeom prst="rect">
            <a:avLst/>
          </a:prstGeom>
          <a:noFill/>
        </p:spPr>
        <p:txBody>
          <a:bodyPr wrap="square" lIns="0" tIns="0" rIns="0" bIns="0" anchor="t">
            <a:spAutoFit/>
          </a:bodyPr>
          <a:lstStyle/>
          <a:p>
            <a:pPr algn="l">
              <a:lnSpc>
                <a:spcPct val="114000"/>
              </a:lnSpc>
            </a:pPr>
            <a:r>
              <a:rPr sz="960" b="0" i="0" dirty="0">
                <a:solidFill>
                  <a:srgbClr val="334155"/>
                </a:solidFill>
                <a:latin typeface="Segoe UI"/>
              </a:rPr>
              <a:t>The chatbot says "we don't need your NRIC or card number" and never asks for them. If a customer volunteers one anyway, it is removed before the model sees the message.</a:t>
            </a:r>
          </a:p>
        </p:txBody>
      </p:sp>
      <p:sp>
        <p:nvSpPr>
          <p:cNvPr id="26" name="TextBox 25"/>
          <p:cNvSpPr txBox="1"/>
          <p:nvPr/>
        </p:nvSpPr>
        <p:spPr>
          <a:xfrm>
            <a:off x="566928" y="3968496"/>
            <a:ext cx="11057839" cy="237744"/>
          </a:xfrm>
          <a:prstGeom prst="rect">
            <a:avLst/>
          </a:prstGeom>
          <a:noFill/>
        </p:spPr>
        <p:txBody>
          <a:bodyPr wrap="square" lIns="0" tIns="0" rIns="0" bIns="0" anchor="t">
            <a:spAutoFit/>
          </a:bodyPr>
          <a:lstStyle/>
          <a:p>
            <a:pPr algn="l">
              <a:lnSpc>
                <a:spcPct val="100000"/>
              </a:lnSpc>
            </a:pPr>
            <a:r>
              <a:rPr sz="960" b="1" i="0">
                <a:solidFill>
                  <a:srgbClr val="64748B"/>
                </a:solidFill>
                <a:latin typeface="Segoe UI"/>
              </a:rPr>
              <a:t>HOW EACH FIELD IS HANDLED</a:t>
            </a:r>
          </a:p>
        </p:txBody>
      </p:sp>
      <p:graphicFrame>
        <p:nvGraphicFramePr>
          <p:cNvPr id="27" name="Table 26"/>
          <p:cNvGraphicFramePr>
            <a:graphicFrameLocks noGrp="1"/>
          </p:cNvGraphicFramePr>
          <p:nvPr/>
        </p:nvGraphicFramePr>
        <p:xfrm>
          <a:off x="566928" y="4242816"/>
          <a:ext cx="6766560" cy="1508760"/>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301752">
                <a:tc>
                  <a:txBody>
                    <a:bodyPr/>
                    <a:lstStyle/>
                    <a:p>
                      <a:pPr algn="l">
                        <a:lnSpc>
                          <a:spcPct val="95000"/>
                        </a:lnSpc>
                        <a:spcAft>
                          <a:spcPts val="0"/>
                        </a:spcAft>
                      </a:pPr>
                      <a:r>
                        <a:rPr sz="940" b="1" i="0">
                          <a:solidFill>
                            <a:srgbClr val="FFFFFF"/>
                          </a:solidFill>
                          <a:latin typeface="Segoe UI"/>
                        </a:rPr>
                        <a:t>Field</a:t>
                      </a:r>
                    </a:p>
                  </a:txBody>
                  <a:tcPr marL="73152" marR="73152" marT="27432" marB="27432" anchor="ctr">
                    <a:solidFill>
                      <a:srgbClr val="0F172A"/>
                    </a:solidFill>
                  </a:tcPr>
                </a:tc>
                <a:tc>
                  <a:txBody>
                    <a:bodyPr/>
                    <a:lstStyle/>
                    <a:p>
                      <a:pPr algn="l">
                        <a:lnSpc>
                          <a:spcPct val="95000"/>
                        </a:lnSpc>
                        <a:spcAft>
                          <a:spcPts val="0"/>
                        </a:spcAft>
                      </a:pPr>
                      <a:r>
                        <a:rPr sz="940" b="1" i="0">
                          <a:solidFill>
                            <a:srgbClr val="FFFFFF"/>
                          </a:solidFill>
                          <a:latin typeface="Segoe UI"/>
                        </a:rPr>
                        <a:t>Stored in bookings.csv</a:t>
                      </a:r>
                    </a:p>
                  </a:txBody>
                  <a:tcPr marL="73152" marR="73152" marT="27432" marB="27432" anchor="ctr">
                    <a:solidFill>
                      <a:srgbClr val="0F172A"/>
                    </a:solidFill>
                  </a:tcPr>
                </a:tc>
                <a:tc>
                  <a:txBody>
                    <a:bodyPr/>
                    <a:lstStyle/>
                    <a:p>
                      <a:pPr algn="l">
                        <a:lnSpc>
                          <a:spcPct val="95000"/>
                        </a:lnSpc>
                        <a:spcAft>
                          <a:spcPts val="0"/>
                        </a:spcAft>
                      </a:pPr>
                      <a:r>
                        <a:rPr sz="940" b="1" i="0">
                          <a:solidFill>
                            <a:srgbClr val="FFFFFF"/>
                          </a:solidFill>
                          <a:latin typeface="Segoe UI"/>
                        </a:rPr>
                        <a:t>Shown in the trace</a:t>
                      </a:r>
                    </a:p>
                  </a:txBody>
                  <a:tcPr marL="73152" marR="73152" marT="27432" marB="27432" anchor="ctr">
                    <a:solidFill>
                      <a:srgbClr val="0F172A"/>
                    </a:solidFill>
                  </a:tcPr>
                </a:tc>
                <a:tc>
                  <a:txBody>
                    <a:bodyPr/>
                    <a:lstStyle/>
                    <a:p>
                      <a:pPr algn="l">
                        <a:lnSpc>
                          <a:spcPct val="95000"/>
                        </a:lnSpc>
                        <a:spcAft>
                          <a:spcPts val="0"/>
                        </a:spcAft>
                      </a:pPr>
                      <a:r>
                        <a:rPr sz="940" b="1" i="0">
                          <a:solidFill>
                            <a:srgbClr val="FFFFFF"/>
                          </a:solidFill>
                          <a:latin typeface="Segoe UI"/>
                        </a:rPr>
                        <a:t>Sent to the model</a:t>
                      </a:r>
                    </a:p>
                  </a:txBody>
                  <a:tcPr marL="73152" marR="73152" marT="27432" marB="27432" anchor="ctr">
                    <a:solidFill>
                      <a:srgbClr val="0F172A"/>
                    </a:solidFill>
                  </a:tcPr>
                </a:tc>
                <a:extLst>
                  <a:ext uri="{0D108BD9-81ED-4DB2-BD59-A6C34878D82A}">
                    <a16:rowId xmlns:a16="http://schemas.microsoft.com/office/drawing/2014/main" val="10000"/>
                  </a:ext>
                </a:extLst>
              </a:tr>
              <a:tr h="301752">
                <a:tc>
                  <a:txBody>
                    <a:bodyPr/>
                    <a:lstStyle/>
                    <a:p>
                      <a:pPr algn="l">
                        <a:lnSpc>
                          <a:spcPct val="95000"/>
                        </a:lnSpc>
                        <a:spcAft>
                          <a:spcPts val="0"/>
                        </a:spcAft>
                      </a:pPr>
                      <a:r>
                        <a:rPr sz="940" b="1" i="0">
                          <a:solidFill>
                            <a:srgbClr val="334155"/>
                          </a:solidFill>
                          <a:latin typeface="Segoe UI"/>
                        </a:rPr>
                        <a:t>Mobile</a:t>
                      </a:r>
                    </a:p>
                  </a:txBody>
                  <a:tcPr marL="73152" marR="73152" marT="27432" marB="27432" anchor="ctr">
                    <a:solidFill>
                      <a:srgbClr val="FFFFFF"/>
                    </a:solidFill>
                  </a:tcPr>
                </a:tc>
                <a:tc>
                  <a:txBody>
                    <a:bodyPr/>
                    <a:lstStyle/>
                    <a:p>
                      <a:pPr algn="l">
                        <a:lnSpc>
                          <a:spcPct val="95000"/>
                        </a:lnSpc>
                        <a:spcAft>
                          <a:spcPts val="0"/>
                        </a:spcAft>
                      </a:pPr>
                      <a:r>
                        <a:rPr sz="940" b="0" i="0">
                          <a:solidFill>
                            <a:srgbClr val="334155"/>
                          </a:solidFill>
                          <a:latin typeface="Segoe UI"/>
                        </a:rPr>
                        <a:t>91234567</a:t>
                      </a:r>
                    </a:p>
                  </a:txBody>
                  <a:tcPr marL="73152" marR="73152" marT="27432" marB="27432" anchor="ctr">
                    <a:solidFill>
                      <a:srgbClr val="FFFFFF"/>
                    </a:solidFill>
                  </a:tcPr>
                </a:tc>
                <a:tc>
                  <a:txBody>
                    <a:bodyPr/>
                    <a:lstStyle/>
                    <a:p>
                      <a:pPr algn="l">
                        <a:lnSpc>
                          <a:spcPct val="95000"/>
                        </a:lnSpc>
                        <a:spcAft>
                          <a:spcPts val="0"/>
                        </a:spcAft>
                      </a:pPr>
                      <a:r>
                        <a:rPr sz="940" b="0" i="0">
                          <a:solidFill>
                            <a:srgbClr val="334155"/>
                          </a:solidFill>
                          <a:latin typeface="Segoe UI"/>
                        </a:rPr>
                        <a:t>9*** 4567</a:t>
                      </a:r>
                    </a:p>
                  </a:txBody>
                  <a:tcPr marL="73152" marR="73152" marT="27432" marB="27432" anchor="ctr">
                    <a:solidFill>
                      <a:srgbClr val="FFFFFF"/>
                    </a:solidFill>
                  </a:tcPr>
                </a:tc>
                <a:tc>
                  <a:txBody>
                    <a:bodyPr/>
                    <a:lstStyle/>
                    <a:p>
                      <a:pPr algn="l">
                        <a:lnSpc>
                          <a:spcPct val="95000"/>
                        </a:lnSpc>
                        <a:spcAft>
                          <a:spcPts val="0"/>
                        </a:spcAft>
                      </a:pPr>
                      <a:r>
                        <a:rPr sz="940" b="0" i="0">
                          <a:solidFill>
                            <a:srgbClr val="334155"/>
                          </a:solidFill>
                          <a:latin typeface="Segoe UI"/>
                        </a:rPr>
                        <a:t>never</a:t>
                      </a:r>
                    </a:p>
                  </a:txBody>
                  <a:tcPr marL="73152" marR="73152" marT="27432" marB="27432" anchor="ctr">
                    <a:solidFill>
                      <a:srgbClr val="FFFFFF"/>
                    </a:solidFill>
                  </a:tcPr>
                </a:tc>
                <a:extLst>
                  <a:ext uri="{0D108BD9-81ED-4DB2-BD59-A6C34878D82A}">
                    <a16:rowId xmlns:a16="http://schemas.microsoft.com/office/drawing/2014/main" val="10001"/>
                  </a:ext>
                </a:extLst>
              </a:tr>
              <a:tr h="301752">
                <a:tc>
                  <a:txBody>
                    <a:bodyPr/>
                    <a:lstStyle/>
                    <a:p>
                      <a:pPr algn="l">
                        <a:lnSpc>
                          <a:spcPct val="95000"/>
                        </a:lnSpc>
                        <a:spcAft>
                          <a:spcPts val="0"/>
                        </a:spcAft>
                      </a:pPr>
                      <a:r>
                        <a:rPr sz="940" b="1" i="0">
                          <a:solidFill>
                            <a:srgbClr val="334155"/>
                          </a:solidFill>
                          <a:latin typeface="Segoe UI"/>
                        </a:rPr>
                        <a:t>Email</a:t>
                      </a:r>
                    </a:p>
                  </a:txBody>
                  <a:tcPr marL="73152" marR="73152" marT="27432" marB="27432" anchor="ctr">
                    <a:solidFill>
                      <a:srgbClr val="F7F9FC"/>
                    </a:solidFill>
                  </a:tcPr>
                </a:tc>
                <a:tc>
                  <a:txBody>
                    <a:bodyPr/>
                    <a:lstStyle/>
                    <a:p>
                      <a:pPr algn="l">
                        <a:lnSpc>
                          <a:spcPct val="95000"/>
                        </a:lnSpc>
                        <a:spcAft>
                          <a:spcPts val="0"/>
                        </a:spcAft>
                      </a:pPr>
                      <a:r>
                        <a:rPr sz="940" b="0" i="0">
                          <a:solidFill>
                            <a:srgbClr val="334155"/>
                          </a:solidFill>
                          <a:latin typeface="Segoe UI"/>
                        </a:rPr>
                        <a:t>wei@example.com</a:t>
                      </a:r>
                    </a:p>
                  </a:txBody>
                  <a:tcPr marL="73152" marR="73152" marT="27432" marB="27432" anchor="ctr">
                    <a:solidFill>
                      <a:srgbClr val="F7F9FC"/>
                    </a:solidFill>
                  </a:tcPr>
                </a:tc>
                <a:tc>
                  <a:txBody>
                    <a:bodyPr/>
                    <a:lstStyle/>
                    <a:p>
                      <a:pPr algn="l">
                        <a:lnSpc>
                          <a:spcPct val="95000"/>
                        </a:lnSpc>
                        <a:spcAft>
                          <a:spcPts val="0"/>
                        </a:spcAft>
                      </a:pPr>
                      <a:r>
                        <a:rPr sz="940" b="0" i="0">
                          <a:solidFill>
                            <a:srgbClr val="334155"/>
                          </a:solidFill>
                          <a:latin typeface="Segoe UI"/>
                        </a:rPr>
                        <a:t>w***@example.com</a:t>
                      </a:r>
                    </a:p>
                  </a:txBody>
                  <a:tcPr marL="73152" marR="73152" marT="27432" marB="27432" anchor="ctr">
                    <a:solidFill>
                      <a:srgbClr val="F7F9FC"/>
                    </a:solidFill>
                  </a:tcPr>
                </a:tc>
                <a:tc>
                  <a:txBody>
                    <a:bodyPr/>
                    <a:lstStyle/>
                    <a:p>
                      <a:pPr algn="l">
                        <a:lnSpc>
                          <a:spcPct val="95000"/>
                        </a:lnSpc>
                        <a:spcAft>
                          <a:spcPts val="0"/>
                        </a:spcAft>
                      </a:pPr>
                      <a:r>
                        <a:rPr sz="940" b="0" i="0">
                          <a:solidFill>
                            <a:srgbClr val="334155"/>
                          </a:solidFill>
                          <a:latin typeface="Segoe UI"/>
                        </a:rPr>
                        <a:t>never</a:t>
                      </a:r>
                    </a:p>
                  </a:txBody>
                  <a:tcPr marL="73152" marR="73152" marT="27432" marB="27432" anchor="ctr">
                    <a:solidFill>
                      <a:srgbClr val="F7F9FC"/>
                    </a:solidFill>
                  </a:tcPr>
                </a:tc>
                <a:extLst>
                  <a:ext uri="{0D108BD9-81ED-4DB2-BD59-A6C34878D82A}">
                    <a16:rowId xmlns:a16="http://schemas.microsoft.com/office/drawing/2014/main" val="10002"/>
                  </a:ext>
                </a:extLst>
              </a:tr>
              <a:tr h="301752">
                <a:tc>
                  <a:txBody>
                    <a:bodyPr/>
                    <a:lstStyle/>
                    <a:p>
                      <a:pPr algn="l">
                        <a:lnSpc>
                          <a:spcPct val="95000"/>
                        </a:lnSpc>
                        <a:spcAft>
                          <a:spcPts val="0"/>
                        </a:spcAft>
                      </a:pPr>
                      <a:r>
                        <a:rPr sz="940" b="1" i="0">
                          <a:solidFill>
                            <a:srgbClr val="334155"/>
                          </a:solidFill>
                          <a:latin typeface="Segoe UI"/>
                        </a:rPr>
                        <a:t>Vehicle plate</a:t>
                      </a:r>
                    </a:p>
                  </a:txBody>
                  <a:tcPr marL="73152" marR="73152" marT="27432" marB="27432" anchor="ctr">
                    <a:solidFill>
                      <a:srgbClr val="FFFFFF"/>
                    </a:solidFill>
                  </a:tcPr>
                </a:tc>
                <a:tc>
                  <a:txBody>
                    <a:bodyPr/>
                    <a:lstStyle/>
                    <a:p>
                      <a:pPr algn="l">
                        <a:lnSpc>
                          <a:spcPct val="95000"/>
                        </a:lnSpc>
                        <a:spcAft>
                          <a:spcPts val="0"/>
                        </a:spcAft>
                      </a:pPr>
                      <a:r>
                        <a:rPr sz="940" b="0" i="0">
                          <a:solidFill>
                            <a:srgbClr val="334155"/>
                          </a:solidFill>
                          <a:latin typeface="Segoe UI"/>
                        </a:rPr>
                        <a:t>SBA1234K</a:t>
                      </a:r>
                    </a:p>
                  </a:txBody>
                  <a:tcPr marL="73152" marR="73152" marT="27432" marB="27432" anchor="ctr">
                    <a:solidFill>
                      <a:srgbClr val="FFFFFF"/>
                    </a:solidFill>
                  </a:tcPr>
                </a:tc>
                <a:tc>
                  <a:txBody>
                    <a:bodyPr/>
                    <a:lstStyle/>
                    <a:p>
                      <a:pPr algn="l">
                        <a:lnSpc>
                          <a:spcPct val="95000"/>
                        </a:lnSpc>
                        <a:spcAft>
                          <a:spcPts val="0"/>
                        </a:spcAft>
                      </a:pPr>
                      <a:r>
                        <a:rPr sz="940" b="0" i="0">
                          <a:solidFill>
                            <a:srgbClr val="334155"/>
                          </a:solidFill>
                          <a:latin typeface="Segoe UI"/>
                        </a:rPr>
                        <a:t>S****K</a:t>
                      </a:r>
                    </a:p>
                  </a:txBody>
                  <a:tcPr marL="73152" marR="73152" marT="27432" marB="27432" anchor="ctr">
                    <a:solidFill>
                      <a:srgbClr val="FFFFFF"/>
                    </a:solidFill>
                  </a:tcPr>
                </a:tc>
                <a:tc>
                  <a:txBody>
                    <a:bodyPr/>
                    <a:lstStyle/>
                    <a:p>
                      <a:pPr algn="l">
                        <a:lnSpc>
                          <a:spcPct val="95000"/>
                        </a:lnSpc>
                        <a:spcAft>
                          <a:spcPts val="0"/>
                        </a:spcAft>
                      </a:pPr>
                      <a:r>
                        <a:rPr sz="940" b="0" i="0">
                          <a:solidFill>
                            <a:srgbClr val="334155"/>
                          </a:solidFill>
                          <a:latin typeface="Segoe UI"/>
                        </a:rPr>
                        <a:t>never</a:t>
                      </a:r>
                    </a:p>
                  </a:txBody>
                  <a:tcPr marL="73152" marR="73152" marT="27432" marB="27432" anchor="ctr">
                    <a:solidFill>
                      <a:srgbClr val="FFFFFF"/>
                    </a:solidFill>
                  </a:tcPr>
                </a:tc>
                <a:extLst>
                  <a:ext uri="{0D108BD9-81ED-4DB2-BD59-A6C34878D82A}">
                    <a16:rowId xmlns:a16="http://schemas.microsoft.com/office/drawing/2014/main" val="10003"/>
                  </a:ext>
                </a:extLst>
              </a:tr>
              <a:tr h="301752">
                <a:tc>
                  <a:txBody>
                    <a:bodyPr/>
                    <a:lstStyle/>
                    <a:p>
                      <a:pPr algn="l">
                        <a:lnSpc>
                          <a:spcPct val="95000"/>
                        </a:lnSpc>
                        <a:spcAft>
                          <a:spcPts val="0"/>
                        </a:spcAft>
                      </a:pPr>
                      <a:r>
                        <a:rPr sz="940" b="1" i="0">
                          <a:solidFill>
                            <a:srgbClr val="334155"/>
                          </a:solidFill>
                          <a:latin typeface="Segoe UI"/>
                        </a:rPr>
                        <a:t>NRIC / card</a:t>
                      </a:r>
                    </a:p>
                  </a:txBody>
                  <a:tcPr marL="73152" marR="73152" marT="27432" marB="27432" anchor="ctr">
                    <a:solidFill>
                      <a:srgbClr val="F7F9FC"/>
                    </a:solidFill>
                  </a:tcPr>
                </a:tc>
                <a:tc>
                  <a:txBody>
                    <a:bodyPr/>
                    <a:lstStyle/>
                    <a:p>
                      <a:pPr algn="l">
                        <a:lnSpc>
                          <a:spcPct val="95000"/>
                        </a:lnSpc>
                        <a:spcAft>
                          <a:spcPts val="0"/>
                        </a:spcAft>
                      </a:pPr>
                      <a:r>
                        <a:rPr sz="940" b="0" i="0">
                          <a:solidFill>
                            <a:srgbClr val="334155"/>
                          </a:solidFill>
                          <a:latin typeface="Segoe UI"/>
                        </a:rPr>
                        <a:t>—</a:t>
                      </a:r>
                    </a:p>
                  </a:txBody>
                  <a:tcPr marL="73152" marR="73152" marT="27432" marB="27432" anchor="ctr">
                    <a:solidFill>
                      <a:srgbClr val="F7F9FC"/>
                    </a:solidFill>
                  </a:tcPr>
                </a:tc>
                <a:tc>
                  <a:txBody>
                    <a:bodyPr/>
                    <a:lstStyle/>
                    <a:p>
                      <a:pPr algn="l">
                        <a:lnSpc>
                          <a:spcPct val="95000"/>
                        </a:lnSpc>
                        <a:spcAft>
                          <a:spcPts val="0"/>
                        </a:spcAft>
                      </a:pPr>
                      <a:r>
                        <a:rPr sz="940" b="0" i="0">
                          <a:solidFill>
                            <a:srgbClr val="334155"/>
                          </a:solidFill>
                          <a:latin typeface="Segoe UI"/>
                        </a:rPr>
                        <a:t>[removed]</a:t>
                      </a:r>
                    </a:p>
                  </a:txBody>
                  <a:tcPr marL="73152" marR="73152" marT="27432" marB="27432" anchor="ctr">
                    <a:solidFill>
                      <a:srgbClr val="F7F9FC"/>
                    </a:solidFill>
                  </a:tcPr>
                </a:tc>
                <a:tc>
                  <a:txBody>
                    <a:bodyPr/>
                    <a:lstStyle/>
                    <a:p>
                      <a:pPr algn="l">
                        <a:lnSpc>
                          <a:spcPct val="95000"/>
                        </a:lnSpc>
                        <a:spcAft>
                          <a:spcPts val="0"/>
                        </a:spcAft>
                      </a:pPr>
                      <a:r>
                        <a:rPr sz="940" b="0" i="0">
                          <a:solidFill>
                            <a:srgbClr val="334155"/>
                          </a:solidFill>
                          <a:latin typeface="Segoe UI"/>
                        </a:rPr>
                        <a:t>never</a:t>
                      </a:r>
                    </a:p>
                  </a:txBody>
                  <a:tcPr marL="73152" marR="73152" marT="27432" marB="27432" anchor="ctr">
                    <a:solidFill>
                      <a:srgbClr val="F7F9FC"/>
                    </a:solidFill>
                  </a:tcPr>
                </a:tc>
                <a:extLst>
                  <a:ext uri="{0D108BD9-81ED-4DB2-BD59-A6C34878D82A}">
                    <a16:rowId xmlns:a16="http://schemas.microsoft.com/office/drawing/2014/main" val="10004"/>
                  </a:ext>
                </a:extLst>
              </a:tr>
            </a:tbl>
          </a:graphicData>
        </a:graphic>
      </p:graphicFrame>
      <p:sp>
        <p:nvSpPr>
          <p:cNvPr id="28" name="TextBox 27"/>
          <p:cNvSpPr txBox="1"/>
          <p:nvPr/>
        </p:nvSpPr>
        <p:spPr>
          <a:xfrm>
            <a:off x="7635240" y="4242816"/>
            <a:ext cx="3986784" cy="237744"/>
          </a:xfrm>
          <a:prstGeom prst="rect">
            <a:avLst/>
          </a:prstGeom>
          <a:noFill/>
        </p:spPr>
        <p:txBody>
          <a:bodyPr wrap="square" lIns="0" tIns="0" rIns="0" bIns="0" anchor="t">
            <a:spAutoFit/>
          </a:bodyPr>
          <a:lstStyle/>
          <a:p>
            <a:pPr algn="l">
              <a:lnSpc>
                <a:spcPct val="100000"/>
              </a:lnSpc>
            </a:pPr>
            <a:r>
              <a:rPr sz="960" b="1" i="0">
                <a:solidFill>
                  <a:srgbClr val="64748B"/>
                </a:solidFill>
                <a:latin typeface="Segoe UI"/>
              </a:rPr>
              <a:t>THE STORES</a:t>
            </a:r>
          </a:p>
        </p:txBody>
      </p:sp>
      <p:sp>
        <p:nvSpPr>
          <p:cNvPr id="29" name="TextBox 28"/>
          <p:cNvSpPr txBox="1"/>
          <p:nvPr/>
        </p:nvSpPr>
        <p:spPr>
          <a:xfrm>
            <a:off x="7635240" y="4535424"/>
            <a:ext cx="1965960" cy="219456"/>
          </a:xfrm>
          <a:prstGeom prst="rect">
            <a:avLst/>
          </a:prstGeom>
          <a:noFill/>
        </p:spPr>
        <p:txBody>
          <a:bodyPr wrap="square" lIns="0" tIns="0" rIns="0" bIns="0" anchor="t">
            <a:spAutoFit/>
          </a:bodyPr>
          <a:lstStyle/>
          <a:p>
            <a:pPr algn="l">
              <a:lnSpc>
                <a:spcPct val="100000"/>
              </a:lnSpc>
            </a:pPr>
            <a:r>
              <a:rPr sz="854" b="0" i="0">
                <a:solidFill>
                  <a:srgbClr val="475569"/>
                </a:solidFill>
                <a:latin typeface="Consolas"/>
              </a:rPr>
              <a:t>data/faq_kb.md</a:t>
            </a:r>
          </a:p>
        </p:txBody>
      </p:sp>
      <p:sp>
        <p:nvSpPr>
          <p:cNvPr id="30" name="TextBox 29"/>
          <p:cNvSpPr txBox="1"/>
          <p:nvPr/>
        </p:nvSpPr>
        <p:spPr>
          <a:xfrm>
            <a:off x="9646920" y="4535424"/>
            <a:ext cx="2011680" cy="219456"/>
          </a:xfrm>
          <a:prstGeom prst="rect">
            <a:avLst/>
          </a:prstGeom>
          <a:noFill/>
        </p:spPr>
        <p:txBody>
          <a:bodyPr wrap="square" lIns="0" tIns="0" rIns="0" bIns="0" anchor="t">
            <a:spAutoFit/>
          </a:bodyPr>
          <a:lstStyle/>
          <a:p>
            <a:pPr algn="l">
              <a:lnSpc>
                <a:spcPct val="100000"/>
              </a:lnSpc>
            </a:pPr>
            <a:r>
              <a:rPr sz="900" b="0" i="0">
                <a:solidFill>
                  <a:srgbClr val="64748B"/>
                </a:solidFill>
                <a:latin typeface="Segoe UI"/>
              </a:rPr>
              <a:t>12 sections, read only</a:t>
            </a:r>
          </a:p>
        </p:txBody>
      </p:sp>
      <p:sp>
        <p:nvSpPr>
          <p:cNvPr id="31" name="TextBox 30"/>
          <p:cNvSpPr txBox="1"/>
          <p:nvPr/>
        </p:nvSpPr>
        <p:spPr>
          <a:xfrm>
            <a:off x="7635240" y="4828032"/>
            <a:ext cx="1965960" cy="219456"/>
          </a:xfrm>
          <a:prstGeom prst="rect">
            <a:avLst/>
          </a:prstGeom>
          <a:noFill/>
        </p:spPr>
        <p:txBody>
          <a:bodyPr wrap="square" lIns="0" tIns="0" rIns="0" bIns="0" anchor="t">
            <a:spAutoFit/>
          </a:bodyPr>
          <a:lstStyle/>
          <a:p>
            <a:pPr algn="l">
              <a:lnSpc>
                <a:spcPct val="100000"/>
              </a:lnSpc>
            </a:pPr>
            <a:r>
              <a:rPr sz="854" b="0" i="0">
                <a:solidFill>
                  <a:srgbClr val="475569"/>
                </a:solidFill>
                <a:latin typeface="Consolas"/>
              </a:rPr>
              <a:t>data/services.csv</a:t>
            </a:r>
          </a:p>
        </p:txBody>
      </p:sp>
      <p:sp>
        <p:nvSpPr>
          <p:cNvPr id="32" name="TextBox 31"/>
          <p:cNvSpPr txBox="1"/>
          <p:nvPr/>
        </p:nvSpPr>
        <p:spPr>
          <a:xfrm>
            <a:off x="9646920" y="4828032"/>
            <a:ext cx="2011680" cy="219456"/>
          </a:xfrm>
          <a:prstGeom prst="rect">
            <a:avLst/>
          </a:prstGeom>
          <a:noFill/>
        </p:spPr>
        <p:txBody>
          <a:bodyPr wrap="square" lIns="0" tIns="0" rIns="0" bIns="0" anchor="t">
            <a:spAutoFit/>
          </a:bodyPr>
          <a:lstStyle/>
          <a:p>
            <a:pPr algn="l">
              <a:lnSpc>
                <a:spcPct val="100000"/>
              </a:lnSpc>
            </a:pPr>
            <a:r>
              <a:rPr sz="900" b="0" i="0">
                <a:solidFill>
                  <a:srgbClr val="64748B"/>
                </a:solidFill>
                <a:latin typeface="Segoe UI"/>
              </a:rPr>
              <a:t>8 services, read only</a:t>
            </a:r>
          </a:p>
        </p:txBody>
      </p:sp>
      <p:sp>
        <p:nvSpPr>
          <p:cNvPr id="33" name="TextBox 32"/>
          <p:cNvSpPr txBox="1"/>
          <p:nvPr/>
        </p:nvSpPr>
        <p:spPr>
          <a:xfrm>
            <a:off x="7635240" y="5120640"/>
            <a:ext cx="1965960" cy="219456"/>
          </a:xfrm>
          <a:prstGeom prst="rect">
            <a:avLst/>
          </a:prstGeom>
          <a:noFill/>
        </p:spPr>
        <p:txBody>
          <a:bodyPr wrap="square" lIns="0" tIns="0" rIns="0" bIns="0" anchor="t">
            <a:spAutoFit/>
          </a:bodyPr>
          <a:lstStyle/>
          <a:p>
            <a:pPr algn="l">
              <a:lnSpc>
                <a:spcPct val="100000"/>
              </a:lnSpc>
            </a:pPr>
            <a:r>
              <a:rPr sz="854" b="0" i="0">
                <a:solidFill>
                  <a:srgbClr val="475569"/>
                </a:solidFill>
                <a:latin typeface="Consolas"/>
              </a:rPr>
              <a:t>data/availability.csv</a:t>
            </a:r>
          </a:p>
        </p:txBody>
      </p:sp>
      <p:sp>
        <p:nvSpPr>
          <p:cNvPr id="34" name="TextBox 33"/>
          <p:cNvSpPr txBox="1"/>
          <p:nvPr/>
        </p:nvSpPr>
        <p:spPr>
          <a:xfrm>
            <a:off x="9646920" y="5120640"/>
            <a:ext cx="2011680" cy="219456"/>
          </a:xfrm>
          <a:prstGeom prst="rect">
            <a:avLst/>
          </a:prstGeom>
          <a:noFill/>
        </p:spPr>
        <p:txBody>
          <a:bodyPr wrap="square" lIns="0" tIns="0" rIns="0" bIns="0" anchor="t">
            <a:spAutoFit/>
          </a:bodyPr>
          <a:lstStyle/>
          <a:p>
            <a:pPr algn="l">
              <a:lnSpc>
                <a:spcPct val="100000"/>
              </a:lnSpc>
            </a:pPr>
            <a:r>
              <a:rPr sz="900" b="0" i="0">
                <a:solidFill>
                  <a:srgbClr val="64748B"/>
                </a:solidFill>
                <a:latin typeface="Segoe UI"/>
              </a:rPr>
              <a:t>slots, 26 Oct – 7 Nov</a:t>
            </a:r>
          </a:p>
        </p:txBody>
      </p:sp>
      <p:sp>
        <p:nvSpPr>
          <p:cNvPr id="35" name="TextBox 34"/>
          <p:cNvSpPr txBox="1"/>
          <p:nvPr/>
        </p:nvSpPr>
        <p:spPr>
          <a:xfrm>
            <a:off x="7635240" y="5413248"/>
            <a:ext cx="1965960" cy="219456"/>
          </a:xfrm>
          <a:prstGeom prst="rect">
            <a:avLst/>
          </a:prstGeom>
          <a:noFill/>
        </p:spPr>
        <p:txBody>
          <a:bodyPr wrap="square" lIns="0" tIns="0" rIns="0" bIns="0" anchor="t">
            <a:spAutoFit/>
          </a:bodyPr>
          <a:lstStyle/>
          <a:p>
            <a:pPr algn="l">
              <a:lnSpc>
                <a:spcPct val="100000"/>
              </a:lnSpc>
            </a:pPr>
            <a:r>
              <a:rPr sz="854" b="0" i="0">
                <a:solidFill>
                  <a:srgbClr val="475569"/>
                </a:solidFill>
                <a:latin typeface="Consolas"/>
              </a:rPr>
              <a:t>data/bookings.csv</a:t>
            </a:r>
          </a:p>
        </p:txBody>
      </p:sp>
      <p:sp>
        <p:nvSpPr>
          <p:cNvPr id="36" name="TextBox 35"/>
          <p:cNvSpPr txBox="1"/>
          <p:nvPr/>
        </p:nvSpPr>
        <p:spPr>
          <a:xfrm>
            <a:off x="9646920" y="5413248"/>
            <a:ext cx="2011680" cy="219456"/>
          </a:xfrm>
          <a:prstGeom prst="rect">
            <a:avLst/>
          </a:prstGeom>
          <a:noFill/>
        </p:spPr>
        <p:txBody>
          <a:bodyPr wrap="square" lIns="0" tIns="0" rIns="0" bIns="0" anchor="t">
            <a:spAutoFit/>
          </a:bodyPr>
          <a:lstStyle/>
          <a:p>
            <a:pPr algn="l">
              <a:lnSpc>
                <a:spcPct val="100000"/>
              </a:lnSpc>
            </a:pPr>
            <a:r>
              <a:rPr sz="900" b="0" i="0">
                <a:solidFill>
                  <a:srgbClr val="64748B"/>
                </a:solidFill>
                <a:latin typeface="Segoe UI"/>
              </a:rPr>
              <a:t>append-only, one row per booking</a:t>
            </a:r>
          </a:p>
        </p:txBody>
      </p:sp>
      <p:sp>
        <p:nvSpPr>
          <p:cNvPr id="37" name="TextBox 36"/>
          <p:cNvSpPr txBox="1"/>
          <p:nvPr/>
        </p:nvSpPr>
        <p:spPr>
          <a:xfrm>
            <a:off x="7635240" y="5705856"/>
            <a:ext cx="1965960" cy="219456"/>
          </a:xfrm>
          <a:prstGeom prst="rect">
            <a:avLst/>
          </a:prstGeom>
          <a:noFill/>
        </p:spPr>
        <p:txBody>
          <a:bodyPr wrap="square" lIns="0" tIns="0" rIns="0" bIns="0" anchor="t">
            <a:spAutoFit/>
          </a:bodyPr>
          <a:lstStyle/>
          <a:p>
            <a:pPr algn="l">
              <a:lnSpc>
                <a:spcPct val="100000"/>
              </a:lnSpc>
            </a:pPr>
            <a:r>
              <a:rPr sz="854" b="0" i="0">
                <a:solidFill>
                  <a:srgbClr val="475569"/>
                </a:solidFill>
                <a:latin typeface="Consolas"/>
              </a:rPr>
              <a:t>logs/trace.jsonl</a:t>
            </a:r>
          </a:p>
        </p:txBody>
      </p:sp>
      <p:sp>
        <p:nvSpPr>
          <p:cNvPr id="38" name="TextBox 37"/>
          <p:cNvSpPr txBox="1"/>
          <p:nvPr/>
        </p:nvSpPr>
        <p:spPr>
          <a:xfrm>
            <a:off x="9646920" y="5705856"/>
            <a:ext cx="2011680" cy="219456"/>
          </a:xfrm>
          <a:prstGeom prst="rect">
            <a:avLst/>
          </a:prstGeom>
          <a:noFill/>
        </p:spPr>
        <p:txBody>
          <a:bodyPr wrap="square" lIns="0" tIns="0" rIns="0" bIns="0" anchor="t">
            <a:spAutoFit/>
          </a:bodyPr>
          <a:lstStyle/>
          <a:p>
            <a:pPr algn="l">
              <a:lnSpc>
                <a:spcPct val="100000"/>
              </a:lnSpc>
            </a:pPr>
            <a:r>
              <a:rPr sz="900" b="0" i="0">
                <a:solidFill>
                  <a:srgbClr val="64748B"/>
                </a:solidFill>
                <a:latin typeface="Segoe UI"/>
              </a:rPr>
              <a:t>one masked record per turn</a:t>
            </a:r>
          </a:p>
        </p:txBody>
      </p:sp>
      <p:sp>
        <p:nvSpPr>
          <p:cNvPr id="39" name="Rounded Rectangle 38"/>
          <p:cNvSpPr/>
          <p:nvPr/>
        </p:nvSpPr>
        <p:spPr>
          <a:xfrm>
            <a:off x="566928" y="5888736"/>
            <a:ext cx="11057839" cy="457200"/>
          </a:xfrm>
          <a:prstGeom prst="roundRect">
            <a:avLst>
              <a:gd name="adj" fmla="val 8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0" name="TextBox 39"/>
          <p:cNvSpPr txBox="1"/>
          <p:nvPr/>
        </p:nvSpPr>
        <p:spPr>
          <a:xfrm>
            <a:off x="786384" y="5971032"/>
            <a:ext cx="2194560" cy="237744"/>
          </a:xfrm>
          <a:prstGeom prst="rect">
            <a:avLst/>
          </a:prstGeom>
          <a:noFill/>
        </p:spPr>
        <p:txBody>
          <a:bodyPr wrap="square" lIns="0" tIns="0" rIns="0" bIns="0" anchor="t">
            <a:spAutoFit/>
          </a:bodyPr>
          <a:lstStyle/>
          <a:p>
            <a:pPr algn="l">
              <a:lnSpc>
                <a:spcPct val="100000"/>
              </a:lnSpc>
            </a:pPr>
            <a:r>
              <a:rPr sz="940" b="1" i="0">
                <a:solidFill>
                  <a:srgbClr val="B45309"/>
                </a:solidFill>
                <a:latin typeface="Segoe UI"/>
              </a:rPr>
              <a:t>THE WRITE PATH</a:t>
            </a:r>
          </a:p>
        </p:txBody>
      </p:sp>
      <p:sp>
        <p:nvSpPr>
          <p:cNvPr id="41" name="TextBox 40"/>
          <p:cNvSpPr txBox="1"/>
          <p:nvPr/>
        </p:nvSpPr>
        <p:spPr>
          <a:xfrm>
            <a:off x="2761488" y="5971032"/>
            <a:ext cx="8588959" cy="274320"/>
          </a:xfrm>
          <a:prstGeom prst="rect">
            <a:avLst/>
          </a:prstGeom>
          <a:noFill/>
        </p:spPr>
        <p:txBody>
          <a:bodyPr wrap="square" lIns="0" tIns="0" rIns="0" bIns="0" anchor="t">
            <a:spAutoFit/>
          </a:bodyPr>
          <a:lstStyle/>
          <a:p>
            <a:pPr algn="l">
              <a:lnSpc>
                <a:spcPct val="100000"/>
              </a:lnSpc>
            </a:pPr>
            <a:r>
              <a:rPr sz="1000" b="0" i="0">
                <a:solidFill>
                  <a:srgbClr val="334155"/>
                </a:solidFill>
                <a:latin typeface="Segoe UI"/>
              </a:rPr>
              <a:t>consent yes  →  confirm yes  →  re-check the slot is still free  →  validate every field again  →  append one row  →  issue KAC-YYMMDD-NNN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29184"/>
            <a:ext cx="11057839" cy="219456"/>
          </a:xfrm>
          <a:prstGeom prst="rect">
            <a:avLst/>
          </a:prstGeom>
          <a:noFill/>
        </p:spPr>
        <p:txBody>
          <a:bodyPr wrap="square" lIns="0" tIns="0" rIns="0" bIns="0" anchor="t">
            <a:spAutoFit/>
          </a:bodyPr>
          <a:lstStyle/>
          <a:p>
            <a:pPr algn="l">
              <a:lnSpc>
                <a:spcPct val="100000"/>
              </a:lnSpc>
            </a:pPr>
            <a:r>
              <a:rPr sz="1050" b="1" i="0">
                <a:solidFill>
                  <a:srgbClr val="1D4ED8"/>
                </a:solidFill>
                <a:latin typeface="Segoe UI"/>
              </a:rPr>
              <a:t>OPERATION</a:t>
            </a:r>
          </a:p>
        </p:txBody>
      </p:sp>
      <p:sp>
        <p:nvSpPr>
          <p:cNvPr id="4" name="TextBox 3"/>
          <p:cNvSpPr txBox="1"/>
          <p:nvPr/>
        </p:nvSpPr>
        <p:spPr>
          <a:xfrm>
            <a:off x="566928" y="566928"/>
            <a:ext cx="11057839" cy="502920"/>
          </a:xfrm>
          <a:prstGeom prst="rect">
            <a:avLst/>
          </a:prstGeom>
          <a:noFill/>
        </p:spPr>
        <p:txBody>
          <a:bodyPr wrap="square" lIns="0" tIns="0" rIns="0" bIns="0" anchor="t">
            <a:spAutoFit/>
          </a:bodyPr>
          <a:lstStyle/>
          <a:p>
            <a:pPr algn="l">
              <a:lnSpc>
                <a:spcPct val="100000"/>
              </a:lnSpc>
            </a:pPr>
            <a:r>
              <a:rPr sz="2500" b="1" i="0">
                <a:solidFill>
                  <a:srgbClr val="0F172A"/>
                </a:solidFill>
                <a:latin typeface="Segoe UI"/>
              </a:rPr>
              <a:t>Runtime, cost and what the judges actually see</a:t>
            </a:r>
          </a:p>
        </p:txBody>
      </p:sp>
      <p:sp>
        <p:nvSpPr>
          <p:cNvPr id="5" name="Rectangle 4"/>
          <p:cNvSpPr/>
          <p:nvPr/>
        </p:nvSpPr>
        <p:spPr>
          <a:xfrm>
            <a:off x="566928" y="1133856"/>
            <a:ext cx="11057839" cy="12801"/>
          </a:xfrm>
          <a:prstGeom prst="rect">
            <a:avLst/>
          </a:prstGeom>
          <a:solidFill>
            <a:srgbClr val="E3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66928" y="1243584"/>
            <a:ext cx="11057839" cy="274320"/>
          </a:xfrm>
          <a:prstGeom prst="rect">
            <a:avLst/>
          </a:prstGeom>
          <a:noFill/>
        </p:spPr>
        <p:txBody>
          <a:bodyPr wrap="square" lIns="0" tIns="0" rIns="0" bIns="0" anchor="t">
            <a:spAutoFit/>
          </a:bodyPr>
          <a:lstStyle/>
          <a:p>
            <a:pPr algn="l">
              <a:lnSpc>
                <a:spcPct val="100000"/>
              </a:lnSpc>
            </a:pPr>
            <a:r>
              <a:rPr sz="1250" b="0" i="0">
                <a:solidFill>
                  <a:srgbClr val="64748B"/>
                </a:solidFill>
                <a:latin typeface="Segoe UI"/>
              </a:rPr>
              <a:t>The prototype runs live on one Streamlit page: chat, trace, state and a metrics line.</a:t>
            </a:r>
          </a:p>
        </p:txBody>
      </p:sp>
      <p:sp>
        <p:nvSpPr>
          <p:cNvPr id="7" name="TextBox 6"/>
          <p:cNvSpPr txBox="1"/>
          <p:nvPr/>
        </p:nvSpPr>
        <p:spPr>
          <a:xfrm>
            <a:off x="566928" y="6473952"/>
            <a:ext cx="5486400" cy="219456"/>
          </a:xfrm>
          <a:prstGeom prst="rect">
            <a:avLst/>
          </a:prstGeom>
          <a:noFill/>
        </p:spPr>
        <p:txBody>
          <a:bodyPr wrap="square" lIns="0" tIns="0" rIns="0" bIns="0" anchor="t">
            <a:spAutoFit/>
          </a:bodyPr>
          <a:lstStyle/>
          <a:p>
            <a:pPr algn="l">
              <a:lnSpc>
                <a:spcPct val="100000"/>
              </a:lnSpc>
            </a:pPr>
            <a:r>
              <a:rPr sz="900" b="0" i="0">
                <a:solidFill>
                  <a:srgbClr val="94A3B8"/>
                </a:solidFill>
                <a:latin typeface="Segoe UI"/>
              </a:rPr>
              <a:t>Track 2  ·  Kallang Auto Care  ·  AI technical architecture</a:t>
            </a:r>
          </a:p>
        </p:txBody>
      </p:sp>
      <p:sp>
        <p:nvSpPr>
          <p:cNvPr id="8" name="TextBox 7"/>
          <p:cNvSpPr txBox="1"/>
          <p:nvPr/>
        </p:nvSpPr>
        <p:spPr>
          <a:xfrm>
            <a:off x="10527487" y="6473952"/>
            <a:ext cx="1097280" cy="219456"/>
          </a:xfrm>
          <a:prstGeom prst="rect">
            <a:avLst/>
          </a:prstGeom>
          <a:noFill/>
        </p:spPr>
        <p:txBody>
          <a:bodyPr wrap="square" lIns="0" tIns="0" rIns="0" bIns="0" anchor="t">
            <a:spAutoFit/>
          </a:bodyPr>
          <a:lstStyle/>
          <a:p>
            <a:pPr algn="r">
              <a:lnSpc>
                <a:spcPct val="100000"/>
              </a:lnSpc>
            </a:pPr>
            <a:r>
              <a:rPr sz="900" b="0" i="0">
                <a:solidFill>
                  <a:srgbClr val="94A3B8"/>
                </a:solidFill>
                <a:latin typeface="Segoe UI"/>
              </a:rPr>
              <a:t>10</a:t>
            </a:r>
          </a:p>
        </p:txBody>
      </p:sp>
      <p:sp>
        <p:nvSpPr>
          <p:cNvPr id="9" name="Rounded Rectangle 8"/>
          <p:cNvSpPr/>
          <p:nvPr/>
        </p:nvSpPr>
        <p:spPr>
          <a:xfrm>
            <a:off x="566928" y="1481328"/>
            <a:ext cx="5577840" cy="248716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0" name="TextBox 9"/>
          <p:cNvSpPr txBox="1"/>
          <p:nvPr/>
        </p:nvSpPr>
        <p:spPr>
          <a:xfrm>
            <a:off x="768096" y="1627632"/>
            <a:ext cx="5120640" cy="237744"/>
          </a:xfrm>
          <a:prstGeom prst="rect">
            <a:avLst/>
          </a:prstGeom>
          <a:noFill/>
        </p:spPr>
        <p:txBody>
          <a:bodyPr wrap="square" lIns="0" tIns="0" rIns="0" bIns="0" anchor="t">
            <a:spAutoFit/>
          </a:bodyPr>
          <a:lstStyle/>
          <a:p>
            <a:pPr algn="l">
              <a:lnSpc>
                <a:spcPct val="100000"/>
              </a:lnSpc>
            </a:pPr>
            <a:r>
              <a:rPr sz="980" b="1" i="0">
                <a:solidFill>
                  <a:srgbClr val="6D28D9"/>
                </a:solidFill>
                <a:latin typeface="Segoe UI"/>
              </a:rPr>
              <a:t>THE MODEL CALLS IN ONE TURN</a:t>
            </a:r>
          </a:p>
        </p:txBody>
      </p:sp>
      <p:graphicFrame>
        <p:nvGraphicFramePr>
          <p:cNvPr id="11" name="Table 10"/>
          <p:cNvGraphicFramePr>
            <a:graphicFrameLocks noGrp="1"/>
          </p:cNvGraphicFramePr>
          <p:nvPr/>
        </p:nvGraphicFramePr>
        <p:xfrm>
          <a:off x="768096" y="1920240"/>
          <a:ext cx="5175504" cy="877824"/>
        </p:xfrm>
        <a:graphic>
          <a:graphicData uri="http://schemas.openxmlformats.org/drawingml/2006/table">
            <a:tbl>
              <a:tblPr firstRow="1">
                <a:tableStyleId>{5C22544A-7EE6-4342-B048-85BDC9FD1C3A}</a:tableStyleId>
              </a:tblPr>
              <a:tblGrid>
                <a:gridCol w="5029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060704">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292608">
                <a:tc>
                  <a:txBody>
                    <a:bodyPr/>
                    <a:lstStyle/>
                    <a:p>
                      <a:pPr algn="l">
                        <a:lnSpc>
                          <a:spcPct val="95000"/>
                        </a:lnSpc>
                        <a:spcAft>
                          <a:spcPts val="0"/>
                        </a:spcAft>
                      </a:pPr>
                      <a:r>
                        <a:rPr sz="919" b="1" i="0">
                          <a:solidFill>
                            <a:srgbClr val="FFFFFF"/>
                          </a:solidFill>
                          <a:latin typeface="Segoe UI"/>
                        </a:rPr>
                        <a:t>Call</a:t>
                      </a:r>
                    </a:p>
                  </a:txBody>
                  <a:tcPr marL="73152" marR="73152" marT="27432" marB="27432" anchor="ctr">
                    <a:solidFill>
                      <a:srgbClr val="0F172A"/>
                    </a:solidFill>
                  </a:tcPr>
                </a:tc>
                <a:tc>
                  <a:txBody>
                    <a:bodyPr/>
                    <a:lstStyle/>
                    <a:p>
                      <a:pPr algn="l">
                        <a:lnSpc>
                          <a:spcPct val="95000"/>
                        </a:lnSpc>
                        <a:spcAft>
                          <a:spcPts val="0"/>
                        </a:spcAft>
                      </a:pPr>
                      <a:r>
                        <a:rPr sz="919" b="1" i="0">
                          <a:solidFill>
                            <a:srgbClr val="FFFFFF"/>
                          </a:solidFill>
                          <a:latin typeface="Segoe UI"/>
                        </a:rPr>
                        <a:t>Model</a:t>
                      </a:r>
                    </a:p>
                  </a:txBody>
                  <a:tcPr marL="73152" marR="73152" marT="27432" marB="27432" anchor="ctr">
                    <a:solidFill>
                      <a:srgbClr val="0F172A"/>
                    </a:solidFill>
                  </a:tcPr>
                </a:tc>
                <a:tc>
                  <a:txBody>
                    <a:bodyPr/>
                    <a:lstStyle/>
                    <a:p>
                      <a:pPr algn="l">
                        <a:lnSpc>
                          <a:spcPct val="95000"/>
                        </a:lnSpc>
                        <a:spcAft>
                          <a:spcPts val="0"/>
                        </a:spcAft>
                      </a:pPr>
                      <a:r>
                        <a:rPr sz="919" b="1" i="0">
                          <a:solidFill>
                            <a:srgbClr val="FFFFFF"/>
                          </a:solidFill>
                          <a:latin typeface="Segoe UI"/>
                        </a:rPr>
                        <a:t>In / out</a:t>
                      </a:r>
                    </a:p>
                  </a:txBody>
                  <a:tcPr marL="73152" marR="73152" marT="27432" marB="27432" anchor="ctr">
                    <a:solidFill>
                      <a:srgbClr val="0F172A"/>
                    </a:solidFill>
                  </a:tcPr>
                </a:tc>
                <a:tc>
                  <a:txBody>
                    <a:bodyPr/>
                    <a:lstStyle/>
                    <a:p>
                      <a:pPr algn="l">
                        <a:lnSpc>
                          <a:spcPct val="95000"/>
                        </a:lnSpc>
                        <a:spcAft>
                          <a:spcPts val="0"/>
                        </a:spcAft>
                      </a:pPr>
                      <a:r>
                        <a:rPr sz="919" b="1" i="0">
                          <a:solidFill>
                            <a:srgbClr val="FFFFFF"/>
                          </a:solidFill>
                          <a:latin typeface="Segoe UI"/>
                        </a:rPr>
                        <a:t>Purpose</a:t>
                      </a:r>
                    </a:p>
                  </a:txBody>
                  <a:tcPr marL="73152" marR="73152" marT="27432" marB="27432" anchor="ctr">
                    <a:solidFill>
                      <a:srgbClr val="0F172A"/>
                    </a:solidFill>
                  </a:tcPr>
                </a:tc>
                <a:extLst>
                  <a:ext uri="{0D108BD9-81ED-4DB2-BD59-A6C34878D82A}">
                    <a16:rowId xmlns:a16="http://schemas.microsoft.com/office/drawing/2014/main" val="10000"/>
                  </a:ext>
                </a:extLst>
              </a:tr>
              <a:tr h="292608">
                <a:tc>
                  <a:txBody>
                    <a:bodyPr/>
                    <a:lstStyle/>
                    <a:p>
                      <a:pPr algn="l">
                        <a:lnSpc>
                          <a:spcPct val="95000"/>
                        </a:lnSpc>
                        <a:spcAft>
                          <a:spcPts val="0"/>
                        </a:spcAft>
                      </a:pPr>
                      <a:r>
                        <a:rPr sz="919" b="1" i="0">
                          <a:solidFill>
                            <a:srgbClr val="334155"/>
                          </a:solidFill>
                          <a:latin typeface="Segoe UI"/>
                        </a:rPr>
                        <a:t>1</a:t>
                      </a:r>
                    </a:p>
                  </a:txBody>
                  <a:tcPr marL="73152" marR="73152" marT="27432" marB="27432" anchor="ctr">
                    <a:solidFill>
                      <a:srgbClr val="FFFFFF"/>
                    </a:solidFill>
                  </a:tcPr>
                </a:tc>
                <a:tc>
                  <a:txBody>
                    <a:bodyPr/>
                    <a:lstStyle/>
                    <a:p>
                      <a:pPr algn="l">
                        <a:lnSpc>
                          <a:spcPct val="95000"/>
                        </a:lnSpc>
                        <a:spcAft>
                          <a:spcPts val="0"/>
                        </a:spcAft>
                      </a:pPr>
                      <a:r>
                        <a:rPr sz="919" b="0" i="0">
                          <a:solidFill>
                            <a:srgbClr val="334155"/>
                          </a:solidFill>
                          <a:latin typeface="Segoe UI"/>
                        </a:rPr>
                        <a:t>claude-opus-5-5</a:t>
                      </a:r>
                    </a:p>
                  </a:txBody>
                  <a:tcPr marL="73152" marR="73152" marT="27432" marB="27432" anchor="ctr">
                    <a:solidFill>
                      <a:srgbClr val="FFFFFF"/>
                    </a:solidFill>
                  </a:tcPr>
                </a:tc>
                <a:tc>
                  <a:txBody>
                    <a:bodyPr/>
                    <a:lstStyle/>
                    <a:p>
                      <a:pPr algn="l">
                        <a:lnSpc>
                          <a:spcPct val="95000"/>
                        </a:lnSpc>
                        <a:spcAft>
                          <a:spcPts val="0"/>
                        </a:spcAft>
                      </a:pPr>
                      <a:r>
                        <a:rPr sz="919" b="0" i="0">
                          <a:solidFill>
                            <a:srgbClr val="334155"/>
                          </a:solidFill>
                          <a:latin typeface="Segoe UI"/>
                        </a:rPr>
                        <a:t>~450 / ~40</a:t>
                      </a:r>
                    </a:p>
                  </a:txBody>
                  <a:tcPr marL="73152" marR="73152" marT="27432" marB="27432" anchor="ctr">
                    <a:solidFill>
                      <a:srgbClr val="FFFFFF"/>
                    </a:solidFill>
                  </a:tcPr>
                </a:tc>
                <a:tc>
                  <a:txBody>
                    <a:bodyPr/>
                    <a:lstStyle/>
                    <a:p>
                      <a:pPr algn="l">
                        <a:lnSpc>
                          <a:spcPct val="95000"/>
                        </a:lnSpc>
                        <a:spcAft>
                          <a:spcPts val="0"/>
                        </a:spcAft>
                      </a:pPr>
                      <a:r>
                        <a:rPr sz="919" b="0" i="0">
                          <a:solidFill>
                            <a:srgbClr val="334155"/>
                          </a:solidFill>
                          <a:latin typeface="Segoe UI"/>
                        </a:rPr>
                        <a:t>route the message</a:t>
                      </a:r>
                    </a:p>
                  </a:txBody>
                  <a:tcPr marL="73152" marR="73152" marT="27432" marB="27432" anchor="ctr">
                    <a:solidFill>
                      <a:srgbClr val="FFFFFF"/>
                    </a:solidFill>
                  </a:tcPr>
                </a:tc>
                <a:extLst>
                  <a:ext uri="{0D108BD9-81ED-4DB2-BD59-A6C34878D82A}">
                    <a16:rowId xmlns:a16="http://schemas.microsoft.com/office/drawing/2014/main" val="10001"/>
                  </a:ext>
                </a:extLst>
              </a:tr>
              <a:tr h="292608">
                <a:tc>
                  <a:txBody>
                    <a:bodyPr/>
                    <a:lstStyle/>
                    <a:p>
                      <a:pPr algn="l">
                        <a:lnSpc>
                          <a:spcPct val="95000"/>
                        </a:lnSpc>
                        <a:spcAft>
                          <a:spcPts val="0"/>
                        </a:spcAft>
                      </a:pPr>
                      <a:r>
                        <a:rPr sz="919" b="1" i="0">
                          <a:solidFill>
                            <a:srgbClr val="334155"/>
                          </a:solidFill>
                          <a:latin typeface="Segoe UI"/>
                        </a:rPr>
                        <a:t>2</a:t>
                      </a:r>
                    </a:p>
                  </a:txBody>
                  <a:tcPr marL="73152" marR="73152" marT="27432" marB="27432" anchor="ctr">
                    <a:solidFill>
                      <a:srgbClr val="F7F9FC"/>
                    </a:solidFill>
                  </a:tcPr>
                </a:tc>
                <a:tc>
                  <a:txBody>
                    <a:bodyPr/>
                    <a:lstStyle/>
                    <a:p>
                      <a:pPr algn="l">
                        <a:lnSpc>
                          <a:spcPct val="95000"/>
                        </a:lnSpc>
                        <a:spcAft>
                          <a:spcPts val="0"/>
                        </a:spcAft>
                      </a:pPr>
                      <a:r>
                        <a:rPr sz="919" b="0" i="0">
                          <a:solidFill>
                            <a:srgbClr val="334155"/>
                          </a:solidFill>
                          <a:latin typeface="Segoe UI"/>
                        </a:rPr>
                        <a:t>claude-opus-5-5</a:t>
                      </a:r>
                    </a:p>
                  </a:txBody>
                  <a:tcPr marL="73152" marR="73152" marT="27432" marB="27432" anchor="ctr">
                    <a:solidFill>
                      <a:srgbClr val="F7F9FC"/>
                    </a:solidFill>
                  </a:tcPr>
                </a:tc>
                <a:tc>
                  <a:txBody>
                    <a:bodyPr/>
                    <a:lstStyle/>
                    <a:p>
                      <a:pPr algn="l">
                        <a:lnSpc>
                          <a:spcPct val="95000"/>
                        </a:lnSpc>
                        <a:spcAft>
                          <a:spcPts val="0"/>
                        </a:spcAft>
                      </a:pPr>
                      <a:r>
                        <a:rPr sz="919" b="0" i="0">
                          <a:solidFill>
                            <a:srgbClr val="334155"/>
                          </a:solidFill>
                          <a:latin typeface="Segoe UI"/>
                        </a:rPr>
                        <a:t>~1.2k / ~150</a:t>
                      </a:r>
                    </a:p>
                  </a:txBody>
                  <a:tcPr marL="73152" marR="73152" marT="27432" marB="27432" anchor="ctr">
                    <a:solidFill>
                      <a:srgbClr val="F7F9FC"/>
                    </a:solidFill>
                  </a:tcPr>
                </a:tc>
                <a:tc>
                  <a:txBody>
                    <a:bodyPr/>
                    <a:lstStyle/>
                    <a:p>
                      <a:pPr algn="l">
                        <a:lnSpc>
                          <a:spcPct val="95000"/>
                        </a:lnSpc>
                        <a:spcAft>
                          <a:spcPts val="0"/>
                        </a:spcAft>
                      </a:pPr>
                      <a:r>
                        <a:rPr sz="919" b="0" i="0">
                          <a:solidFill>
                            <a:srgbClr val="334155"/>
                          </a:solidFill>
                          <a:latin typeface="Segoe UI"/>
                        </a:rPr>
                        <a:t>answer, or extract a value</a:t>
                      </a:r>
                    </a:p>
                  </a:txBody>
                  <a:tcPr marL="73152" marR="73152" marT="27432" marB="27432" anchor="ctr">
                    <a:solidFill>
                      <a:srgbClr val="F7F9FC"/>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768096" y="2889504"/>
            <a:ext cx="5175504" cy="1005840"/>
          </a:xfrm>
          <a:prstGeom prst="rect">
            <a:avLst/>
          </a:prstGeom>
          <a:noFill/>
        </p:spPr>
        <p:txBody>
          <a:bodyPr wrap="square" lIns="0" tIns="0" rIns="0" bIns="0">
            <a:spAutoFit/>
          </a:bodyPr>
          <a:lstStyle/>
          <a:p>
            <a:pPr>
              <a:lnSpc>
                <a:spcPct val="106000"/>
              </a:lnSpc>
              <a:spcAft>
                <a:spcPts val="500"/>
              </a:spcAft>
            </a:pPr>
            <a:r>
              <a:rPr sz="940" b="1">
                <a:solidFill>
                  <a:srgbClr val="6D28D9"/>
                </a:solidFill>
                <a:latin typeface="Segoe UI"/>
              </a:rPr>
              <a:t>▪  </a:t>
            </a:r>
            <a:r>
              <a:rPr sz="940" b="0" i="0">
                <a:solidFill>
                  <a:srgbClr val="334155"/>
                </a:solidFill>
                <a:latin typeface="Segoe UI"/>
              </a:rPr>
              <a:t>Two calls maximum per customer message; </a:t>
            </a:r>
            <a:r>
              <a:rPr sz="893" b="0" i="0">
                <a:solidFill>
                  <a:srgbClr val="334155"/>
                </a:solidFill>
                <a:latin typeface="Consolas"/>
              </a:rPr>
              <a:t>handoff</a:t>
            </a:r>
            <a:r>
              <a:rPr sz="940" b="0" i="0">
                <a:solidFill>
                  <a:srgbClr val="334155"/>
                </a:solidFill>
                <a:latin typeface="Segoe UI"/>
              </a:rPr>
              <a:t> and </a:t>
            </a:r>
            <a:r>
              <a:rPr sz="893" b="0" i="0">
                <a:solidFill>
                  <a:srgbClr val="334155"/>
                </a:solidFill>
                <a:latin typeface="Consolas"/>
              </a:rPr>
              <a:t>out_of_scope</a:t>
            </a:r>
            <a:r>
              <a:rPr sz="940" b="0" i="0">
                <a:solidFill>
                  <a:srgbClr val="334155"/>
                </a:solidFill>
                <a:latin typeface="Segoe UI"/>
              </a:rPr>
              <a:t> use </a:t>
            </a:r>
            <a:r>
              <a:rPr sz="940" b="1" i="0">
                <a:solidFill>
                  <a:srgbClr val="334155"/>
                </a:solidFill>
                <a:latin typeface="Segoe UI"/>
              </a:rPr>
              <a:t>zero</a:t>
            </a:r>
          </a:p>
          <a:p>
            <a:pPr>
              <a:lnSpc>
                <a:spcPct val="106000"/>
              </a:lnSpc>
              <a:spcAft>
                <a:spcPts val="500"/>
              </a:spcAft>
            </a:pPr>
            <a:r>
              <a:rPr sz="940" b="1">
                <a:solidFill>
                  <a:srgbClr val="6D28D9"/>
                </a:solidFill>
                <a:latin typeface="Segoe UI"/>
              </a:rPr>
              <a:t>▪  </a:t>
            </a:r>
            <a:r>
              <a:rPr sz="940" b="0" i="0">
                <a:solidFill>
                  <a:srgbClr val="334155"/>
                </a:solidFill>
                <a:latin typeface="Segoe UI"/>
              </a:rPr>
              <a:t>The stable prefix — system prompt plus KB section — is sent with </a:t>
            </a:r>
            <a:r>
              <a:rPr sz="940" b="1" i="0">
                <a:solidFill>
                  <a:srgbClr val="334155"/>
                </a:solidFill>
                <a:latin typeface="Segoe UI"/>
              </a:rPr>
              <a:t>prompt caching</a:t>
            </a:r>
            <a:r>
              <a:rPr sz="940" b="0" i="0">
                <a:solidFill>
                  <a:srgbClr val="334155"/>
                </a:solidFill>
                <a:latin typeface="Segoe UI"/>
              </a:rPr>
              <a:t>, so repeat questions cost a fraction</a:t>
            </a:r>
          </a:p>
          <a:p>
            <a:pPr>
              <a:lnSpc>
                <a:spcPct val="106000"/>
              </a:lnSpc>
              <a:spcAft>
                <a:spcPts val="500"/>
              </a:spcAft>
            </a:pPr>
            <a:r>
              <a:rPr sz="940" b="1">
                <a:solidFill>
                  <a:srgbClr val="6D28D9"/>
                </a:solidFill>
                <a:latin typeface="Segoe UI"/>
              </a:rPr>
              <a:t>▪  </a:t>
            </a:r>
            <a:r>
              <a:rPr sz="940" b="0" i="0">
                <a:solidFill>
                  <a:srgbClr val="334155"/>
                </a:solidFill>
                <a:latin typeface="Segoe UI"/>
              </a:rPr>
              <a:t>At Opus 5.5 rates a turn costs about </a:t>
            </a:r>
            <a:r>
              <a:rPr sz="940" b="1" i="0">
                <a:solidFill>
                  <a:srgbClr val="334155"/>
                </a:solidFill>
                <a:latin typeface="Segoe UI"/>
              </a:rPr>
              <a:t>$0.01</a:t>
            </a:r>
            <a:r>
              <a:rPr sz="940" b="0" i="0">
                <a:solidFill>
                  <a:srgbClr val="334155"/>
                </a:solidFill>
                <a:latin typeface="Segoe UI"/>
              </a:rPr>
              <a:t>; a cheaper router model is a config flag, switched only if a measurement supports it</a:t>
            </a:r>
          </a:p>
        </p:txBody>
      </p:sp>
      <p:sp>
        <p:nvSpPr>
          <p:cNvPr id="13" name="Rounded Rectangle 12"/>
          <p:cNvSpPr/>
          <p:nvPr/>
        </p:nvSpPr>
        <p:spPr>
          <a:xfrm>
            <a:off x="6446520" y="1481328"/>
            <a:ext cx="5175504" cy="248716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14" name="TextBox 13"/>
          <p:cNvSpPr txBox="1"/>
          <p:nvPr/>
        </p:nvSpPr>
        <p:spPr>
          <a:xfrm>
            <a:off x="6647688" y="1627632"/>
            <a:ext cx="4754880" cy="237744"/>
          </a:xfrm>
          <a:prstGeom prst="rect">
            <a:avLst/>
          </a:prstGeom>
          <a:noFill/>
        </p:spPr>
        <p:txBody>
          <a:bodyPr wrap="square" lIns="0" tIns="0" rIns="0" bIns="0" anchor="t">
            <a:spAutoFit/>
          </a:bodyPr>
          <a:lstStyle/>
          <a:p>
            <a:pPr algn="l">
              <a:lnSpc>
                <a:spcPct val="100000"/>
              </a:lnSpc>
            </a:pPr>
            <a:r>
              <a:rPr sz="980" b="1" i="0">
                <a:solidFill>
                  <a:srgbClr val="0F766E"/>
                </a:solidFill>
                <a:latin typeface="Segoe UI"/>
              </a:rPr>
              <a:t>THE ONE PAGE — app.py</a:t>
            </a:r>
          </a:p>
        </p:txBody>
      </p:sp>
      <p:sp>
        <p:nvSpPr>
          <p:cNvPr id="15" name="Rounded Rectangle 14"/>
          <p:cNvSpPr/>
          <p:nvPr/>
        </p:nvSpPr>
        <p:spPr>
          <a:xfrm>
            <a:off x="6647688" y="1938528"/>
            <a:ext cx="4773168" cy="438912"/>
          </a:xfrm>
          <a:prstGeom prst="roundRect">
            <a:avLst>
              <a:gd name="adj" fmla="val 10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647688" y="1938528"/>
            <a:ext cx="50292" cy="43891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812280" y="1984248"/>
            <a:ext cx="1325880" cy="219456"/>
          </a:xfrm>
          <a:prstGeom prst="rect">
            <a:avLst/>
          </a:prstGeom>
          <a:noFill/>
        </p:spPr>
        <p:txBody>
          <a:bodyPr wrap="square" lIns="0" tIns="0" rIns="0" bIns="0" anchor="t">
            <a:spAutoFit/>
          </a:bodyPr>
          <a:lstStyle/>
          <a:p>
            <a:pPr algn="l">
              <a:lnSpc>
                <a:spcPct val="100000"/>
              </a:lnSpc>
            </a:pPr>
            <a:r>
              <a:rPr sz="960" b="1" i="0">
                <a:solidFill>
                  <a:srgbClr val="0F766E"/>
                </a:solidFill>
                <a:latin typeface="Segoe UI"/>
              </a:rPr>
              <a:t>Input</a:t>
            </a:r>
          </a:p>
        </p:txBody>
      </p:sp>
      <p:sp>
        <p:nvSpPr>
          <p:cNvPr id="18" name="TextBox 17"/>
          <p:cNvSpPr txBox="1"/>
          <p:nvPr/>
        </p:nvSpPr>
        <p:spPr>
          <a:xfrm>
            <a:off x="8156448" y="1984248"/>
            <a:ext cx="3200400" cy="347472"/>
          </a:xfrm>
          <a:prstGeom prst="rect">
            <a:avLst/>
          </a:prstGeom>
          <a:noFill/>
        </p:spPr>
        <p:txBody>
          <a:bodyPr wrap="square" lIns="0" tIns="0" rIns="0" bIns="0" anchor="t">
            <a:spAutoFit/>
          </a:bodyPr>
          <a:lstStyle/>
          <a:p>
            <a:pPr algn="l">
              <a:lnSpc>
                <a:spcPct val="106000"/>
              </a:lnSpc>
            </a:pPr>
            <a:r>
              <a:rPr sz="880" b="0" i="0">
                <a:solidFill>
                  <a:srgbClr val="64748B"/>
                </a:solidFill>
                <a:latin typeface="Segoe UI"/>
              </a:rPr>
              <a:t>paste or type a message — the chat history</a:t>
            </a:r>
          </a:p>
        </p:txBody>
      </p:sp>
      <p:sp>
        <p:nvSpPr>
          <p:cNvPr id="19" name="Rounded Rectangle 18"/>
          <p:cNvSpPr/>
          <p:nvPr/>
        </p:nvSpPr>
        <p:spPr>
          <a:xfrm>
            <a:off x="6647688" y="2432304"/>
            <a:ext cx="4773168" cy="438912"/>
          </a:xfrm>
          <a:prstGeom prst="roundRect">
            <a:avLst>
              <a:gd name="adj" fmla="val 10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647688" y="2432304"/>
            <a:ext cx="50292" cy="43891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812280" y="2478024"/>
            <a:ext cx="1325880" cy="219456"/>
          </a:xfrm>
          <a:prstGeom prst="rect">
            <a:avLst/>
          </a:prstGeom>
          <a:noFill/>
        </p:spPr>
        <p:txBody>
          <a:bodyPr wrap="square" lIns="0" tIns="0" rIns="0" bIns="0" anchor="t">
            <a:spAutoFit/>
          </a:bodyPr>
          <a:lstStyle/>
          <a:p>
            <a:pPr algn="l">
              <a:lnSpc>
                <a:spcPct val="100000"/>
              </a:lnSpc>
            </a:pPr>
            <a:r>
              <a:rPr sz="960" b="1" i="0">
                <a:solidFill>
                  <a:srgbClr val="B45309"/>
                </a:solidFill>
                <a:latin typeface="Segoe UI"/>
              </a:rPr>
              <a:t>Booking state</a:t>
            </a:r>
          </a:p>
        </p:txBody>
      </p:sp>
      <p:sp>
        <p:nvSpPr>
          <p:cNvPr id="22" name="TextBox 21"/>
          <p:cNvSpPr txBox="1"/>
          <p:nvPr/>
        </p:nvSpPr>
        <p:spPr>
          <a:xfrm>
            <a:off x="8156448" y="2478024"/>
            <a:ext cx="3200400" cy="347472"/>
          </a:xfrm>
          <a:prstGeom prst="rect">
            <a:avLst/>
          </a:prstGeom>
          <a:noFill/>
        </p:spPr>
        <p:txBody>
          <a:bodyPr wrap="square" lIns="0" tIns="0" rIns="0" bIns="0" anchor="t">
            <a:spAutoFit/>
          </a:bodyPr>
          <a:lstStyle/>
          <a:p>
            <a:pPr algn="l">
              <a:lnSpc>
                <a:spcPct val="106000"/>
              </a:lnSpc>
            </a:pPr>
            <a:r>
              <a:rPr sz="880" b="0" i="0">
                <a:solidFill>
                  <a:srgbClr val="64748B"/>
                </a:solidFill>
                <a:latin typeface="Segoe UI"/>
              </a:rPr>
              <a:t>the current state, the fields filled, the field asked for</a:t>
            </a:r>
          </a:p>
        </p:txBody>
      </p:sp>
      <p:sp>
        <p:nvSpPr>
          <p:cNvPr id="23" name="Rounded Rectangle 22"/>
          <p:cNvSpPr/>
          <p:nvPr/>
        </p:nvSpPr>
        <p:spPr>
          <a:xfrm>
            <a:off x="6647688" y="2926080"/>
            <a:ext cx="4773168" cy="438912"/>
          </a:xfrm>
          <a:prstGeom prst="roundRect">
            <a:avLst>
              <a:gd name="adj" fmla="val 10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647688" y="2926080"/>
            <a:ext cx="50292" cy="438912"/>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6812280" y="2971800"/>
            <a:ext cx="1325880" cy="219456"/>
          </a:xfrm>
          <a:prstGeom prst="rect">
            <a:avLst/>
          </a:prstGeom>
          <a:noFill/>
        </p:spPr>
        <p:txBody>
          <a:bodyPr wrap="square" lIns="0" tIns="0" rIns="0" bIns="0" anchor="t">
            <a:spAutoFit/>
          </a:bodyPr>
          <a:lstStyle/>
          <a:p>
            <a:pPr algn="l">
              <a:lnSpc>
                <a:spcPct val="100000"/>
              </a:lnSpc>
            </a:pPr>
            <a:r>
              <a:rPr sz="960" b="1" i="0">
                <a:solidFill>
                  <a:srgbClr val="475569"/>
                </a:solidFill>
                <a:latin typeface="Segoe UI"/>
              </a:rPr>
              <a:t>Workflow trace</a:t>
            </a:r>
          </a:p>
        </p:txBody>
      </p:sp>
      <p:sp>
        <p:nvSpPr>
          <p:cNvPr id="26" name="TextBox 25"/>
          <p:cNvSpPr txBox="1"/>
          <p:nvPr/>
        </p:nvSpPr>
        <p:spPr>
          <a:xfrm>
            <a:off x="8156448" y="2971800"/>
            <a:ext cx="3200400" cy="347472"/>
          </a:xfrm>
          <a:prstGeom prst="rect">
            <a:avLst/>
          </a:prstGeom>
          <a:noFill/>
        </p:spPr>
        <p:txBody>
          <a:bodyPr wrap="square" lIns="0" tIns="0" rIns="0" bIns="0" anchor="t">
            <a:spAutoFit/>
          </a:bodyPr>
          <a:lstStyle/>
          <a:p>
            <a:pPr algn="l">
              <a:lnSpc>
                <a:spcPct val="106000"/>
              </a:lnSpc>
            </a:pPr>
            <a:r>
              <a:rPr sz="880" b="0" i="0">
                <a:solidFill>
                  <a:srgbClr val="64748B"/>
                </a:solidFill>
                <a:latin typeface="Segoe UI"/>
              </a:rPr>
              <a:t>each step in order: route, state, section cited, tokens</a:t>
            </a:r>
          </a:p>
        </p:txBody>
      </p:sp>
      <p:sp>
        <p:nvSpPr>
          <p:cNvPr id="27" name="Rounded Rectangle 26"/>
          <p:cNvSpPr/>
          <p:nvPr/>
        </p:nvSpPr>
        <p:spPr>
          <a:xfrm>
            <a:off x="6647688" y="3419856"/>
            <a:ext cx="4773168" cy="438912"/>
          </a:xfrm>
          <a:prstGeom prst="roundRect">
            <a:avLst>
              <a:gd name="adj" fmla="val 10000"/>
            </a:avLst>
          </a:prstGeom>
          <a:solidFill>
            <a:srgbClr val="F7F9FC"/>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647688" y="3419856"/>
            <a:ext cx="50292" cy="43891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6812280" y="3465576"/>
            <a:ext cx="1325880" cy="219456"/>
          </a:xfrm>
          <a:prstGeom prst="rect">
            <a:avLst/>
          </a:prstGeom>
          <a:noFill/>
        </p:spPr>
        <p:txBody>
          <a:bodyPr wrap="square" lIns="0" tIns="0" rIns="0" bIns="0" anchor="t">
            <a:spAutoFit/>
          </a:bodyPr>
          <a:lstStyle/>
          <a:p>
            <a:pPr algn="l">
              <a:lnSpc>
                <a:spcPct val="100000"/>
              </a:lnSpc>
            </a:pPr>
            <a:r>
              <a:rPr sz="960" b="1" i="0">
                <a:solidFill>
                  <a:srgbClr val="6D28D9"/>
                </a:solidFill>
                <a:latin typeface="Segoe UI"/>
              </a:rPr>
              <a:t>Metrics</a:t>
            </a:r>
          </a:p>
        </p:txBody>
      </p:sp>
      <p:sp>
        <p:nvSpPr>
          <p:cNvPr id="30" name="TextBox 29"/>
          <p:cNvSpPr txBox="1"/>
          <p:nvPr/>
        </p:nvSpPr>
        <p:spPr>
          <a:xfrm>
            <a:off x="8156448" y="3465576"/>
            <a:ext cx="3200400" cy="347472"/>
          </a:xfrm>
          <a:prstGeom prst="rect">
            <a:avLst/>
          </a:prstGeom>
          <a:noFill/>
        </p:spPr>
        <p:txBody>
          <a:bodyPr wrap="square" lIns="0" tIns="0" rIns="0" bIns="0" anchor="t">
            <a:spAutoFit/>
          </a:bodyPr>
          <a:lstStyle/>
          <a:p>
            <a:pPr algn="l">
              <a:lnSpc>
                <a:spcPct val="106000"/>
              </a:lnSpc>
            </a:pPr>
            <a:r>
              <a:rPr sz="880" b="0" i="0">
                <a:solidFill>
                  <a:srgbClr val="64748B"/>
                </a:solidFill>
                <a:latin typeface="Segoe UI"/>
              </a:rPr>
              <a:t>tokens · cost · seconds for the last turn and the session</a:t>
            </a:r>
          </a:p>
        </p:txBody>
      </p:sp>
      <p:sp>
        <p:nvSpPr>
          <p:cNvPr id="31" name="TextBox 30"/>
          <p:cNvSpPr txBox="1"/>
          <p:nvPr/>
        </p:nvSpPr>
        <p:spPr>
          <a:xfrm>
            <a:off x="566928" y="4151376"/>
            <a:ext cx="11057839" cy="237744"/>
          </a:xfrm>
          <a:prstGeom prst="rect">
            <a:avLst/>
          </a:prstGeom>
          <a:noFill/>
        </p:spPr>
        <p:txBody>
          <a:bodyPr wrap="square" lIns="0" tIns="0" rIns="0" bIns="0" anchor="t">
            <a:spAutoFit/>
          </a:bodyPr>
          <a:lstStyle/>
          <a:p>
            <a:pPr algn="l">
              <a:lnSpc>
                <a:spcPct val="100000"/>
              </a:lnSpc>
            </a:pPr>
            <a:r>
              <a:rPr sz="960" b="1" i="0">
                <a:solidFill>
                  <a:srgbClr val="64748B"/>
                </a:solidFill>
                <a:latin typeface="Segoe UI"/>
              </a:rPr>
              <a:t>WHAT MUST BE TRUE BY 12:30 — THE ACCEPTANCE GATE</a:t>
            </a:r>
          </a:p>
        </p:txBody>
      </p:sp>
      <p:sp>
        <p:nvSpPr>
          <p:cNvPr id="32" name="Rounded Rectangle 31"/>
          <p:cNvSpPr/>
          <p:nvPr/>
        </p:nvSpPr>
        <p:spPr>
          <a:xfrm>
            <a:off x="566928" y="4443984"/>
            <a:ext cx="2094524" cy="129844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3" name="TextBox 32"/>
          <p:cNvSpPr txBox="1"/>
          <p:nvPr/>
        </p:nvSpPr>
        <p:spPr>
          <a:xfrm>
            <a:off x="713232" y="4553712"/>
            <a:ext cx="1801916" cy="274320"/>
          </a:xfrm>
          <a:prstGeom prst="rect">
            <a:avLst/>
          </a:prstGeom>
          <a:noFill/>
        </p:spPr>
        <p:txBody>
          <a:bodyPr wrap="square" lIns="0" tIns="0" rIns="0" bIns="0" anchor="t">
            <a:spAutoFit/>
          </a:bodyPr>
          <a:lstStyle/>
          <a:p>
            <a:pPr algn="l">
              <a:lnSpc>
                <a:spcPct val="105000"/>
              </a:lnSpc>
            </a:pPr>
            <a:r>
              <a:rPr sz="980" b="1" i="0">
                <a:solidFill>
                  <a:srgbClr val="0F172A"/>
                </a:solidFill>
                <a:latin typeface="Segoe UI"/>
              </a:rPr>
              <a:t>The router works</a:t>
            </a:r>
          </a:p>
        </p:txBody>
      </p:sp>
      <p:sp>
        <p:nvSpPr>
          <p:cNvPr id="34" name="TextBox 33"/>
          <p:cNvSpPr txBox="1"/>
          <p:nvPr/>
        </p:nvSpPr>
        <p:spPr>
          <a:xfrm>
            <a:off x="713232" y="4956048"/>
            <a:ext cx="1801916" cy="731520"/>
          </a:xfrm>
          <a:prstGeom prst="rect">
            <a:avLst/>
          </a:prstGeom>
          <a:noFill/>
        </p:spPr>
        <p:txBody>
          <a:bodyPr wrap="square" lIns="0" tIns="0" rIns="0" bIns="0" anchor="t">
            <a:spAutoFit/>
          </a:bodyPr>
          <a:lstStyle/>
          <a:p>
            <a:pPr algn="l">
              <a:lnSpc>
                <a:spcPct val="110000"/>
              </a:lnSpc>
            </a:pPr>
            <a:r>
              <a:rPr sz="900" b="0" i="0">
                <a:solidFill>
                  <a:srgbClr val="64748B"/>
                </a:solidFill>
                <a:latin typeface="Segoe UI"/>
              </a:rPr>
              <a:t>every scripted message lands on the expected route, and the trace shows it</a:t>
            </a:r>
          </a:p>
        </p:txBody>
      </p:sp>
      <p:sp>
        <p:nvSpPr>
          <p:cNvPr id="35" name="Rectangle 34"/>
          <p:cNvSpPr/>
          <p:nvPr/>
        </p:nvSpPr>
        <p:spPr>
          <a:xfrm>
            <a:off x="566928" y="4443984"/>
            <a:ext cx="2094524"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ounded Rectangle 35"/>
          <p:cNvSpPr/>
          <p:nvPr/>
        </p:nvSpPr>
        <p:spPr>
          <a:xfrm>
            <a:off x="2807756" y="4443984"/>
            <a:ext cx="2094524" cy="129844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37" name="TextBox 36"/>
          <p:cNvSpPr txBox="1"/>
          <p:nvPr/>
        </p:nvSpPr>
        <p:spPr>
          <a:xfrm>
            <a:off x="2954060" y="4553712"/>
            <a:ext cx="1801916" cy="274320"/>
          </a:xfrm>
          <a:prstGeom prst="rect">
            <a:avLst/>
          </a:prstGeom>
          <a:noFill/>
        </p:spPr>
        <p:txBody>
          <a:bodyPr wrap="square" lIns="0" tIns="0" rIns="0" bIns="0" anchor="t">
            <a:spAutoFit/>
          </a:bodyPr>
          <a:lstStyle/>
          <a:p>
            <a:pPr algn="l">
              <a:lnSpc>
                <a:spcPct val="105000"/>
              </a:lnSpc>
            </a:pPr>
            <a:r>
              <a:rPr sz="980" b="1" i="0">
                <a:solidFill>
                  <a:srgbClr val="0F172A"/>
                </a:solidFill>
                <a:latin typeface="Segoe UI"/>
              </a:rPr>
              <a:t>The FAQ cites its section</a:t>
            </a:r>
          </a:p>
        </p:txBody>
      </p:sp>
      <p:sp>
        <p:nvSpPr>
          <p:cNvPr id="38" name="TextBox 37"/>
          <p:cNvSpPr txBox="1"/>
          <p:nvPr/>
        </p:nvSpPr>
        <p:spPr>
          <a:xfrm>
            <a:off x="2954060" y="4956048"/>
            <a:ext cx="1801916" cy="731520"/>
          </a:xfrm>
          <a:prstGeom prst="rect">
            <a:avLst/>
          </a:prstGeom>
          <a:noFill/>
        </p:spPr>
        <p:txBody>
          <a:bodyPr wrap="square" lIns="0" tIns="0" rIns="0" bIns="0" anchor="t">
            <a:spAutoFit/>
          </a:bodyPr>
          <a:lstStyle/>
          <a:p>
            <a:pPr algn="l">
              <a:lnSpc>
                <a:spcPct val="110000"/>
              </a:lnSpc>
            </a:pPr>
            <a:r>
              <a:rPr sz="900" b="0" i="0">
                <a:solidFill>
                  <a:srgbClr val="64748B"/>
                </a:solidFill>
                <a:latin typeface="Segoe UI"/>
              </a:rPr>
              <a:t>the reply names the section it came from, or says it does not know</a:t>
            </a:r>
          </a:p>
        </p:txBody>
      </p:sp>
      <p:sp>
        <p:nvSpPr>
          <p:cNvPr id="39" name="Rectangle 38"/>
          <p:cNvSpPr/>
          <p:nvPr/>
        </p:nvSpPr>
        <p:spPr>
          <a:xfrm>
            <a:off x="2807756" y="4443984"/>
            <a:ext cx="2094524"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ounded Rectangle 39"/>
          <p:cNvSpPr/>
          <p:nvPr/>
        </p:nvSpPr>
        <p:spPr>
          <a:xfrm>
            <a:off x="5048585" y="4443984"/>
            <a:ext cx="2094524" cy="129844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1" name="TextBox 40"/>
          <p:cNvSpPr txBox="1"/>
          <p:nvPr/>
        </p:nvSpPr>
        <p:spPr>
          <a:xfrm>
            <a:off x="5194889" y="4553712"/>
            <a:ext cx="1801916" cy="274320"/>
          </a:xfrm>
          <a:prstGeom prst="rect">
            <a:avLst/>
          </a:prstGeom>
          <a:noFill/>
        </p:spPr>
        <p:txBody>
          <a:bodyPr wrap="square" lIns="0" tIns="0" rIns="0" bIns="0" anchor="t">
            <a:spAutoFit/>
          </a:bodyPr>
          <a:lstStyle/>
          <a:p>
            <a:pPr algn="l">
              <a:lnSpc>
                <a:spcPct val="105000"/>
              </a:lnSpc>
            </a:pPr>
            <a:r>
              <a:rPr sz="980" b="1" i="0">
                <a:solidFill>
                  <a:srgbClr val="0F172A"/>
                </a:solidFill>
                <a:latin typeface="Segoe UI"/>
              </a:rPr>
              <a:t>A booking is saved with a reference</a:t>
            </a:r>
          </a:p>
        </p:txBody>
      </p:sp>
      <p:sp>
        <p:nvSpPr>
          <p:cNvPr id="42" name="TextBox 41"/>
          <p:cNvSpPr txBox="1"/>
          <p:nvPr/>
        </p:nvSpPr>
        <p:spPr>
          <a:xfrm>
            <a:off x="5194889" y="4956048"/>
            <a:ext cx="1801916" cy="731520"/>
          </a:xfrm>
          <a:prstGeom prst="rect">
            <a:avLst/>
          </a:prstGeom>
          <a:noFill/>
        </p:spPr>
        <p:txBody>
          <a:bodyPr wrap="square" lIns="0" tIns="0" rIns="0" bIns="0" anchor="t">
            <a:spAutoFit/>
          </a:bodyPr>
          <a:lstStyle/>
          <a:p>
            <a:pPr algn="l">
              <a:lnSpc>
                <a:spcPct val="110000"/>
              </a:lnSpc>
            </a:pPr>
            <a:r>
              <a:rPr sz="900" b="0" i="0">
                <a:solidFill>
                  <a:srgbClr val="64748B"/>
                </a:solidFill>
                <a:latin typeface="Segoe UI"/>
              </a:rPr>
              <a:t>one row in bookings.csv with a KAC-YYMMDD-NNN reference</a:t>
            </a:r>
          </a:p>
        </p:txBody>
      </p:sp>
      <p:sp>
        <p:nvSpPr>
          <p:cNvPr id="43" name="Rectangle 42"/>
          <p:cNvSpPr/>
          <p:nvPr/>
        </p:nvSpPr>
        <p:spPr>
          <a:xfrm>
            <a:off x="5048585" y="4443984"/>
            <a:ext cx="2094524"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ounded Rectangle 43"/>
          <p:cNvSpPr/>
          <p:nvPr/>
        </p:nvSpPr>
        <p:spPr>
          <a:xfrm>
            <a:off x="7289413" y="4443984"/>
            <a:ext cx="2094524" cy="129844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5" name="TextBox 44"/>
          <p:cNvSpPr txBox="1"/>
          <p:nvPr/>
        </p:nvSpPr>
        <p:spPr>
          <a:xfrm>
            <a:off x="7435717" y="4553712"/>
            <a:ext cx="1801916" cy="274320"/>
          </a:xfrm>
          <a:prstGeom prst="rect">
            <a:avLst/>
          </a:prstGeom>
          <a:noFill/>
        </p:spPr>
        <p:txBody>
          <a:bodyPr wrap="square" lIns="0" tIns="0" rIns="0" bIns="0" anchor="t">
            <a:spAutoFit/>
          </a:bodyPr>
          <a:lstStyle/>
          <a:p>
            <a:pPr algn="l">
              <a:lnSpc>
                <a:spcPct val="105000"/>
              </a:lnSpc>
            </a:pPr>
            <a:r>
              <a:rPr sz="980" b="1" i="0">
                <a:solidFill>
                  <a:srgbClr val="0F172A"/>
                </a:solidFill>
                <a:latin typeface="Segoe UI"/>
              </a:rPr>
              <a:t>Nothing else is written</a:t>
            </a:r>
          </a:p>
        </p:txBody>
      </p:sp>
      <p:sp>
        <p:nvSpPr>
          <p:cNvPr id="46" name="TextBox 45"/>
          <p:cNvSpPr txBox="1"/>
          <p:nvPr/>
        </p:nvSpPr>
        <p:spPr>
          <a:xfrm>
            <a:off x="7435717" y="4956048"/>
            <a:ext cx="1801916" cy="731520"/>
          </a:xfrm>
          <a:prstGeom prst="rect">
            <a:avLst/>
          </a:prstGeom>
          <a:noFill/>
        </p:spPr>
        <p:txBody>
          <a:bodyPr wrap="square" lIns="0" tIns="0" rIns="0" bIns="0" anchor="t">
            <a:spAutoFit/>
          </a:bodyPr>
          <a:lstStyle/>
          <a:p>
            <a:pPr algn="l">
              <a:lnSpc>
                <a:spcPct val="110000"/>
              </a:lnSpc>
            </a:pPr>
            <a:r>
              <a:rPr sz="900" b="0" i="0">
                <a:solidFill>
                  <a:srgbClr val="64748B"/>
                </a:solidFill>
                <a:latin typeface="Segoe UI"/>
              </a:rPr>
              <a:t>no row for a refused consent, a cancelled booking or a handoff</a:t>
            </a:r>
          </a:p>
        </p:txBody>
      </p:sp>
      <p:sp>
        <p:nvSpPr>
          <p:cNvPr id="47" name="Rectangle 46"/>
          <p:cNvSpPr/>
          <p:nvPr/>
        </p:nvSpPr>
        <p:spPr>
          <a:xfrm>
            <a:off x="7289413" y="4443984"/>
            <a:ext cx="2094524" cy="4114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Rounded Rectangle 47"/>
          <p:cNvSpPr/>
          <p:nvPr/>
        </p:nvSpPr>
        <p:spPr>
          <a:xfrm>
            <a:off x="9530242" y="4443984"/>
            <a:ext cx="2094524" cy="1298448"/>
          </a:xfrm>
          <a:prstGeom prst="roundRect">
            <a:avLst>
              <a:gd name="adj" fmla="val 8000"/>
            </a:avLst>
          </a:prstGeom>
          <a:solidFill>
            <a:srgbClr val="FFFFFF"/>
          </a:solidFill>
          <a:ln w="12700">
            <a:solidFill>
              <a:srgbClr val="E3E9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49" name="TextBox 48"/>
          <p:cNvSpPr txBox="1"/>
          <p:nvPr/>
        </p:nvSpPr>
        <p:spPr>
          <a:xfrm>
            <a:off x="9676546" y="4553712"/>
            <a:ext cx="1801916" cy="274320"/>
          </a:xfrm>
          <a:prstGeom prst="rect">
            <a:avLst/>
          </a:prstGeom>
          <a:noFill/>
        </p:spPr>
        <p:txBody>
          <a:bodyPr wrap="square" lIns="0" tIns="0" rIns="0" bIns="0" anchor="t">
            <a:spAutoFit/>
          </a:bodyPr>
          <a:lstStyle/>
          <a:p>
            <a:pPr algn="l">
              <a:lnSpc>
                <a:spcPct val="105000"/>
              </a:lnSpc>
            </a:pPr>
            <a:r>
              <a:rPr sz="980" b="1" i="0">
                <a:solidFill>
                  <a:srgbClr val="0F172A"/>
                </a:solidFill>
                <a:latin typeface="Segoe UI"/>
              </a:rPr>
              <a:t>No NRIC or card anywhere</a:t>
            </a:r>
          </a:p>
        </p:txBody>
      </p:sp>
      <p:sp>
        <p:nvSpPr>
          <p:cNvPr id="50" name="TextBox 49"/>
          <p:cNvSpPr txBox="1"/>
          <p:nvPr/>
        </p:nvSpPr>
        <p:spPr>
          <a:xfrm>
            <a:off x="9676546" y="4956048"/>
            <a:ext cx="1801916" cy="731520"/>
          </a:xfrm>
          <a:prstGeom prst="rect">
            <a:avLst/>
          </a:prstGeom>
          <a:noFill/>
        </p:spPr>
        <p:txBody>
          <a:bodyPr wrap="square" lIns="0" tIns="0" rIns="0" bIns="0" anchor="t">
            <a:spAutoFit/>
          </a:bodyPr>
          <a:lstStyle/>
          <a:p>
            <a:pPr algn="l">
              <a:lnSpc>
                <a:spcPct val="110000"/>
              </a:lnSpc>
            </a:pPr>
            <a:r>
              <a:rPr sz="900" b="0" i="0">
                <a:solidFill>
                  <a:srgbClr val="64748B"/>
                </a:solidFill>
                <a:latin typeface="Segoe UI"/>
              </a:rPr>
              <a:t>not in the message, the log, the trace or the file</a:t>
            </a:r>
          </a:p>
        </p:txBody>
      </p:sp>
      <p:sp>
        <p:nvSpPr>
          <p:cNvPr id="51" name="Rectangle 50"/>
          <p:cNvSpPr/>
          <p:nvPr/>
        </p:nvSpPr>
        <p:spPr>
          <a:xfrm>
            <a:off x="9530242" y="4443984"/>
            <a:ext cx="2094524" cy="4114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Rounded Rectangle 51"/>
          <p:cNvSpPr/>
          <p:nvPr/>
        </p:nvSpPr>
        <p:spPr>
          <a:xfrm>
            <a:off x="566928" y="5870448"/>
            <a:ext cx="11057839" cy="475488"/>
          </a:xfrm>
          <a:prstGeom prst="roundRect">
            <a:avLst>
              <a:gd name="adj" fmla="val 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spcBef>
                <a:spcPts val="0"/>
              </a:spcBef>
              <a:spcAft>
                <a:spcPts val="0"/>
              </a:spcAft>
            </a:pPr>
            <a:endParaRPr/>
          </a:p>
        </p:txBody>
      </p:sp>
      <p:sp>
        <p:nvSpPr>
          <p:cNvPr id="53" name="TextBox 52"/>
          <p:cNvSpPr txBox="1"/>
          <p:nvPr/>
        </p:nvSpPr>
        <p:spPr>
          <a:xfrm>
            <a:off x="841247" y="5971032"/>
            <a:ext cx="10509199" cy="310896"/>
          </a:xfrm>
          <a:prstGeom prst="rect">
            <a:avLst/>
          </a:prstGeom>
          <a:noFill/>
        </p:spPr>
        <p:txBody>
          <a:bodyPr wrap="square" lIns="0" tIns="0" rIns="0" bIns="0" anchor="t">
            <a:spAutoFit/>
          </a:bodyPr>
          <a:lstStyle/>
          <a:p>
            <a:pPr algn="l">
              <a:lnSpc>
                <a:spcPct val="112000"/>
              </a:lnSpc>
            </a:pPr>
            <a:r>
              <a:rPr sz="1060" b="1" i="0">
                <a:solidFill>
                  <a:srgbClr val="FFFFFF"/>
                </a:solidFill>
                <a:latin typeface="Segoe UI"/>
              </a:rPr>
              <a:t>The one-line architecture:</a:t>
            </a:r>
            <a:r>
              <a:rPr sz="1060" b="0" i="0">
                <a:solidFill>
                  <a:srgbClr val="FFFFFF"/>
                </a:solidFill>
                <a:latin typeface="Segoe UI"/>
              </a:rPr>
              <a:t> a guardrail in code, a router in the model, a retrieval path that answers only from the knowledge base, and a booking flow that no language model can influence.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3E06036-1DDC-4009-A06F-303D408DE24C}">
  <we:reference id="wa200010725" version="1.0.0.1" store="en-US" storeType="OMEX"/>
  <we:alternateReferences>
    <we:reference id="wa200010725" version="1.0.0.1" store="wa200010725" storeType="OMEX"/>
  </we:alternateReferences>
  <we:properties>
    <we:property name="claude.fileId" value="&quot;2cdd0c37-096a-47ba-9e12-7838ec143a9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79</TotalTime>
  <Words>3782</Words>
  <Application>Microsoft Office PowerPoint</Application>
  <PresentationFormat>Widescreen</PresentationFormat>
  <Paragraphs>443</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Kallang Auto Care — Track 2 AI Technical Architecture</dc:title>
  <dc:subject>Logical architecture of the service chatbot with bookings</dc:subject>
  <dc:creator>SMU PCML Module 6 — Track 2 team</dc:creator>
  <cp:keywords/>
  <dc:description>generated using python-pptx</dc:description>
  <cp:lastModifiedBy>Tengfei Ma</cp:lastModifiedBy>
  <cp:revision>3</cp:revision>
  <dcterms:created xsi:type="dcterms:W3CDTF">2013-01-27T09:14:16Z</dcterms:created>
  <dcterms:modified xsi:type="dcterms:W3CDTF">2026-10-24T07:46:58Z</dcterms:modified>
  <cp:category/>
</cp:coreProperties>
</file>