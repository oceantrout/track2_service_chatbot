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8229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509760" y="0"/>
            <a:ext cx="82296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607040" y="0"/>
            <a:ext cx="8229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29844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3C5FD"/>
                </a:solidFill>
                <a:latin typeface="Segoe UI"/>
              </a:rPr>
              <a:t>TRACK 2  ·  KALLANG AUTO CARE  ·  AI TECHNICAL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69164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FFFFFF"/>
                </a:solidFill>
                <a:latin typeface="Segoe UI"/>
              </a:rPr>
              <a:t>The logical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87168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CBD5E1"/>
                </a:solidFill>
                <a:latin typeface="Segoe UI"/>
              </a:rPr>
              <a:t>How one customer message becomes one reply, and one trace record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3401568"/>
            <a:ext cx="2194560" cy="2743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730752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A8B6C8"/>
                </a:solidFill>
                <a:latin typeface="Segoe UI"/>
              </a:rPr>
              <a:t>A </a:t>
            </a:r>
            <a:r>
              <a:rPr sz="1350" b="1" i="0">
                <a:solidFill>
                  <a:srgbClr val="A8B6C8"/>
                </a:solidFill>
                <a:latin typeface="Segoe UI"/>
              </a:rPr>
              <a:t>guardrail in code</a:t>
            </a:r>
            <a:r>
              <a:rPr sz="1350" b="0" i="0">
                <a:solidFill>
                  <a:srgbClr val="A8B6C8"/>
                </a:solidFill>
                <a:latin typeface="Segoe UI"/>
              </a:rPr>
              <a:t>, a </a:t>
            </a:r>
            <a:r>
              <a:rPr sz="1350" b="1" i="0">
                <a:solidFill>
                  <a:srgbClr val="A8B6C8"/>
                </a:solidFill>
                <a:latin typeface="Segoe UI"/>
              </a:rPr>
              <a:t>router in the model</a:t>
            </a:r>
            <a:r>
              <a:rPr sz="1350" b="0" i="0">
                <a:solidFill>
                  <a:srgbClr val="A8B6C8"/>
                </a:solidFill>
                <a:latin typeface="Segoe UI"/>
              </a:rPr>
              <a:t>, a </a:t>
            </a:r>
            <a:r>
              <a:rPr sz="1350" b="1" i="0">
                <a:solidFill>
                  <a:srgbClr val="A8B6C8"/>
                </a:solidFill>
                <a:latin typeface="Segoe UI"/>
              </a:rPr>
              <a:t>retrieval path</a:t>
            </a:r>
            <a:r>
              <a:rPr sz="1350" b="0" i="0">
                <a:solidFill>
                  <a:srgbClr val="A8B6C8"/>
                </a:solidFill>
                <a:latin typeface="Segoe UI"/>
              </a:rPr>
              <a:t> that answers only from the knowledge base, and a </a:t>
            </a:r>
            <a:r>
              <a:rPr sz="1350" b="1" i="0">
                <a:solidFill>
                  <a:srgbClr val="A8B6C8"/>
                </a:solidFill>
                <a:latin typeface="Segoe UI"/>
              </a:rPr>
              <a:t>booking flow written in code</a:t>
            </a:r>
            <a:r>
              <a:rPr sz="1350" b="0" i="0">
                <a:solidFill>
                  <a:srgbClr val="A8B6C8"/>
                </a:solidFill>
                <a:latin typeface="Segoe UI"/>
              </a:rPr>
              <a:t> — the architecture the brief asks for, drawn as the boxes and arrows it actually 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730752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C8DA5"/>
                </a:solidFill>
                <a:latin typeface="Segoe UI"/>
              </a:rP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730752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2E8F0"/>
                </a:solidFill>
                <a:latin typeface="Segoe UI"/>
              </a:rPr>
              <a:t>PCML Module 6 teaching deck, pp. 52–54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114800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C8DA5"/>
                </a:solidFill>
                <a:latin typeface="Segoe UI"/>
              </a:rPr>
              <a:t>Also 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114800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2E8F0"/>
                </a:solidFill>
                <a:latin typeface="Segoe UI"/>
              </a:rPr>
              <a:t>README.md + docs/booking_flow_spec.md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49884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C8DA5"/>
                </a:solidFill>
                <a:latin typeface="Segoe UI"/>
              </a:rPr>
              <a:t>Artefact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4498848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2E8F0"/>
                </a:solidFill>
                <a:latin typeface="Segoe UI"/>
              </a:rPr>
              <a:t>Logical architecture, 10 slides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882896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C8DA5"/>
                </a:solidFill>
                <a:latin typeface="Segoe UI"/>
              </a:rPr>
              <a:t>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4882896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2E8F0"/>
                </a:solidFill>
                <a:latin typeface="Segoe UI"/>
              </a:rPr>
              <a:t>Core path working by 12:30, Saturday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5760720"/>
            <a:ext cx="1010412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594360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SMU Academy  ·  PCML Module 6  ·  Hackathon 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9436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All data synthetic  ·  Fixed "today": Saturday 24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Segoe UI"/>
              </a:rPr>
              <a:t>BRIEF →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Segoe UI"/>
              </a:rPr>
              <a:t>What the brief asks for — and the module that builds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12801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Track 2  ·  Kallang Auto Care  ·  AI technical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7395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384048" cy="658368"/>
          </a:xfrm>
          <a:prstGeom prst="roundRect">
            <a:avLst>
              <a:gd name="adj" fmla="val 2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527048"/>
            <a:ext cx="3246120" cy="361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 i="0" dirty="0">
                <a:solidFill>
                  <a:srgbClr val="0F172A"/>
                </a:solidFill>
                <a:latin typeface="Segoe UI"/>
              </a:rPr>
              <a:t>Guardrail in code:
injection, NRIC, card numbers</a:t>
            </a:r>
            <a:endParaRPr lang="en-US" sz="1150" b="1" i="0" dirty="0">
              <a:solidFill>
                <a:srgbClr val="0F172A"/>
              </a:solidFill>
              <a:latin typeface="Segoe UI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4544568" y="1810512"/>
            <a:ext cx="365760" cy="0"/>
          </a:xfrm>
          <a:prstGeom prst="line">
            <a:avLst/>
          </a:prstGeom>
          <a:ln w="1651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01768" y="1499616"/>
            <a:ext cx="2514600" cy="62179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B91C1C"/>
                </a:solidFill>
                <a:latin typeface="Segoe UI"/>
              </a:rPr>
              <a:t>guards/redact.py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B91C1C"/>
                </a:solidFill>
                <a:latin typeface="Segoe UI"/>
              </a:rPr>
              <a:t>+ guards/injection.py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267712"/>
            <a:ext cx="384048" cy="658368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313432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0F172A"/>
                </a:solidFill>
                <a:latin typeface="Segoe UI"/>
              </a:rPr>
              <a:t>Router:
faq · booking · handoff · out_of_scope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44568" y="2596896"/>
            <a:ext cx="365760" cy="0"/>
          </a:xfrm>
          <a:prstGeom prst="line">
            <a:avLst/>
          </a:prstGeom>
          <a:ln w="1651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01768" y="2286000"/>
            <a:ext cx="2514600" cy="62179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6D28D9"/>
                </a:solidFill>
                <a:latin typeface="Segoe UI"/>
              </a:rPr>
              <a:t>router/router.py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6D28D9"/>
                </a:solidFill>
                <a:latin typeface="Segoe UI"/>
              </a:rPr>
              <a:t>(model call 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054096"/>
            <a:ext cx="384048" cy="658368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099815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0F172A"/>
                </a:solidFill>
                <a:latin typeface="Segoe UI"/>
              </a:rPr>
              <a:t>FAQ: answer only from the
knowledge base, and cite it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44568" y="3383279"/>
            <a:ext cx="365760" cy="0"/>
          </a:xfrm>
          <a:prstGeom prst="line">
            <a:avLst/>
          </a:prstGeom>
          <a:ln w="1651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01768" y="3072384"/>
            <a:ext cx="2514600" cy="62179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0F766E"/>
                </a:solidFill>
                <a:latin typeface="Segoe UI"/>
              </a:rPr>
              <a:t>faq/search.py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0F766E"/>
                </a:solidFill>
                <a:latin typeface="Segoe UI"/>
              </a:rPr>
              <a:t>faq/answer.py · faq/citation.py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840480"/>
            <a:ext cx="384048" cy="658368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3886200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0F172A"/>
                </a:solidFill>
                <a:latin typeface="Segoe UI"/>
              </a:rPr>
              <a:t>Booking: a step-by-step
flow in code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44568" y="4169664"/>
            <a:ext cx="365760" cy="0"/>
          </a:xfrm>
          <a:prstGeom prst="line">
            <a:avLst/>
          </a:prstGeom>
          <a:ln w="1651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001768" y="3858768"/>
            <a:ext cx="2514600" cy="62179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B45309"/>
                </a:solidFill>
                <a:latin typeface="Segoe UI"/>
              </a:rPr>
              <a:t>booking/state_machine.py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B45309"/>
                </a:solidFill>
                <a:latin typeface="Segoe UI"/>
              </a:rPr>
              <a:t>validate · availability · persistence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626864"/>
            <a:ext cx="384048" cy="658368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672584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0F172A"/>
                </a:solidFill>
                <a:latin typeface="Segoe UI"/>
              </a:rPr>
              <a:t>Hand off complaints and
repeated failures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44568" y="4956048"/>
            <a:ext cx="365760" cy="0"/>
          </a:xfrm>
          <a:prstGeom prst="line">
            <a:avLst/>
          </a:prstGeom>
          <a:ln w="1651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001768" y="4645152"/>
            <a:ext cx="2514600" cy="62179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15803D"/>
                </a:solidFill>
                <a:latin typeface="Segoe UI"/>
              </a:rPr>
              <a:t>router → handoff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15803D"/>
                </a:solidFill>
                <a:latin typeface="Segoe UI"/>
              </a:rPr>
              <a:t>session retry counter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0" y="1444752"/>
            <a:ext cx="3986784" cy="22402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36408" y="1609344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D28D9"/>
                </a:solidFill>
                <a:latin typeface="Segoe UI"/>
              </a:rPr>
              <a:t>WHAT pp. 53–54 PIN 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36408" y="1920240"/>
            <a:ext cx="361188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050" b="1" dirty="0">
                <a:solidFill>
                  <a:srgbClr val="6D28D9"/>
                </a:solidFill>
                <a:latin typeface="Segoe UI"/>
              </a:rPr>
              <a:t>▪  </a:t>
            </a:r>
            <a:r>
              <a:rPr sz="1050" b="0" i="0" dirty="0">
                <a:solidFill>
                  <a:srgbClr val="334155"/>
                </a:solidFill>
                <a:latin typeface="Segoe UI"/>
              </a:rPr>
              <a:t>Two paths: </a:t>
            </a:r>
            <a:r>
              <a:rPr sz="1050" b="1" i="0" dirty="0">
                <a:solidFill>
                  <a:srgbClr val="334155"/>
                </a:solidFill>
                <a:latin typeface="Segoe UI"/>
              </a:rPr>
              <a:t>guardrail → router → four branches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050" b="1" dirty="0">
                <a:solidFill>
                  <a:srgbClr val="6D28D9"/>
                </a:solidFill>
                <a:latin typeface="Segoe UI"/>
              </a:rPr>
              <a:t>▪  </a:t>
            </a:r>
            <a:r>
              <a:rPr sz="1050" b="0" i="0" dirty="0">
                <a:solidFill>
                  <a:srgbClr val="334155"/>
                </a:solidFill>
                <a:latin typeface="Segoe UI"/>
              </a:rPr>
              <a:t>The booking is </a:t>
            </a:r>
            <a:r>
              <a:rPr sz="1050" b="1" i="0" dirty="0">
                <a:solidFill>
                  <a:srgbClr val="334155"/>
                </a:solidFill>
                <a:latin typeface="Segoe UI"/>
              </a:rPr>
              <a:t>code, not the model</a:t>
            </a:r>
            <a:r>
              <a:rPr sz="1050" b="0" i="0" dirty="0">
                <a:solidFill>
                  <a:srgbClr val="334155"/>
                </a:solidFill>
                <a:latin typeface="Segoe UI"/>
              </a:rPr>
              <a:t> — ten states, fixed order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050" b="1" dirty="0">
                <a:solidFill>
                  <a:srgbClr val="6D28D9"/>
                </a:solidFill>
                <a:latin typeface="Segoe UI"/>
              </a:rPr>
              <a:t>▪  </a:t>
            </a:r>
            <a:r>
              <a:rPr sz="1050" b="0" i="0" dirty="0">
                <a:solidFill>
                  <a:srgbClr val="334155"/>
                </a:solidFill>
                <a:latin typeface="Segoe UI"/>
              </a:rPr>
              <a:t>States </a:t>
            </a:r>
            <a:r>
              <a:rPr sz="1050" b="0" i="0" dirty="0" err="1">
                <a:solidFill>
                  <a:srgbClr val="334155"/>
                </a:solidFill>
                <a:latin typeface="Segoe UI"/>
              </a:rPr>
              <a:t>colour</a:t>
            </a:r>
            <a:r>
              <a:rPr sz="1050" b="0" i="0" dirty="0">
                <a:solidFill>
                  <a:srgbClr val="334155"/>
                </a:solidFill>
                <a:latin typeface="Segoe UI"/>
              </a:rPr>
              <a:t>-coded: personal data, consent, other steps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050" b="1" dirty="0">
                <a:solidFill>
                  <a:srgbClr val="6D28D9"/>
                </a:solidFill>
                <a:latin typeface="Segoe UI"/>
              </a:rPr>
              <a:t>▪  </a:t>
            </a:r>
            <a:r>
              <a:rPr sz="1050" b="0" i="0" dirty="0">
                <a:solidFill>
                  <a:srgbClr val="334155"/>
                </a:solidFill>
                <a:latin typeface="Segoe UI"/>
              </a:rPr>
              <a:t>Four guardrails: consent before saving · never collect NRIC or card · mask personal data in logs · three failed tries → a human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Segoe UI"/>
              </a:rPr>
              <a:t>LOGICAL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Segoe UI"/>
              </a:rPr>
              <a:t>The architecture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12801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One customer message in, one reply and one trace record out. Purple = the model; everything else is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Track 2  ·  Kallang Auto Care  ·  AI technical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7395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225296"/>
            <a:ext cx="617220" cy="201168"/>
          </a:xfrm>
          <a:prstGeom prst="roundRect">
            <a:avLst>
              <a:gd name="adj" fmla="val 35000"/>
            </a:avLst>
          </a:prstGeom>
          <a:solidFill>
            <a:srgbClr val="EEE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6D28D9"/>
                </a:solidFill>
                <a:latin typeface="Segoe UI"/>
              </a:rPr>
              <a:t>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2268" y="1225296"/>
            <a:ext cx="548640" cy="201168"/>
          </a:xfrm>
          <a:prstGeom prst="roundRect">
            <a:avLst>
              <a:gd name="adj" fmla="val 35000"/>
            </a:avLst>
          </a:prstGeom>
          <a:solidFill>
            <a:srgbClr val="FD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B45309"/>
                </a:solidFill>
                <a:latin typeface="Segoe UI"/>
              </a:rPr>
              <a:t>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60636" y="1225296"/>
            <a:ext cx="548640" cy="201168"/>
          </a:xfrm>
          <a:prstGeom prst="roundRect">
            <a:avLst>
              <a:gd name="adj" fmla="val 3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475569"/>
                </a:solidFill>
                <a:latin typeface="Segoe UI"/>
              </a:rPr>
              <a:t>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19004" y="1225296"/>
            <a:ext cx="891539" cy="201168"/>
          </a:xfrm>
          <a:prstGeom prst="roundRect">
            <a:avLst>
              <a:gd name="adj" fmla="val 35000"/>
            </a:avLst>
          </a:prstGeom>
          <a:solidFill>
            <a:srgbClr val="FD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B91C1C"/>
                </a:solidFill>
                <a:latin typeface="Segoe UI"/>
              </a:rPr>
              <a:t>guardrail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1554480"/>
            <a:ext cx="6812280" cy="36576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F172A"/>
                </a:solidFill>
                <a:latin typeface="Segoe UI"/>
              </a:rPr>
              <a:t>STREAMLIT UI   chat input  ·  booking state panel  ·  workflow trace  ·  metrics 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5847" y="1920240"/>
            <a:ext cx="0" cy="128016"/>
          </a:xfrm>
          <a:prstGeom prst="line">
            <a:avLst/>
          </a:prstGeom>
          <a:ln w="1778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697480" y="2048256"/>
            <a:ext cx="6812280" cy="329184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Segoe UI"/>
              </a:rPr>
              <a:t>core/orchestrator.py   —   handle_turn(session, text) → reply + trace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5847" y="2377440"/>
            <a:ext cx="0" cy="128016"/>
          </a:xfrm>
          <a:prstGeom prst="line">
            <a:avLst/>
          </a:prstGeom>
          <a:ln w="1778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697480" y="2505456"/>
            <a:ext cx="6812280" cy="384048"/>
          </a:xfrm>
          <a:prstGeom prst="roundRect">
            <a:avLst>
              <a:gd name="adj" fmla="val 10000"/>
            </a:avLst>
          </a:prstGeom>
          <a:solidFill>
            <a:srgbClr val="FDE6E6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 dirty="0">
                <a:solidFill>
                  <a:srgbClr val="B91C1C"/>
                </a:solidFill>
                <a:latin typeface="Segoe UI"/>
              </a:rPr>
              <a:t>GUARDRAILS (code, before any model call)</a:t>
            </a:r>
            <a:r>
              <a:rPr lang="en-US" sz="940" b="1" i="0" dirty="0">
                <a:solidFill>
                  <a:srgbClr val="B91C1C"/>
                </a:solidFill>
                <a:latin typeface="Segoe UI"/>
              </a:rPr>
              <a:t>, System prompt for typo/grammar correction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 dirty="0">
                <a:solidFill>
                  <a:srgbClr val="B91C1C"/>
                </a:solidFill>
                <a:latin typeface="Segoe UI"/>
              </a:rPr>
              <a:t>  redact NRIC · FIN · passport · card   ·   block injection &amp; discount requests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5847" y="2889504"/>
            <a:ext cx="0" cy="128016"/>
          </a:xfrm>
          <a:prstGeom prst="line">
            <a:avLst/>
          </a:prstGeom>
          <a:ln w="1778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950208" y="3017520"/>
            <a:ext cx="4297680" cy="365760"/>
          </a:xfrm>
          <a:prstGeom prst="roundRect">
            <a:avLst>
              <a:gd name="adj" fmla="val 10000"/>
            </a:avLst>
          </a:prstGeom>
          <a:solidFill>
            <a:srgbClr val="EEE9FD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6D28D9"/>
                </a:solidFill>
                <a:latin typeface="Segoe UI"/>
              </a:rPr>
              <a:t>ROUTER (model call 1)   router/router.py → one of four routes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879092" y="3383280"/>
            <a:ext cx="4216755" cy="329183"/>
          </a:xfrm>
          <a:prstGeom prst="line">
            <a:avLst/>
          </a:prstGeom>
          <a:ln w="1524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66928" y="3712463"/>
            <a:ext cx="2624328" cy="329184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faq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078224"/>
            <a:ext cx="247802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 i="0">
                <a:solidFill>
                  <a:srgbClr val="64748B"/>
                </a:solidFill>
                <a:latin typeface="Segoe UI"/>
              </a:rPr>
              <a:t>Retrieve, answer only from the KB, cite it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4690872" y="3383280"/>
            <a:ext cx="1404975" cy="329183"/>
          </a:xfrm>
          <a:prstGeom prst="line">
            <a:avLst/>
          </a:prstGeom>
          <a:ln w="1524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378708" y="3712463"/>
            <a:ext cx="2624328" cy="329184"/>
          </a:xfrm>
          <a:prstGeom prst="roundRect">
            <a:avLst>
              <a:gd name="adj" fmla="val 1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booking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1860" y="4078224"/>
            <a:ext cx="247802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 i="0">
                <a:solidFill>
                  <a:srgbClr val="64748B"/>
                </a:solidFill>
                <a:latin typeface="Segoe UI"/>
              </a:rPr>
              <a:t>Step-by-step flow in code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95847" y="3383280"/>
            <a:ext cx="1406805" cy="329183"/>
          </a:xfrm>
          <a:prstGeom prst="line">
            <a:avLst/>
          </a:prstGeom>
          <a:ln w="1524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190488" y="3712463"/>
            <a:ext cx="2624328" cy="329184"/>
          </a:xfrm>
          <a:prstGeom prst="roundRect">
            <a:avLst>
              <a:gd name="adj" fmla="val 1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handoff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078224"/>
            <a:ext cx="247802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 i="0">
                <a:solidFill>
                  <a:srgbClr val="64748B"/>
                </a:solidFill>
                <a:latin typeface="Segoe UI"/>
              </a:rPr>
              <a:t>Pass to a human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95847" y="3383280"/>
            <a:ext cx="4218585" cy="329183"/>
          </a:xfrm>
          <a:prstGeom prst="line">
            <a:avLst/>
          </a:prstGeom>
          <a:ln w="1524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002268" y="3712463"/>
            <a:ext cx="2624328" cy="329184"/>
          </a:xfrm>
          <a:prstGeom prst="roundRect">
            <a:avLst>
              <a:gd name="adj" fmla="val 1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out_of_scope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5420" y="4078224"/>
            <a:ext cx="247802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 i="0">
                <a:solidFill>
                  <a:srgbClr val="64748B"/>
                </a:solidFill>
                <a:latin typeface="Segoe UI"/>
              </a:rPr>
              <a:t>Polite decline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315968"/>
            <a:ext cx="2624328" cy="3383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" y="4357116"/>
            <a:ext cx="24597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475569"/>
                </a:solidFill>
                <a:latin typeface="Segoe UI"/>
              </a:rPr>
              <a:t>faq/index.py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" y="4512564"/>
            <a:ext cx="24597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64748B"/>
                </a:solidFill>
                <a:latin typeface="Segoe UI"/>
              </a:rPr>
              <a:t>12 KB sections, split at the ## headings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879092" y="4654296"/>
            <a:ext cx="0" cy="9144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66928" y="4745736"/>
            <a:ext cx="2624328" cy="3383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9224" y="4786883"/>
            <a:ext cx="24597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475569"/>
                </a:solidFill>
                <a:latin typeface="Segoe UI"/>
              </a:rPr>
              <a:t>faq/search.py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" y="4942331"/>
            <a:ext cx="24597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64748B"/>
                </a:solidFill>
                <a:latin typeface="Segoe UI"/>
              </a:rPr>
              <a:t>TF-IDF score + the synonym map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879092" y="5084064"/>
            <a:ext cx="0" cy="91439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66928" y="5175503"/>
            <a:ext cx="2624328" cy="338328"/>
          </a:xfrm>
          <a:prstGeom prst="roundRect">
            <a:avLst>
              <a:gd name="adj" fmla="val 10000"/>
            </a:avLst>
          </a:prstGeom>
          <a:solidFill>
            <a:srgbClr val="EEE9FD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9224" y="5216651"/>
            <a:ext cx="24597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6D28D9"/>
                </a:solidFill>
                <a:latin typeface="Segoe UI"/>
              </a:rPr>
              <a:t>faq/answer.py   MODEL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5372099"/>
            <a:ext cx="24597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64748B"/>
                </a:solidFill>
                <a:latin typeface="Segoe UI"/>
              </a:rPr>
              <a:t>answers from that one section only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879092" y="5513831"/>
            <a:ext cx="0" cy="9144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66928" y="5605271"/>
            <a:ext cx="2624328" cy="3383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9224" y="5646419"/>
            <a:ext cx="24597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475569"/>
                </a:solidFill>
                <a:latin typeface="Segoe UI"/>
              </a:rPr>
              <a:t>faq/citation.py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" y="5801867"/>
            <a:ext cx="24597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64748B"/>
                </a:solidFill>
                <a:latin typeface="Segoe UI"/>
              </a:rPr>
              <a:t>appends “Source: &lt;section&gt;”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78708" y="4315968"/>
            <a:ext cx="2624328" cy="3383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461004" y="4357116"/>
            <a:ext cx="24597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475569"/>
                </a:solidFill>
                <a:latin typeface="Segoe UI"/>
              </a:rPr>
              <a:t>booking/state_machine.py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61004" y="4512564"/>
            <a:ext cx="24597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64748B"/>
                </a:solidFill>
                <a:latin typeface="Segoe UI"/>
              </a:rPr>
              <a:t>ten states, fixed order, code-driven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690872" y="4654296"/>
            <a:ext cx="0" cy="9144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3378708" y="4745736"/>
            <a:ext cx="2624328" cy="338328"/>
          </a:xfrm>
          <a:prstGeom prst="roundRect">
            <a:avLst>
              <a:gd name="adj" fmla="val 10000"/>
            </a:avLst>
          </a:prstGeom>
          <a:solidFill>
            <a:srgbClr val="EEE9FD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461004" y="4786883"/>
            <a:ext cx="24597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6D28D9"/>
                </a:solidFill>
                <a:latin typeface="Segoe UI"/>
              </a:rPr>
              <a:t>booking/extract.py   MODEL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61004" y="4942331"/>
            <a:ext cx="24597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64748B"/>
                </a:solidFill>
                <a:latin typeface="Segoe UI"/>
              </a:rPr>
              <a:t>only for service · date · time slot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690872" y="5084064"/>
            <a:ext cx="0" cy="91439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3378708" y="5175503"/>
            <a:ext cx="2624328" cy="3383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461004" y="5216651"/>
            <a:ext cx="24597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475569"/>
                </a:solidFill>
                <a:latin typeface="Segoe UI"/>
              </a:rPr>
              <a:t>booking/validate.py + availability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61004" y="5372099"/>
            <a:ext cx="24597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64748B"/>
                </a:solidFill>
                <a:latin typeface="Segoe UI"/>
              </a:rPr>
              <a:t>regex · window · is the slot still free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690872" y="5513831"/>
            <a:ext cx="0" cy="9144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3378708" y="5605271"/>
            <a:ext cx="2624328" cy="3383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461004" y="5646419"/>
            <a:ext cx="24597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475569"/>
                </a:solidFill>
                <a:latin typeface="Segoe UI"/>
              </a:rPr>
              <a:t>booking/persistence.py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61004" y="5801867"/>
            <a:ext cx="24597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64748B"/>
                </a:solidFill>
                <a:latin typeface="Segoe UI"/>
              </a:rPr>
              <a:t>appends one row to bookings.csv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90488" y="4315968"/>
            <a:ext cx="2624328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272784" y="4370831"/>
            <a:ext cx="24597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475569"/>
                </a:solidFill>
                <a:latin typeface="Segoe UI"/>
              </a:rPr>
              <a:t>handoff/handoff.py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72784" y="4581144"/>
            <a:ext cx="2459736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334155"/>
                </a:solidFill>
                <a:latin typeface="Segoe UI"/>
              </a:rPr>
              <a:t>The bot says it will pass the conversation to a human and offers the service desk. No model call, nothing written, the booking state is kept so a human can pick it up.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02268" y="4315968"/>
            <a:ext cx="2624328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084564" y="4370831"/>
            <a:ext cx="24597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475569"/>
                </a:solidFill>
                <a:latin typeface="Segoe UI"/>
              </a:rPr>
              <a:t>handoff/out_of_scope.py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84564" y="4581144"/>
            <a:ext cx="2459736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334155"/>
                </a:solidFill>
                <a:latin typeface="Segoe UI"/>
              </a:rPr>
              <a:t>A polite decline for anything that is not our workshop — insurance, loans, parts sourcing. No model call, nothing written.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6928" y="5980176"/>
            <a:ext cx="11057839" cy="347472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475569"/>
                </a:solidFill>
                <a:latin typeface="Segoe UI"/>
              </a:rPr>
              <a:t>DATA   data/faq_kb.md · 12 sections      data/services.csv · 8 services      data/availability.csv · 26 Oct – 7 Nov      data/bookings.csv · append-only      logs/trace.jsonl · masked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Segoe UI"/>
              </a:rPr>
              <a:t>COMPONENT CATALOGUE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Segoe UI"/>
              </a:rPr>
              <a:t>Every component: what it is and what it touches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12801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Five components call the model. Everything else is deterministic, testable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Track 2  ·  Kallang Auto Care  ·  AI technical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7395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481328"/>
          <a:ext cx="11055096" cy="43205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31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FFFFFF"/>
                          </a:solidFill>
                          <a:latin typeface="Segoe UI"/>
                        </a:rPr>
                        <a:t>Component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FFFFFF"/>
                          </a:solidFill>
                          <a:latin typeface="Segoe UI"/>
                        </a:rPr>
                        <a:t>Path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FFFFFF"/>
                          </a:solidFill>
                          <a:latin typeface="Segoe UI"/>
                        </a:rPr>
                        <a:t>Owner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FFFFFF"/>
                          </a:solidFill>
                          <a:latin typeface="Segoe UI"/>
                        </a:rPr>
                        <a:t>Input  →  Output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1" i="0">
                          <a:solidFill>
                            <a:srgbClr val="334155"/>
                          </a:solidFill>
                          <a:latin typeface="Segoe UI"/>
                        </a:rPr>
                        <a:t>Orchestrator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core/orchestrator.py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code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user text + session → reply + trace record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1" i="0">
                          <a:solidFill>
                            <a:srgbClr val="334155"/>
                          </a:solidFill>
                          <a:latin typeface="Segoe UI"/>
                        </a:rPr>
                        <a:t>Guardrails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guards/redact.py, guards/injection.py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code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raw text → clean text + flags, or blocked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1" i="0">
                          <a:solidFill>
                            <a:srgbClr val="334155"/>
                          </a:solidFill>
                          <a:latin typeface="Segoe UI"/>
                        </a:rPr>
                        <a:t>Router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router/router.py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message + state → {"route", "reason"}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1" i="0">
                          <a:solidFill>
                            <a:srgbClr val="334155"/>
                          </a:solidFill>
                          <a:latin typeface="Segoe UI"/>
                        </a:rPr>
                        <a:t>Route validator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router/route_schema.py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code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model JSON → exactly one of four routes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1" i="0">
                          <a:solidFill>
                            <a:srgbClr val="334155"/>
                          </a:solidFill>
                          <a:latin typeface="Segoe UI"/>
                        </a:rPr>
                        <a:t>Search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faq/search.py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code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question → best KB section + score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1" i="0">
                          <a:solidFill>
                            <a:srgbClr val="334155"/>
                          </a:solidFill>
                          <a:latin typeface="Segoe UI"/>
                        </a:rPr>
                        <a:t>Answer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faq/answer.py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question + section text → grounded answer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1" i="0">
                          <a:solidFill>
                            <a:srgbClr val="334155"/>
                          </a:solidFill>
                          <a:latin typeface="Segoe UI"/>
                        </a:rPr>
                        <a:t>Citation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faq/citation.py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code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answer → answer + “Source: &lt;section&gt;”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1" i="0">
                          <a:solidFill>
                            <a:srgbClr val="334155"/>
                          </a:solidFill>
                          <a:latin typeface="Segoe UI"/>
                        </a:rPr>
                        <a:t>State machine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booking/state_machine.py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code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session state → the next question to ask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1" i="0">
                          <a:solidFill>
                            <a:srgbClr val="334155"/>
                          </a:solidFill>
                          <a:latin typeface="Segoe UI"/>
                        </a:rPr>
                        <a:t>Extractors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booking/extract.py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free text → candidate value (3 states only)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1" i="0">
                          <a:solidFill>
                            <a:srgbClr val="334155"/>
                          </a:solidFill>
                          <a:latin typeface="Segoe UI"/>
                        </a:rPr>
                        <a:t>Validators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booking/validate.py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code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candidate → accept or reject, with a reason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1" i="0">
                          <a:solidFill>
                            <a:srgbClr val="334155"/>
                          </a:solidFill>
                          <a:latin typeface="Segoe UI"/>
                        </a:rPr>
                        <a:t>Availability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booking/availability.py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code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date + bay type → the free slots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1" i="0">
                          <a:solidFill>
                            <a:srgbClr val="334155"/>
                          </a:solidFill>
                          <a:latin typeface="Segoe UI"/>
                        </a:rPr>
                        <a:t>Persistence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booking/persistence.py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code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confirmed booking → one row in bookings.csv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1" i="0">
                          <a:solidFill>
                            <a:srgbClr val="334155"/>
                          </a:solidFill>
                          <a:latin typeface="Segoe UI"/>
                        </a:rPr>
                        <a:t>Gateway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core/gateway.py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code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prompt → JSON + token usage + latency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1" i="0">
                          <a:solidFill>
                            <a:srgbClr val="334155"/>
                          </a:solidFill>
                          <a:latin typeface="Segoe UI"/>
                        </a:rPr>
                        <a:t>Trace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logging/trace.py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code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60" b="0" i="0">
                          <a:solidFill>
                            <a:srgbClr val="334155"/>
                          </a:solidFill>
                          <a:latin typeface="Segoe UI"/>
                        </a:rPr>
                        <a:t>turn → masked trace record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6053328"/>
            <a:ext cx="11057839" cy="310896"/>
          </a:xfrm>
          <a:prstGeom prst="roundRect">
            <a:avLst>
              <a:gd name="adj" fmla="val 8000"/>
            </a:avLst>
          </a:prstGeom>
          <a:solidFill>
            <a:srgbClr val="FD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6126480"/>
            <a:ext cx="106920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34155"/>
                </a:solidFill>
                <a:latin typeface="Segoe UI"/>
              </a:rPr>
              <a:t>The three rows marked *model* are the only places a model is called.</a:t>
            </a:r>
            <a:r>
              <a:rPr sz="1000" b="0" i="0">
                <a:solidFill>
                  <a:srgbClr val="334155"/>
                </a:solidFill>
                <a:latin typeface="Segoe UI"/>
              </a:rPr>
              <a:t> A component that is code can be unit-tested; a component that is a model must be tested through the trace.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Segoe UI"/>
              </a:rPr>
              <a:t>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Segoe UI"/>
              </a:rPr>
              <a:t>One turn, step by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12801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The same eight steps run for every message. Only steps 4 and 5 may reach the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Track 2  ·  Kallang Auto Care  ·  AI technical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7395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72768"/>
            <a:ext cx="1243584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1627632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475569"/>
                </a:solidFill>
                <a:latin typeface="Segoe UI"/>
              </a:rPr>
              <a:t>1  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1837943"/>
            <a:ext cx="107899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334155"/>
                </a:solidFill>
                <a:latin typeface="Segoe UI"/>
              </a:rPr>
              <a:t>The chat box hands the text to the orchestrator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28800" y="2039112"/>
            <a:ext cx="123443" cy="0"/>
          </a:xfrm>
          <a:prstGeom prst="line">
            <a:avLst/>
          </a:prstGeom>
          <a:ln w="1524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970532" y="1572768"/>
            <a:ext cx="1243584" cy="932688"/>
          </a:xfrm>
          <a:prstGeom prst="roundRect">
            <a:avLst>
              <a:gd name="adj" fmla="val 6000"/>
            </a:avLst>
          </a:prstGeom>
          <a:solidFill>
            <a:srgbClr val="FDE6E6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52828" y="1627632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B91C1C"/>
                </a:solidFill>
                <a:latin typeface="Segoe UI"/>
              </a:rPr>
              <a:t>2  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2828" y="1837943"/>
            <a:ext cx="107899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334155"/>
                </a:solidFill>
                <a:latin typeface="Segoe UI"/>
              </a:rPr>
              <a:t>Redact PII; block injection and discount demands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32404" y="2039112"/>
            <a:ext cx="123444" cy="0"/>
          </a:xfrm>
          <a:prstGeom prst="line">
            <a:avLst/>
          </a:prstGeom>
          <a:ln w="1524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74136" y="1572768"/>
            <a:ext cx="1243584" cy="932688"/>
          </a:xfrm>
          <a:prstGeom prst="roundRect">
            <a:avLst>
              <a:gd name="adj" fmla="val 6000"/>
            </a:avLst>
          </a:prstGeom>
          <a:solidFill>
            <a:srgbClr val="FDF0D9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56432" y="1627632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B45309"/>
                </a:solidFill>
                <a:latin typeface="Segoe UI"/>
              </a:rPr>
              <a:t>3  Command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1837943"/>
            <a:ext cx="107899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334155"/>
                </a:solidFill>
                <a:latin typeface="Segoe UI"/>
              </a:rPr>
              <a:t>Inside a booking only: cancel · start over · change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36008" y="2039112"/>
            <a:ext cx="123444" cy="0"/>
          </a:xfrm>
          <a:prstGeom prst="line">
            <a:avLst/>
          </a:prstGeom>
          <a:ln w="1524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777740" y="1572768"/>
            <a:ext cx="1243584" cy="932688"/>
          </a:xfrm>
          <a:prstGeom prst="roundRect">
            <a:avLst>
              <a:gd name="adj" fmla="val 6000"/>
            </a:avLst>
          </a:prstGeom>
          <a:solidFill>
            <a:srgbClr val="EEE9FD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60036" y="1627632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6D28D9"/>
                </a:solidFill>
                <a:latin typeface="Segoe UI"/>
              </a:rPr>
              <a:t>4  Route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0036" y="1837943"/>
            <a:ext cx="107899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334155"/>
                </a:solidFill>
                <a:latin typeface="Segoe UI"/>
              </a:rPr>
              <a:t>MODEL CALL 1 — pick one of four routes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39612" y="2039112"/>
            <a:ext cx="123444" cy="0"/>
          </a:xfrm>
          <a:prstGeom prst="line">
            <a:avLst/>
          </a:prstGeom>
          <a:ln w="1524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81344" y="1572768"/>
            <a:ext cx="1243584" cy="932688"/>
          </a:xfrm>
          <a:prstGeom prst="roundRect">
            <a:avLst>
              <a:gd name="adj" fmla="val 6000"/>
            </a:avLst>
          </a:prstGeom>
          <a:solidFill>
            <a:srgbClr val="D6F5F1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1627632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0F766E"/>
                </a:solidFill>
                <a:latin typeface="Segoe UI"/>
              </a:rPr>
              <a:t>5  Handle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837943"/>
            <a:ext cx="107899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334155"/>
                </a:solidFill>
                <a:latin typeface="Segoe UI"/>
              </a:rPr>
              <a:t>faq · booking · handoff · out_of_scope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443216" y="2039112"/>
            <a:ext cx="123444" cy="0"/>
          </a:xfrm>
          <a:prstGeom prst="line">
            <a:avLst/>
          </a:prstGeom>
          <a:ln w="1524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584948" y="1572768"/>
            <a:ext cx="1243584" cy="932688"/>
          </a:xfrm>
          <a:prstGeom prst="roundRect">
            <a:avLst>
              <a:gd name="adj" fmla="val 6000"/>
            </a:avLst>
          </a:prstGeom>
          <a:solidFill>
            <a:srgbClr val="FDE6E6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67244" y="1627632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B91C1C"/>
                </a:solidFill>
                <a:latin typeface="Segoe UI"/>
              </a:rPr>
              <a:t>6  Verify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7244" y="1837943"/>
            <a:ext cx="107899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334155"/>
                </a:solidFill>
                <a:latin typeface="Segoe UI"/>
              </a:rPr>
              <a:t>No PII, no discount, a citation where one is owed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846819" y="2039112"/>
            <a:ext cx="123445" cy="0"/>
          </a:xfrm>
          <a:prstGeom prst="line">
            <a:avLst/>
          </a:prstGeom>
          <a:ln w="1524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988552" y="1572768"/>
            <a:ext cx="1243584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70848" y="1627632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475569"/>
                </a:solidFill>
                <a:latin typeface="Segoe UI"/>
              </a:rPr>
              <a:t>7  Trace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1837943"/>
            <a:ext cx="107899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334155"/>
                </a:solidFill>
                <a:latin typeface="Segoe UI"/>
              </a:rPr>
              <a:t>One masked record → logs/trace.jsonl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250424" y="2039112"/>
            <a:ext cx="123444" cy="0"/>
          </a:xfrm>
          <a:prstGeom prst="line">
            <a:avLst/>
          </a:prstGeom>
          <a:ln w="1524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392156" y="1572768"/>
            <a:ext cx="1243584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474452" y="1627632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475569"/>
                </a:solidFill>
                <a:latin typeface="Segoe UI"/>
              </a:rPr>
              <a:t>8  Reply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74452" y="1837943"/>
            <a:ext cx="107899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334155"/>
                </a:solidFill>
                <a:latin typeface="Segoe UI"/>
              </a:rPr>
              <a:t>Text, current state and metrics back to the UI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2798064"/>
            <a:ext cx="3576218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66928" y="2798064"/>
            <a:ext cx="3576218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2944368"/>
            <a:ext cx="324703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F766E"/>
                </a:solidFill>
                <a:latin typeface="Segoe UI"/>
              </a:rPr>
              <a:t>THE FOUR BRANCHES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3218688"/>
            <a:ext cx="326532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3000"/>
              </a:lnSpc>
              <a:spcAft>
                <a:spcPts val="300"/>
              </a:spcAft>
            </a:pPr>
            <a:r>
              <a:rPr sz="930" b="1" dirty="0">
                <a:solidFill>
                  <a:srgbClr val="0F766E"/>
                </a:solidFill>
                <a:latin typeface="Segoe UI"/>
              </a:rPr>
              <a:t>▪  </a:t>
            </a:r>
            <a:r>
              <a:rPr sz="930" b="1" i="0" dirty="0" err="1">
                <a:solidFill>
                  <a:srgbClr val="334155"/>
                </a:solidFill>
                <a:latin typeface="Segoe UI"/>
              </a:rPr>
              <a:t>faq</a:t>
            </a:r>
            <a:r>
              <a:rPr sz="930" b="0" i="0" dirty="0">
                <a:solidFill>
                  <a:srgbClr val="334155"/>
                </a:solidFill>
                <a:latin typeface="Segoe UI"/>
              </a:rPr>
              <a:t> — retrieve, answer, cite the section</a:t>
            </a:r>
          </a:p>
          <a:p>
            <a:pPr>
              <a:lnSpc>
                <a:spcPct val="103000"/>
              </a:lnSpc>
              <a:spcAft>
                <a:spcPts val="300"/>
              </a:spcAft>
            </a:pPr>
            <a:r>
              <a:rPr sz="930" b="1" dirty="0">
                <a:solidFill>
                  <a:srgbClr val="0F766E"/>
                </a:solidFill>
                <a:latin typeface="Segoe UI"/>
              </a:rPr>
              <a:t>▪  </a:t>
            </a:r>
            <a:r>
              <a:rPr sz="930" b="1" i="0" dirty="0">
                <a:solidFill>
                  <a:srgbClr val="334155"/>
                </a:solidFill>
                <a:latin typeface="Segoe UI"/>
              </a:rPr>
              <a:t>booking</a:t>
            </a:r>
            <a:r>
              <a:rPr sz="930" b="0" i="0" dirty="0">
                <a:solidFill>
                  <a:srgbClr val="334155"/>
                </a:solidFill>
                <a:latin typeface="Segoe UI"/>
              </a:rPr>
              <a:t> — run the state machine one step</a:t>
            </a:r>
          </a:p>
          <a:p>
            <a:pPr>
              <a:lnSpc>
                <a:spcPct val="103000"/>
              </a:lnSpc>
              <a:spcAft>
                <a:spcPts val="300"/>
              </a:spcAft>
            </a:pPr>
            <a:r>
              <a:rPr sz="930" b="1" dirty="0">
                <a:solidFill>
                  <a:srgbClr val="0F766E"/>
                </a:solidFill>
                <a:latin typeface="Segoe UI"/>
              </a:rPr>
              <a:t>▪  </a:t>
            </a:r>
            <a:r>
              <a:rPr sz="930" b="1" i="0" dirty="0">
                <a:solidFill>
                  <a:srgbClr val="334155"/>
                </a:solidFill>
                <a:latin typeface="Segoe UI"/>
              </a:rPr>
              <a:t>handoff</a:t>
            </a:r>
            <a:r>
              <a:rPr sz="930" b="0" i="0" dirty="0">
                <a:solidFill>
                  <a:srgbClr val="334155"/>
                </a:solidFill>
                <a:latin typeface="Segoe UI"/>
              </a:rPr>
              <a:t> — offer the service desk</a:t>
            </a:r>
          </a:p>
          <a:p>
            <a:pPr>
              <a:lnSpc>
                <a:spcPct val="103000"/>
              </a:lnSpc>
              <a:spcAft>
                <a:spcPts val="300"/>
              </a:spcAft>
            </a:pPr>
            <a:r>
              <a:rPr sz="930" b="1" dirty="0">
                <a:solidFill>
                  <a:srgbClr val="0F766E"/>
                </a:solidFill>
                <a:latin typeface="Segoe UI"/>
              </a:rPr>
              <a:t>▪  </a:t>
            </a:r>
            <a:r>
              <a:rPr sz="930" b="1" i="0" dirty="0" err="1">
                <a:solidFill>
                  <a:srgbClr val="334155"/>
                </a:solidFill>
                <a:latin typeface="Segoe UI"/>
              </a:rPr>
              <a:t>out_of_scope</a:t>
            </a:r>
            <a:r>
              <a:rPr sz="930" b="0" i="0" dirty="0">
                <a:solidFill>
                  <a:srgbClr val="334155"/>
                </a:solidFill>
                <a:latin typeface="Segoe UI"/>
              </a:rPr>
              <a:t> — polite decline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07738" y="2798064"/>
            <a:ext cx="3576218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307738" y="2798064"/>
            <a:ext cx="3576218" cy="4114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72330" y="2944368"/>
            <a:ext cx="324703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B91C1C"/>
                </a:solidFill>
                <a:latin typeface="Segoe UI"/>
              </a:rPr>
              <a:t>THE FIVE FAILURE PATHS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72330" y="3218688"/>
            <a:ext cx="326532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3000"/>
              </a:lnSpc>
              <a:spcAft>
                <a:spcPts val="300"/>
              </a:spcAft>
            </a:pPr>
            <a:r>
              <a:rPr sz="930" b="1" dirty="0">
                <a:solidFill>
                  <a:srgbClr val="B91C1C"/>
                </a:solidFill>
                <a:latin typeface="Segoe UI"/>
              </a:rPr>
              <a:t>▪  </a:t>
            </a:r>
            <a:r>
              <a:rPr sz="930" b="0" i="0" dirty="0">
                <a:solidFill>
                  <a:srgbClr val="334155"/>
                </a:solidFill>
                <a:latin typeface="Segoe UI"/>
              </a:rPr>
              <a:t>Router returns bad JSON → fall back to </a:t>
            </a:r>
            <a:r>
              <a:rPr sz="883" b="0" i="0" dirty="0" err="1">
                <a:solidFill>
                  <a:srgbClr val="334155"/>
                </a:solidFill>
                <a:latin typeface="Consolas"/>
              </a:rPr>
              <a:t>faq</a:t>
            </a:r>
            <a:endParaRPr sz="883" b="0" i="0" dirty="0">
              <a:solidFill>
                <a:srgbClr val="334155"/>
              </a:solidFill>
              <a:latin typeface="Consolas"/>
            </a:endParaRPr>
          </a:p>
          <a:p>
            <a:pPr>
              <a:lnSpc>
                <a:spcPct val="103000"/>
              </a:lnSpc>
              <a:spcAft>
                <a:spcPts val="300"/>
              </a:spcAft>
            </a:pPr>
            <a:r>
              <a:rPr sz="930" b="1" dirty="0">
                <a:solidFill>
                  <a:srgbClr val="B91C1C"/>
                </a:solidFill>
                <a:latin typeface="Segoe UI"/>
              </a:rPr>
              <a:t>▪  </a:t>
            </a:r>
            <a:r>
              <a:rPr sz="930" b="0" i="0" dirty="0">
                <a:solidFill>
                  <a:srgbClr val="334155"/>
                </a:solidFill>
                <a:latin typeface="Segoe UI"/>
              </a:rPr>
              <a:t>No KB section above the threshold → no answer, offer the desk</a:t>
            </a:r>
          </a:p>
          <a:p>
            <a:pPr>
              <a:lnSpc>
                <a:spcPct val="103000"/>
              </a:lnSpc>
              <a:spcAft>
                <a:spcPts val="300"/>
              </a:spcAft>
            </a:pPr>
            <a:r>
              <a:rPr sz="930" b="1" dirty="0">
                <a:solidFill>
                  <a:srgbClr val="B91C1C"/>
                </a:solidFill>
                <a:latin typeface="Segoe UI"/>
              </a:rPr>
              <a:t>▪  </a:t>
            </a:r>
            <a:r>
              <a:rPr sz="930" b="0" i="0" dirty="0">
                <a:solidFill>
                  <a:srgbClr val="334155"/>
                </a:solidFill>
                <a:latin typeface="Segoe UI"/>
              </a:rPr>
              <a:t>Third bad value in a state → </a:t>
            </a:r>
            <a:r>
              <a:rPr sz="883" b="0" i="0" dirty="0">
                <a:solidFill>
                  <a:srgbClr val="334155"/>
                </a:solidFill>
                <a:latin typeface="Consolas"/>
              </a:rPr>
              <a:t>handoff</a:t>
            </a:r>
          </a:p>
          <a:p>
            <a:pPr>
              <a:lnSpc>
                <a:spcPct val="103000"/>
              </a:lnSpc>
              <a:spcAft>
                <a:spcPts val="300"/>
              </a:spcAft>
            </a:pPr>
            <a:r>
              <a:rPr sz="930" b="1" dirty="0">
                <a:solidFill>
                  <a:srgbClr val="B91C1C"/>
                </a:solidFill>
                <a:latin typeface="Segoe UI"/>
              </a:rPr>
              <a:t>▪  </a:t>
            </a:r>
            <a:r>
              <a:rPr sz="930" b="0" i="0" dirty="0">
                <a:solidFill>
                  <a:srgbClr val="334155"/>
                </a:solidFill>
                <a:latin typeface="Segoe UI"/>
              </a:rPr>
              <a:t>A complaint → </a:t>
            </a:r>
            <a:r>
              <a:rPr sz="883" b="0" i="0" dirty="0">
                <a:solidFill>
                  <a:srgbClr val="334155"/>
                </a:solidFill>
                <a:latin typeface="Consolas"/>
              </a:rPr>
              <a:t>handoff</a:t>
            </a:r>
            <a:r>
              <a:rPr sz="930" b="0" i="0" dirty="0">
                <a:solidFill>
                  <a:srgbClr val="334155"/>
                </a:solidFill>
                <a:latin typeface="Segoe UI"/>
              </a:rPr>
              <a:t>, booking state is kept</a:t>
            </a:r>
          </a:p>
          <a:p>
            <a:pPr>
              <a:lnSpc>
                <a:spcPct val="103000"/>
              </a:lnSpc>
              <a:spcAft>
                <a:spcPts val="300"/>
              </a:spcAft>
            </a:pPr>
            <a:r>
              <a:rPr sz="930" b="1" dirty="0">
                <a:solidFill>
                  <a:srgbClr val="B91C1C"/>
                </a:solidFill>
                <a:latin typeface="Segoe UI"/>
              </a:rPr>
              <a:t>▪  </a:t>
            </a:r>
            <a:r>
              <a:rPr sz="930" b="0" i="0" dirty="0">
                <a:solidFill>
                  <a:srgbClr val="334155"/>
                </a:solidFill>
                <a:latin typeface="Segoe UI"/>
              </a:rPr>
              <a:t>Consent refused → nothing is written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8548" y="2798064"/>
            <a:ext cx="3576218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048548" y="2798064"/>
            <a:ext cx="3576218" cy="411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13140" y="2944368"/>
            <a:ext cx="324703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6D28D9"/>
                </a:solidFill>
                <a:latin typeface="Segoe UI"/>
              </a:rPr>
              <a:t>WHAT THE MODEL IS FOR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13140" y="3218688"/>
            <a:ext cx="326532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3000"/>
              </a:lnSpc>
              <a:spcAft>
                <a:spcPts val="300"/>
              </a:spcAft>
            </a:pPr>
            <a:r>
              <a:rPr sz="930" b="1" dirty="0">
                <a:solidFill>
                  <a:srgbClr val="6D28D9"/>
                </a:solidFill>
                <a:latin typeface="Segoe UI"/>
              </a:rPr>
              <a:t>▪  </a:t>
            </a:r>
            <a:r>
              <a:rPr sz="930" b="0" i="0" dirty="0">
                <a:solidFill>
                  <a:srgbClr val="334155"/>
                </a:solidFill>
                <a:latin typeface="Segoe UI"/>
              </a:rPr>
              <a:t>Reading intent (</a:t>
            </a:r>
            <a:r>
              <a:rPr sz="930" b="1" i="0" dirty="0">
                <a:solidFill>
                  <a:srgbClr val="334155"/>
                </a:solidFill>
                <a:latin typeface="Segoe UI"/>
              </a:rPr>
              <a:t>route</a:t>
            </a:r>
            <a:r>
              <a:rPr sz="930" b="0" i="0" dirty="0">
                <a:solidFill>
                  <a:srgbClr val="334155"/>
                </a:solidFill>
                <a:latin typeface="Segoe UI"/>
              </a:rPr>
              <a:t>)</a:t>
            </a:r>
          </a:p>
          <a:p>
            <a:pPr>
              <a:lnSpc>
                <a:spcPct val="103000"/>
              </a:lnSpc>
              <a:spcAft>
                <a:spcPts val="300"/>
              </a:spcAft>
            </a:pPr>
            <a:r>
              <a:rPr sz="930" b="1" dirty="0">
                <a:solidFill>
                  <a:srgbClr val="6D28D9"/>
                </a:solidFill>
                <a:latin typeface="Segoe UI"/>
              </a:rPr>
              <a:t>▪  </a:t>
            </a:r>
            <a:r>
              <a:rPr sz="930" b="0" i="0" dirty="0">
                <a:solidFill>
                  <a:srgbClr val="334155"/>
                </a:solidFill>
                <a:latin typeface="Segoe UI"/>
              </a:rPr>
              <a:t>Rewriting free text into a value (</a:t>
            </a:r>
            <a:r>
              <a:rPr sz="930" b="1" i="0" dirty="0">
                <a:solidFill>
                  <a:srgbClr val="334155"/>
                </a:solidFill>
                <a:latin typeface="Segoe UI"/>
              </a:rPr>
              <a:t>service, date, time slot</a:t>
            </a:r>
            <a:r>
              <a:rPr sz="930" b="0" i="0" dirty="0">
                <a:solidFill>
                  <a:srgbClr val="334155"/>
                </a:solidFill>
                <a:latin typeface="Segoe UI"/>
              </a:rPr>
              <a:t>)</a:t>
            </a:r>
          </a:p>
          <a:p>
            <a:pPr>
              <a:lnSpc>
                <a:spcPct val="103000"/>
              </a:lnSpc>
              <a:spcAft>
                <a:spcPts val="300"/>
              </a:spcAft>
            </a:pPr>
            <a:r>
              <a:rPr sz="930" b="1" dirty="0">
                <a:solidFill>
                  <a:srgbClr val="6D28D9"/>
                </a:solidFill>
                <a:latin typeface="Segoe UI"/>
              </a:rPr>
              <a:t>▪  </a:t>
            </a:r>
            <a:r>
              <a:rPr sz="930" b="0" i="0" dirty="0">
                <a:solidFill>
                  <a:srgbClr val="334155"/>
                </a:solidFill>
                <a:latin typeface="Segoe UI"/>
              </a:rPr>
              <a:t>Turning retrieved text into an answer (</a:t>
            </a:r>
            <a:r>
              <a:rPr sz="930" b="1" i="0" dirty="0" err="1">
                <a:solidFill>
                  <a:srgbClr val="334155"/>
                </a:solidFill>
                <a:latin typeface="Segoe UI"/>
              </a:rPr>
              <a:t>faq</a:t>
            </a:r>
            <a:r>
              <a:rPr sz="930" b="0" i="0" dirty="0">
                <a:solidFill>
                  <a:srgbClr val="334155"/>
                </a:solidFill>
                <a:latin typeface="Segoe UI"/>
              </a:rPr>
              <a:t>)</a:t>
            </a:r>
          </a:p>
          <a:p>
            <a:pPr>
              <a:lnSpc>
                <a:spcPct val="103000"/>
              </a:lnSpc>
              <a:spcAft>
                <a:spcPts val="300"/>
              </a:spcAft>
            </a:pPr>
            <a:r>
              <a:rPr sz="930" b="1" dirty="0">
                <a:solidFill>
                  <a:srgbClr val="6D28D9"/>
                </a:solidFill>
                <a:latin typeface="Segoe UI"/>
              </a:rPr>
              <a:t>▪  </a:t>
            </a:r>
            <a:r>
              <a:rPr sz="930" b="0" i="0" dirty="0">
                <a:solidFill>
                  <a:srgbClr val="334155"/>
                </a:solidFill>
                <a:latin typeface="Segoe UI"/>
              </a:rPr>
              <a:t>Never: validating, deciding, or writing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451713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64748B"/>
                </a:solidFill>
                <a:latin typeface="Segoe UI"/>
              </a:rPr>
              <a:t>WHERE THE SECONDS GO — ONE FAQ TURN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6928" y="4791456"/>
            <a:ext cx="2109155" cy="292608"/>
          </a:xfrm>
          <a:prstGeom prst="roundRect">
            <a:avLst>
              <a:gd name="adj" fmla="val 14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Segoe UI"/>
              </a:rPr>
              <a:t>5 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5120640"/>
            <a:ext cx="210915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Segoe UI"/>
              </a:rPr>
              <a:t>Guard + route schema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804099" y="4791456"/>
            <a:ext cx="2109155" cy="292608"/>
          </a:xfrm>
          <a:prstGeom prst="roundRect">
            <a:avLst>
              <a:gd name="adj" fmla="val 14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Segoe UI"/>
              </a:rPr>
              <a:t>900 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04099" y="5120640"/>
            <a:ext cx="210915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Segoe UI"/>
              </a:rPr>
              <a:t>Router (model)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41270" y="4791456"/>
            <a:ext cx="2109155" cy="292608"/>
          </a:xfrm>
          <a:prstGeom prst="roundRect">
            <a:avLst>
              <a:gd name="adj" fmla="val 14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Segoe UI"/>
              </a:rPr>
              <a:t>30 ms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41270" y="5120640"/>
            <a:ext cx="210915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Segoe UI"/>
              </a:rPr>
              <a:t>Search + synonyms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278441" y="4791456"/>
            <a:ext cx="2109155" cy="292608"/>
          </a:xfrm>
          <a:prstGeom prst="roundRect">
            <a:avLst>
              <a:gd name="adj" fmla="val 14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Segoe UI"/>
              </a:rPr>
              <a:t>1200 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78441" y="5120640"/>
            <a:ext cx="210915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Segoe UI"/>
              </a:rPr>
              <a:t>Answer (model)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515612" y="4791456"/>
            <a:ext cx="2109155" cy="292608"/>
          </a:xfrm>
          <a:prstGeom prst="roundRect">
            <a:avLst>
              <a:gd name="adj" fmla="val 14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Segoe UI"/>
              </a:rPr>
              <a:t>10 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15612" y="5120640"/>
            <a:ext cx="210915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Segoe UI"/>
              </a:rPr>
              <a:t>Citation + trace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5468112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0F172A"/>
                </a:solidFill>
                <a:latin typeface="Segoe UI"/>
              </a:rPr>
              <a:t>≈ 2.1 s end to end, two model calls. Everything else is code and is measured in milliseconds.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6928" y="5833872"/>
            <a:ext cx="11057839" cy="34747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49808" y="5907024"/>
            <a:ext cx="106920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34155"/>
                </a:solidFill>
                <a:latin typeface="Segoe UI"/>
              </a:rPr>
              <a:t>The invariant:</a:t>
            </a:r>
            <a:r>
              <a:rPr sz="1000" b="0" i="0">
                <a:solidFill>
                  <a:srgbClr val="334155"/>
                </a:solidFill>
                <a:latin typeface="Segoe UI"/>
              </a:rPr>
              <a:t> a model may extract; only code decides, validates and writes. Two model calls is the hard ceiling for one customer message.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Segoe UI"/>
              </a:rPr>
              <a:t>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Segoe UI"/>
              </a:rPr>
              <a:t>Inside the router — model call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12801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The model chooses a route. It does not choose the rules, and it cannot refuse the schema.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Track 2  ·  Kallang Auto Care  ·  AI technical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7395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5413248" cy="2395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645920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6D28D9"/>
                </a:solidFill>
                <a:latin typeface="Segoe UI"/>
              </a:rPr>
              <a:t>WHAT GOES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1920240"/>
            <a:ext cx="5010912" cy="181051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029968"/>
            <a:ext cx="46634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93" b="0" i="0" dirty="0">
                <a:solidFill>
                  <a:srgbClr val="334155"/>
                </a:solidFill>
                <a:latin typeface="Consolas"/>
              </a:rPr>
              <a:t>system   You route one customer message for Kallang Auto Care.
         Choose exactly one route:
         </a:t>
            </a:r>
            <a:r>
              <a:rPr sz="893" b="0" i="0" dirty="0" err="1">
                <a:solidFill>
                  <a:srgbClr val="334155"/>
                </a:solidFill>
                <a:latin typeface="Consolas"/>
              </a:rPr>
              <a:t>faq</a:t>
            </a:r>
            <a:r>
              <a:rPr sz="893" b="0" i="0" dirty="0">
                <a:solidFill>
                  <a:srgbClr val="334155"/>
                </a:solidFill>
                <a:latin typeface="Consolas"/>
              </a:rPr>
              <a:t> | booking | handoff | </a:t>
            </a:r>
            <a:r>
              <a:rPr sz="893" b="0" i="0" dirty="0" err="1">
                <a:solidFill>
                  <a:srgbClr val="334155"/>
                </a:solidFill>
                <a:latin typeface="Consolas"/>
              </a:rPr>
              <a:t>out_of_scope</a:t>
            </a:r>
            <a:r>
              <a:rPr sz="893" b="0" i="0" dirty="0">
                <a:solidFill>
                  <a:srgbClr val="334155"/>
                </a:solidFill>
                <a:latin typeface="Consolas"/>
              </a:rPr>
              <a:t>
         A complaint → handoff. A question the knowledge base
         might answer → </a:t>
            </a:r>
            <a:r>
              <a:rPr sz="893" b="0" i="0" dirty="0" err="1">
                <a:solidFill>
                  <a:srgbClr val="334155"/>
                </a:solidFill>
                <a:latin typeface="Consolas"/>
              </a:rPr>
              <a:t>faq</a:t>
            </a:r>
            <a:r>
              <a:rPr sz="893" b="0" i="0" dirty="0">
                <a:solidFill>
                  <a:srgbClr val="334155"/>
                </a:solidFill>
                <a:latin typeface="Consolas"/>
              </a:rPr>
              <a:t>. A booking value → booking.
         Return JSON only.
messages the last 2 turns + the current message
state    the current booking state (idle, service, date, …)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81328"/>
            <a:ext cx="5358384" cy="2395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8" y="1645920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0F766E"/>
                </a:solidFill>
                <a:latin typeface="Segoe UI"/>
              </a:rPr>
              <a:t>WHAT COMES OUT — AND WHAT CODE DOES WITH 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64808" y="1920240"/>
            <a:ext cx="4956048" cy="78638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201168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11" b="0" i="0">
                <a:solidFill>
                  <a:srgbClr val="0F172A"/>
                </a:solidFill>
                <a:latin typeface="Consolas"/>
              </a:rPr>
              <a:t>{ "route": "booking",
  "reason": "customer gave a plate while idle"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2798064"/>
            <a:ext cx="49377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960" b="1">
                <a:solidFill>
                  <a:srgbClr val="0F766E"/>
                </a:solidFill>
                <a:latin typeface="Segoe UI"/>
              </a:rPr>
              <a:t>▪  </a:t>
            </a:r>
            <a:r>
              <a:rPr sz="960" b="0" i="0">
                <a:solidFill>
                  <a:srgbClr val="334155"/>
                </a:solidFill>
                <a:latin typeface="Segoe UI"/>
              </a:rPr>
              <a:t>Code checks the route is one of the four — bad JSON falls back to </a:t>
            </a:r>
            <a:r>
              <a:rPr sz="911" b="0" i="0">
                <a:solidFill>
                  <a:srgbClr val="334155"/>
                </a:solidFill>
                <a:latin typeface="Consolas"/>
              </a:rPr>
              <a:t>faq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960" b="1">
                <a:solidFill>
                  <a:srgbClr val="0F766E"/>
                </a:solidFill>
                <a:latin typeface="Segoe UI"/>
              </a:rPr>
              <a:t>▪  </a:t>
            </a:r>
            <a:r>
              <a:rPr sz="960" b="0" i="0">
                <a:solidFill>
                  <a:srgbClr val="334155"/>
                </a:solidFill>
                <a:latin typeface="Segoe UI"/>
              </a:rPr>
              <a:t>Inside a booking, a question is answered </a:t>
            </a:r>
            <a:r>
              <a:rPr sz="960" b="1" i="0">
                <a:solidFill>
                  <a:srgbClr val="334155"/>
                </a:solidFill>
                <a:latin typeface="Segoe UI"/>
              </a:rPr>
              <a:t>and</a:t>
            </a:r>
            <a:r>
              <a:rPr sz="960" b="0" i="0">
                <a:solidFill>
                  <a:srgbClr val="334155"/>
                </a:solidFill>
                <a:latin typeface="Segoe UI"/>
              </a:rPr>
              <a:t> the state is kept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960" b="1">
                <a:solidFill>
                  <a:srgbClr val="0F766E"/>
                </a:solidFill>
                <a:latin typeface="Segoe UI"/>
              </a:rPr>
              <a:t>▪  </a:t>
            </a:r>
            <a:r>
              <a:rPr sz="960" b="0" i="0">
                <a:solidFill>
                  <a:srgbClr val="334155"/>
                </a:solidFill>
                <a:latin typeface="Segoe UI"/>
              </a:rPr>
              <a:t>A complaint anywhere wins over the other three routes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05993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64748B"/>
                </a:solidFill>
                <a:latin typeface="Segoe UI"/>
              </a:rPr>
              <a:t>FIVE DISAMBIGUATION RULES — ALL APPLIED IN CODE AFTER THE MODEL ANSWERS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352544"/>
            <a:ext cx="2094524" cy="148132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4480560"/>
            <a:ext cx="18019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0F172A"/>
                </a:solidFill>
                <a:latin typeface="Segoe UI"/>
              </a:rPr>
              <a:t>In a booking?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864608"/>
            <a:ext cx="1801916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19" b="0" i="0">
                <a:solidFill>
                  <a:srgbClr val="64748B"/>
                </a:solidFill>
                <a:latin typeface="Segoe UI"/>
              </a:rPr>
              <a:t>The message is booking input, not a new question — unless it clearly asks something else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07756" y="4352544"/>
            <a:ext cx="2094524" cy="148132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54060" y="4480560"/>
            <a:ext cx="18019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0F172A"/>
                </a:solidFill>
                <a:latin typeface="Segoe UI"/>
              </a:rPr>
              <a:t>A complaint?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54060" y="4864608"/>
            <a:ext cx="1801916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19" b="0" i="0">
                <a:solidFill>
                  <a:srgbClr val="64748B"/>
                </a:solidFill>
                <a:latin typeface="Segoe UI"/>
              </a:rPr>
              <a:t>Words like angry, refund, manager, complaint → handoff, booking state preserved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48585" y="4352544"/>
            <a:ext cx="2094524" cy="148132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94889" y="4480560"/>
            <a:ext cx="18019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0F172A"/>
                </a:solidFill>
                <a:latin typeface="Segoe UI"/>
              </a:rPr>
              <a:t>Both a question and a booking?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94889" y="4864608"/>
            <a:ext cx="1801916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19" b="0" i="0">
                <a:solidFill>
                  <a:srgbClr val="64748B"/>
                </a:solidFill>
                <a:latin typeface="Segoe UI"/>
              </a:rPr>
              <a:t>Answer the question from the KB, then ask for the missing booking field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89413" y="4352544"/>
            <a:ext cx="2094524" cy="148132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35717" y="4480560"/>
            <a:ext cx="18019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0F172A"/>
                </a:solidFill>
                <a:latin typeface="Segoe UI"/>
              </a:rPr>
              <a:t>Out of scope?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5717" y="4864608"/>
            <a:ext cx="1801916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19" b="0" i="0">
                <a:solidFill>
                  <a:srgbClr val="64748B"/>
                </a:solidFill>
                <a:latin typeface="Segoe UI"/>
              </a:rPr>
              <a:t>Insurance, loan, parts sourcing, anything not about our workshop → polite decline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30242" y="4352544"/>
            <a:ext cx="2094524" cy="148132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76546" y="4480560"/>
            <a:ext cx="18019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0F172A"/>
                </a:solidFill>
                <a:latin typeface="Segoe UI"/>
              </a:rPr>
              <a:t>No confidence?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6546" y="4864608"/>
            <a:ext cx="1801916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19" b="0" i="0" dirty="0">
                <a:solidFill>
                  <a:srgbClr val="64748B"/>
                </a:solidFill>
                <a:latin typeface="Segoe UI"/>
              </a:rPr>
              <a:t>Low confidence falls back to </a:t>
            </a:r>
            <a:r>
              <a:rPr sz="919" b="0" i="0" dirty="0" err="1">
                <a:solidFill>
                  <a:srgbClr val="64748B"/>
                </a:solidFill>
                <a:latin typeface="Segoe UI"/>
              </a:rPr>
              <a:t>faq</a:t>
            </a:r>
            <a:r>
              <a:rPr sz="919" b="0" i="0" dirty="0">
                <a:solidFill>
                  <a:srgbClr val="64748B"/>
                </a:solidFill>
                <a:latin typeface="Segoe UI"/>
              </a:rPr>
              <a:t>, which can safely say “I don't have that”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6016752"/>
            <a:ext cx="11057839" cy="329184"/>
          </a:xfrm>
          <a:prstGeom prst="roundRect">
            <a:avLst>
              <a:gd name="adj" fmla="val 8000"/>
            </a:avLst>
          </a:prstGeom>
          <a:solidFill>
            <a:srgbClr val="EEE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9808" y="6089904"/>
            <a:ext cx="106920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34155"/>
                </a:solidFill>
                <a:latin typeface="Segoe UI"/>
              </a:rPr>
              <a:t>One model call, one label, one JSON object.</a:t>
            </a:r>
            <a:r>
              <a:rPr sz="1000" b="0" i="0">
                <a:solidFill>
                  <a:srgbClr val="334155"/>
                </a:solidFill>
                <a:latin typeface="Segoe UI"/>
              </a:rPr>
              <a:t> The prompt names the four routes; the code decides what a route means.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Segoe UI"/>
              </a:rPr>
              <a:t>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Segoe UI"/>
              </a:rPr>
              <a:t>The FAQ path — retrieve, answer, cite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12801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The model never answers from memory. It answers from one section of the knowledge base, or it says it does not know.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Track 2  ·  Kallang Auto Care  ·  AI technical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7395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72768"/>
            <a:ext cx="1440180" cy="9509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1627632"/>
            <a:ext cx="12755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475569"/>
                </a:solidFill>
                <a:latin typeface="Segoe UI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1837943"/>
            <a:ext cx="1275588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334155"/>
                </a:solidFill>
                <a:latin typeface="Segoe UI"/>
              </a:rPr>
              <a:t>the customer's message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20824" y="2048256"/>
            <a:ext cx="128015" cy="0"/>
          </a:xfrm>
          <a:prstGeom prst="line">
            <a:avLst/>
          </a:prstGeom>
          <a:ln w="1524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162556" y="1572768"/>
            <a:ext cx="1440180" cy="9509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44851" y="1627632"/>
            <a:ext cx="12755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475569"/>
                </a:solidFill>
                <a:latin typeface="Segoe UI"/>
              </a:rPr>
              <a:t>Chunk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4851" y="1837943"/>
            <a:ext cx="1275588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334155"/>
                </a:solidFill>
                <a:latin typeface="Segoe UI"/>
              </a:rPr>
              <a:t>faq_kb.md → 12 sections, split at the ## headings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16451" y="2048256"/>
            <a:ext cx="128017" cy="0"/>
          </a:xfrm>
          <a:prstGeom prst="line">
            <a:avLst/>
          </a:prstGeom>
          <a:ln w="1524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758183" y="1572768"/>
            <a:ext cx="1440180" cy="9509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79" y="1627632"/>
            <a:ext cx="12755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475569"/>
                </a:solidFill>
                <a:latin typeface="Segoe UI"/>
              </a:rPr>
              <a:t>Score + expand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79" y="1837943"/>
            <a:ext cx="1275588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334155"/>
                </a:solidFill>
                <a:latin typeface="Segoe UI"/>
              </a:rPr>
              <a:t>TF-IDF cosine, then the synonym map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12079" y="2048256"/>
            <a:ext cx="128017" cy="0"/>
          </a:xfrm>
          <a:prstGeom prst="line">
            <a:avLst/>
          </a:prstGeom>
          <a:ln w="1524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53812" y="1572768"/>
            <a:ext cx="1440180" cy="950976"/>
          </a:xfrm>
          <a:prstGeom prst="roundRect">
            <a:avLst>
              <a:gd name="adj" fmla="val 6000"/>
            </a:avLst>
          </a:prstGeom>
          <a:solidFill>
            <a:srgbClr val="FDF0D9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36107" y="1627632"/>
            <a:ext cx="12755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B45309"/>
                </a:solidFill>
                <a:latin typeface="Segoe UI"/>
              </a:rPr>
              <a:t>Gate 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6107" y="1837943"/>
            <a:ext cx="1275588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334155"/>
                </a:solidFill>
                <a:latin typeface="Segoe UI"/>
              </a:rPr>
              <a:t>is the best score above τ?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07707" y="2048256"/>
            <a:ext cx="128017" cy="0"/>
          </a:xfrm>
          <a:prstGeom prst="line">
            <a:avLst/>
          </a:prstGeom>
          <a:ln w="1524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949440" y="1572768"/>
            <a:ext cx="1440180" cy="9509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31736" y="1627632"/>
            <a:ext cx="12755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475569"/>
                </a:solidFill>
                <a:latin typeface="Segoe UI"/>
              </a:rPr>
              <a:t>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31736" y="1837943"/>
            <a:ext cx="1275588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 dirty="0">
                <a:solidFill>
                  <a:srgbClr val="334155"/>
                </a:solidFill>
                <a:latin typeface="Segoe UI"/>
              </a:rPr>
              <a:t>the winning section, verbatim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403336" y="2048256"/>
            <a:ext cx="128015" cy="0"/>
          </a:xfrm>
          <a:prstGeom prst="line">
            <a:avLst/>
          </a:prstGeom>
          <a:ln w="1524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545067" y="1572768"/>
            <a:ext cx="1440180" cy="950976"/>
          </a:xfrm>
          <a:prstGeom prst="roundRect">
            <a:avLst>
              <a:gd name="adj" fmla="val 6000"/>
            </a:avLst>
          </a:prstGeom>
          <a:solidFill>
            <a:srgbClr val="EEE9FD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27363" y="1627632"/>
            <a:ext cx="12755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6D28D9"/>
                </a:solidFill>
                <a:latin typeface="Segoe UI"/>
              </a:rPr>
              <a:t>Answer 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27363" y="1837943"/>
            <a:ext cx="1275588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334155"/>
                </a:solidFill>
                <a:latin typeface="Segoe UI"/>
              </a:rPr>
              <a:t>one call, grounded in that context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998963" y="2048256"/>
            <a:ext cx="128016" cy="0"/>
          </a:xfrm>
          <a:prstGeom prst="line">
            <a:avLst/>
          </a:prstGeom>
          <a:ln w="1524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140695" y="1572768"/>
            <a:ext cx="1440180" cy="950976"/>
          </a:xfrm>
          <a:prstGeom prst="roundRect">
            <a:avLst>
              <a:gd name="adj" fmla="val 6000"/>
            </a:avLst>
          </a:prstGeom>
          <a:solidFill>
            <a:srgbClr val="D6F5F1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22991" y="1627632"/>
            <a:ext cx="12755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0F766E"/>
                </a:solidFill>
                <a:latin typeface="Segoe UI"/>
              </a:rPr>
              <a:t>Cite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22991" y="1837943"/>
            <a:ext cx="1275588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334155"/>
                </a:solidFill>
                <a:latin typeface="Segoe UI"/>
              </a:rPr>
              <a:t>“Source: &lt;section&gt;”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73901" y="2523744"/>
            <a:ext cx="0" cy="201168"/>
          </a:xfrm>
          <a:prstGeom prst="line">
            <a:avLst/>
          </a:prstGeom>
          <a:ln w="16510">
            <a:solidFill>
              <a:srgbClr val="B91C1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033772" y="2724912"/>
            <a:ext cx="2080260" cy="786384"/>
          </a:xfrm>
          <a:prstGeom prst="roundRect">
            <a:avLst>
              <a:gd name="adj" fmla="val 8000"/>
            </a:avLst>
          </a:prstGeom>
          <a:solidFill>
            <a:srgbClr val="FD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91C1C"/>
                </a:solidFill>
                <a:latin typeface="Segoe UI"/>
              </a:rPr>
              <a:t>Below τ → no answer. Say “I don't have that information” and offer the service desk. </a:t>
            </a:r>
            <a:r>
              <a:rPr sz="900" b="1" i="0">
                <a:solidFill>
                  <a:srgbClr val="B91C1C"/>
                </a:solidFill>
                <a:latin typeface="Segoe UI"/>
              </a:rPr>
              <a:t>No citation is invented.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3602736"/>
            <a:ext cx="5486400" cy="17922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8096" y="3749039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0F766E"/>
                </a:solidFill>
                <a:latin typeface="Segoe UI"/>
              </a:rPr>
              <a:t>WORKED EXAMPLE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" y="4023360"/>
            <a:ext cx="5084064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 dirty="0">
                <a:solidFill>
                  <a:srgbClr val="334155"/>
                </a:solidFill>
                <a:latin typeface="Segoe UI"/>
              </a:rPr>
              <a:t>“How much does a </a:t>
            </a:r>
            <a:r>
              <a:rPr sz="1000" b="1" i="0" dirty="0">
                <a:solidFill>
                  <a:srgbClr val="334155"/>
                </a:solidFill>
                <a:latin typeface="Segoe UI"/>
              </a:rPr>
              <a:t>maintenance</a:t>
            </a:r>
            <a:r>
              <a:rPr sz="1000" b="0" i="0" dirty="0">
                <a:solidFill>
                  <a:srgbClr val="334155"/>
                </a:solidFill>
                <a:latin typeface="Segoe UI"/>
              </a:rPr>
              <a:t> cost?”
→ the synonym map rewrites </a:t>
            </a:r>
            <a:r>
              <a:rPr sz="1000" b="0" i="1" dirty="0">
                <a:solidFill>
                  <a:srgbClr val="334155"/>
                </a:solidFill>
                <a:latin typeface="Segoe UI"/>
              </a:rPr>
              <a:t>maintenance</a:t>
            </a:r>
            <a:r>
              <a:rPr sz="1000" b="0" i="0" dirty="0">
                <a:solidFill>
                  <a:srgbClr val="334155"/>
                </a:solidFill>
                <a:latin typeface="Segoe UI"/>
              </a:rPr>
              <a:t> to </a:t>
            </a:r>
            <a:r>
              <a:rPr sz="1000" b="0" i="1" dirty="0">
                <a:solidFill>
                  <a:srgbClr val="334155"/>
                </a:solidFill>
                <a:latin typeface="Segoe UI"/>
              </a:rPr>
              <a:t>servicing</a:t>
            </a:r>
            <a:r>
              <a:rPr sz="1000" b="0" i="0" dirty="0">
                <a:solidFill>
                  <a:srgbClr val="334155"/>
                </a:solidFill>
                <a:latin typeface="Segoe UI"/>
              </a:rPr>
              <a:t>
→ the best section becomes </a:t>
            </a:r>
            <a:r>
              <a:rPr sz="1000" b="1" i="0" dirty="0">
                <a:solidFill>
                  <a:srgbClr val="334155"/>
                </a:solidFill>
                <a:latin typeface="Segoe UI"/>
              </a:rPr>
              <a:t>Servicing packages</a:t>
            </a:r>
            <a:r>
              <a:rPr sz="1000" b="0" i="0" dirty="0">
                <a:solidFill>
                  <a:srgbClr val="334155"/>
                </a:solidFill>
                <a:latin typeface="Segoe UI"/>
              </a:rPr>
              <a:t>
→ the answer gives SGD 128 / SGD 268 from that section
→ the reply ends “Source: Servicing packages”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46520" y="3602736"/>
            <a:ext cx="5175504" cy="17922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47688" y="3749039"/>
            <a:ext cx="4754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B45309"/>
                </a:solidFill>
                <a:latin typeface="Segoe UI"/>
              </a:rPr>
              <a:t>THE THREE THINGS RETRIEVAL MUST GET RIGHT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47688" y="4023360"/>
            <a:ext cx="4791456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000" b="1">
                <a:solidFill>
                  <a:srgbClr val="B45309"/>
                </a:solidFill>
                <a:latin typeface="Segoe UI"/>
              </a:rPr>
              <a:t>▪  </a:t>
            </a:r>
            <a:r>
              <a:rPr sz="1000" b="1" i="0">
                <a:solidFill>
                  <a:srgbClr val="334155"/>
                </a:solidFill>
                <a:latin typeface="Segoe UI"/>
              </a:rPr>
              <a:t>Synonyms</a:t>
            </a:r>
            <a:r>
              <a:rPr sz="1000" b="0" i="0">
                <a:solidFill>
                  <a:srgbClr val="334155"/>
                </a:solidFill>
                <a:latin typeface="Segoe UI"/>
              </a:rPr>
              <a:t> — the KB says </a:t>
            </a:r>
            <a:r>
              <a:rPr sz="1000" b="0" i="1">
                <a:solidFill>
                  <a:srgbClr val="334155"/>
                </a:solidFill>
                <a:latin typeface="Segoe UI"/>
              </a:rPr>
              <a:t>servicing</a:t>
            </a:r>
            <a:r>
              <a:rPr sz="1000" b="0" i="0">
                <a:solidFill>
                  <a:srgbClr val="334155"/>
                </a:solidFill>
                <a:latin typeface="Segoe UI"/>
              </a:rPr>
              <a:t>, the customer says </a:t>
            </a:r>
            <a:r>
              <a:rPr sz="1000" b="0" i="1">
                <a:solidFill>
                  <a:srgbClr val="334155"/>
                </a:solidFill>
                <a:latin typeface="Segoe UI"/>
              </a:rPr>
              <a:t>maintenance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000" b="1">
                <a:solidFill>
                  <a:srgbClr val="B45309"/>
                </a:solidFill>
                <a:latin typeface="Segoe UI"/>
              </a:rPr>
              <a:t>▪  </a:t>
            </a:r>
            <a:r>
              <a:rPr sz="1000" b="1" i="0">
                <a:solidFill>
                  <a:srgbClr val="334155"/>
                </a:solidFill>
                <a:latin typeface="Segoe UI"/>
              </a:rPr>
              <a:t>Threshold</a:t>
            </a:r>
            <a:r>
              <a:rPr sz="1000" b="0" i="0">
                <a:solidFill>
                  <a:srgbClr val="334155"/>
                </a:solidFill>
                <a:latin typeface="Segoe UI"/>
              </a:rPr>
              <a:t> — an unmatched question must fall through to the honest “I don't know”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000" b="1">
                <a:solidFill>
                  <a:srgbClr val="B45309"/>
                </a:solidFill>
                <a:latin typeface="Segoe UI"/>
              </a:rPr>
              <a:t>▪  </a:t>
            </a:r>
            <a:r>
              <a:rPr sz="1000" b="1" i="0">
                <a:solidFill>
                  <a:srgbClr val="334155"/>
                </a:solidFill>
                <a:latin typeface="Segoe UI"/>
              </a:rPr>
              <a:t>Citation</a:t>
            </a:r>
            <a:r>
              <a:rPr sz="1000" b="0" i="0">
                <a:solidFill>
                  <a:srgbClr val="334155"/>
                </a:solidFill>
                <a:latin typeface="Segoe UI"/>
              </a:rPr>
              <a:t> — the section name is appended by code, so it always matches the text that was retrieved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5559552"/>
            <a:ext cx="11057839" cy="78638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86384" y="5669280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6D28D9"/>
                </a:solidFill>
                <a:latin typeface="Segoe UI"/>
              </a:rPr>
              <a:t>THE GROUNDED PROMPT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" y="5907024"/>
            <a:ext cx="10618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4155"/>
                </a:solidFill>
                <a:latin typeface="Segoe UI"/>
              </a:rPr>
              <a:t>“Answer </a:t>
            </a:r>
            <a:r>
              <a:rPr sz="1000" b="1" i="0">
                <a:solidFill>
                  <a:srgbClr val="334155"/>
                </a:solidFill>
                <a:latin typeface="Segoe UI"/>
              </a:rPr>
              <a:t>only</a:t>
            </a:r>
            <a:r>
              <a:rPr sz="1000" b="0" i="0">
                <a:solidFill>
                  <a:srgbClr val="334155"/>
                </a:solidFill>
                <a:latin typeface="Segoe UI"/>
              </a:rPr>
              <a:t> from the section below. If the section does not contain the answer, say so. Do not use any other knowledge. Section: &lt;retrieved text&gt;”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Segoe UI"/>
              </a:rPr>
              <a:t>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Segoe UI"/>
              </a:rPr>
              <a:t>The booking path — ten states, code-driven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12801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The model may extract a value. It never decides whether a booking is valid, and it never writes a row.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Track 2  ·  Kallang Auto Care  ·  AI technical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7395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72768"/>
            <a:ext cx="1051560" cy="47548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Segoe UI"/>
              </a:rPr>
              <a:t>service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23060" y="1810512"/>
            <a:ext cx="51206" cy="0"/>
          </a:xfrm>
          <a:prstGeom prst="line">
            <a:avLst/>
          </a:prstGeom>
          <a:ln w="127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678838" y="1572768"/>
            <a:ext cx="1051560" cy="475488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Segoe UI"/>
              </a:rPr>
              <a:t>vehicle_plate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34970" y="1810512"/>
            <a:ext cx="51206" cy="0"/>
          </a:xfrm>
          <a:prstGeom prst="line">
            <a:avLst/>
          </a:prstGeom>
          <a:ln w="127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90748" y="1572768"/>
            <a:ext cx="1051560" cy="47548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Segoe UI"/>
              </a:rPr>
              <a:t>date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6880" y="1810512"/>
            <a:ext cx="51207" cy="0"/>
          </a:xfrm>
          <a:prstGeom prst="line">
            <a:avLst/>
          </a:prstGeom>
          <a:ln w="127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902659" y="1572768"/>
            <a:ext cx="1051560" cy="47548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Segoe UI"/>
              </a:rPr>
              <a:t>time_slot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58791" y="1810512"/>
            <a:ext cx="51206" cy="0"/>
          </a:xfrm>
          <a:prstGeom prst="line">
            <a:avLst/>
          </a:prstGeom>
          <a:ln w="127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14569" y="1572768"/>
            <a:ext cx="1051560" cy="475488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Segoe UI"/>
              </a:rPr>
              <a:t>name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70701" y="1810512"/>
            <a:ext cx="51207" cy="0"/>
          </a:xfrm>
          <a:prstGeom prst="line">
            <a:avLst/>
          </a:prstGeom>
          <a:ln w="127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26480" y="1572768"/>
            <a:ext cx="1051560" cy="475488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Segoe UI"/>
              </a:rPr>
              <a:t>mobile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82612" y="1810512"/>
            <a:ext cx="51206" cy="0"/>
          </a:xfrm>
          <a:prstGeom prst="line">
            <a:avLst/>
          </a:prstGeom>
          <a:ln w="127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238390" y="1572768"/>
            <a:ext cx="1051560" cy="475488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Segoe UI"/>
              </a:rPr>
              <a:t>email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94522" y="1810512"/>
            <a:ext cx="51206" cy="0"/>
          </a:xfrm>
          <a:prstGeom prst="line">
            <a:avLst/>
          </a:prstGeom>
          <a:ln w="127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350300" y="1572768"/>
            <a:ext cx="1051560" cy="475488"/>
          </a:xfrm>
          <a:prstGeom prst="roundRect">
            <a:avLst>
              <a:gd name="adj" fmla="val 12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Segoe UI"/>
              </a:rPr>
              <a:t>consent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06432" y="1810512"/>
            <a:ext cx="51207" cy="0"/>
          </a:xfrm>
          <a:prstGeom prst="line">
            <a:avLst/>
          </a:prstGeom>
          <a:ln w="127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462211" y="1572768"/>
            <a:ext cx="1051560" cy="47548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Segoe UI"/>
              </a:rPr>
              <a:t>confirm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518343" y="1810512"/>
            <a:ext cx="51206" cy="0"/>
          </a:xfrm>
          <a:prstGeom prst="line">
            <a:avLst/>
          </a:prstGeom>
          <a:ln w="127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574121" y="1572768"/>
            <a:ext cx="1051560" cy="47548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Segoe UI"/>
              </a:rPr>
              <a:t>done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2194560"/>
            <a:ext cx="1165860" cy="201168"/>
          </a:xfrm>
          <a:prstGeom prst="roundRect">
            <a:avLst>
              <a:gd name="adj" fmla="val 35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Segoe UI"/>
              </a:rPr>
              <a:t>personal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42516" y="2194560"/>
            <a:ext cx="754380" cy="201168"/>
          </a:xfrm>
          <a:prstGeom prst="roundRect">
            <a:avLst>
              <a:gd name="adj" fmla="val 35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Segoe UI"/>
              </a:rPr>
              <a:t>consent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06624" y="2194560"/>
            <a:ext cx="1028700" cy="201168"/>
          </a:xfrm>
          <a:prstGeom prst="roundRect">
            <a:avLst>
              <a:gd name="adj" fmla="val 3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Segoe UI"/>
              </a:rPr>
              <a:t>other steps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219456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64748B"/>
                </a:solidFill>
                <a:latin typeface="Segoe UI"/>
              </a:rPr>
              <a:t>model-assisted: service · date · time_slot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261518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64748B"/>
                </a:solidFill>
                <a:latin typeface="Segoe UI"/>
              </a:rPr>
              <a:t>THE THREE MODEL-ASSISTED STEPS — WHAT THE MODEL RETURNS AND WHAT CODE CHECKS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2907792"/>
            <a:ext cx="3576218" cy="1207008"/>
          </a:xfrm>
          <a:prstGeom prst="roundRect">
            <a:avLst>
              <a:gd name="adj" fmla="val 8000"/>
            </a:avLst>
          </a:prstGeom>
          <a:solidFill>
            <a:srgbClr val="EEE9FD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3232" y="3017520"/>
            <a:ext cx="328361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6D28D9"/>
                </a:solidFill>
                <a:latin typeface="Segoe UI"/>
              </a:rPr>
              <a:t>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3273552"/>
            <a:ext cx="328361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64748B"/>
                </a:solidFill>
                <a:latin typeface="Segoe UI"/>
              </a:rPr>
              <a:t>model returns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3456432"/>
            <a:ext cx="328361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3" b="0" i="0">
                <a:solidFill>
                  <a:srgbClr val="0F172A"/>
                </a:solidFill>
                <a:latin typeface="Consolas"/>
              </a:rPr>
              <a:t>“basic servicing” → SVC-BASIC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3694176"/>
            <a:ext cx="328361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64748B"/>
                </a:solidFill>
                <a:latin typeface="Segoe UI"/>
              </a:rPr>
              <a:t>code checks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3877056"/>
            <a:ext cx="328361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34155"/>
                </a:solidFill>
                <a:latin typeface="Segoe UI"/>
              </a:rPr>
              <a:t>the code must exist in services.csv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07738" y="2907792"/>
            <a:ext cx="3576218" cy="1207008"/>
          </a:xfrm>
          <a:prstGeom prst="roundRect">
            <a:avLst>
              <a:gd name="adj" fmla="val 8000"/>
            </a:avLst>
          </a:prstGeom>
          <a:solidFill>
            <a:srgbClr val="EEE9FD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54042" y="3017520"/>
            <a:ext cx="328361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6D28D9"/>
                </a:solidFill>
                <a:latin typeface="Segoe UI"/>
              </a:rPr>
              <a:t>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54042" y="3273552"/>
            <a:ext cx="328361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64748B"/>
                </a:solidFill>
                <a:latin typeface="Segoe UI"/>
              </a:rPr>
              <a:t>model returns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54042" y="3456432"/>
            <a:ext cx="328361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3" b="0" i="0">
                <a:solidFill>
                  <a:srgbClr val="0F172A"/>
                </a:solidFill>
                <a:latin typeface="Consolas"/>
              </a:rPr>
              <a:t>“next Tuesday” → 2026-10-27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54042" y="3694176"/>
            <a:ext cx="328361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64748B"/>
                </a:solidFill>
                <a:latin typeface="Segoe UI"/>
              </a:rPr>
              <a:t>code checks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54042" y="3877056"/>
            <a:ext cx="328361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34155"/>
                </a:solidFill>
                <a:latin typeface="Segoe UI"/>
              </a:rPr>
              <a:t>inside 26 Oct – 7 Nov, not a Sunday, ≥1 free slot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8548" y="2907792"/>
            <a:ext cx="3576218" cy="1207008"/>
          </a:xfrm>
          <a:prstGeom prst="roundRect">
            <a:avLst>
              <a:gd name="adj" fmla="val 8000"/>
            </a:avLst>
          </a:prstGeom>
          <a:solidFill>
            <a:srgbClr val="EEE9FD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94852" y="3017520"/>
            <a:ext cx="328361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6D28D9"/>
                </a:solidFill>
                <a:latin typeface="Segoe UI"/>
              </a:rPr>
              <a:t>time_slot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94852" y="3273552"/>
            <a:ext cx="328361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64748B"/>
                </a:solidFill>
                <a:latin typeface="Segoe UI"/>
              </a:rPr>
              <a:t>model returns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4852" y="3456432"/>
            <a:ext cx="328361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3" b="0" i="0">
                <a:solidFill>
                  <a:srgbClr val="0F172A"/>
                </a:solidFill>
                <a:latin typeface="Consolas"/>
              </a:rPr>
              <a:t>“afternoon” → 13:00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94852" y="3694176"/>
            <a:ext cx="328361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64748B"/>
                </a:solidFill>
                <a:latin typeface="Segoe UI"/>
              </a:rPr>
              <a:t>code checks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94852" y="3877056"/>
            <a:ext cx="328361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34155"/>
                </a:solidFill>
                <a:latin typeface="Segoe UI"/>
              </a:rPr>
              <a:t>a free slot for that date and the service's bay type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4261104"/>
            <a:ext cx="3576218" cy="13167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13232" y="4389120"/>
            <a:ext cx="328361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0F172A"/>
                </a:solidFill>
                <a:latin typeface="Segoe UI"/>
              </a:rPr>
              <a:t>THE STATE RULE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4663440"/>
            <a:ext cx="328361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40" b="0" i="0">
                <a:solidFill>
                  <a:srgbClr val="64748B"/>
                </a:solidFill>
                <a:latin typeface="Segoe UI"/>
              </a:rPr>
              <a:t>The current state is the </a:t>
            </a:r>
            <a:r>
              <a:rPr sz="940" b="1" i="0">
                <a:solidFill>
                  <a:srgbClr val="64748B"/>
                </a:solidFill>
                <a:latin typeface="Segoe UI"/>
              </a:rPr>
              <a:t>first empty field</a:t>
            </a:r>
            <a:r>
              <a:rPr sz="940" b="0" i="0">
                <a:solidFill>
                  <a:srgbClr val="64748B"/>
                </a:solidFill>
                <a:latin typeface="Segoe UI"/>
              </a:rPr>
              <a:t>. Clearing an earlier field sends the flow back to it — change the date and the time slot is asked again.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07738" y="4261104"/>
            <a:ext cx="3576218" cy="13167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454042" y="4389120"/>
            <a:ext cx="328361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0F172A"/>
                </a:solidFill>
                <a:latin typeface="Segoe UI"/>
              </a:rPr>
              <a:t>THE RETRY RULE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54042" y="4663440"/>
            <a:ext cx="328361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40" b="0" i="0">
                <a:solidFill>
                  <a:srgbClr val="64748B"/>
                </a:solidFill>
                <a:latin typeface="Segoe UI"/>
              </a:rPr>
              <a:t>Three failed attempts in a state and the flow stops, offers the service desk and ends as </a:t>
            </a:r>
            <a:r>
              <a:rPr sz="893" b="0" i="0">
                <a:solidFill>
                  <a:srgbClr val="64748B"/>
                </a:solidFill>
                <a:latin typeface="Consolas"/>
              </a:rPr>
              <a:t>handoff</a:t>
            </a:r>
            <a:r>
              <a:rPr sz="940" b="0" i="0">
                <a:solidFill>
                  <a:srgbClr val="64748B"/>
                </a:solidFill>
                <a:latin typeface="Segoe UI"/>
              </a:rPr>
              <a:t>. The bot never loops.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48548" y="4261104"/>
            <a:ext cx="3576218" cy="13167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94852" y="4389120"/>
            <a:ext cx="328361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0F172A"/>
                </a:solidFill>
                <a:latin typeface="Segoe UI"/>
              </a:rPr>
              <a:t>THE WRITE RULE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4852" y="4663440"/>
            <a:ext cx="328361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40" b="0" i="0">
                <a:solidFill>
                  <a:srgbClr val="64748B"/>
                </a:solidFill>
                <a:latin typeface="Segoe UI"/>
              </a:rPr>
              <a:t>Nothing is written until consent is </a:t>
            </a:r>
            <a:r>
              <a:rPr sz="893" b="0" i="0">
                <a:solidFill>
                  <a:srgbClr val="64748B"/>
                </a:solidFill>
                <a:latin typeface="Consolas"/>
              </a:rPr>
              <a:t>yes</a:t>
            </a:r>
            <a:r>
              <a:rPr sz="940" b="0" i="0">
                <a:solidFill>
                  <a:srgbClr val="64748B"/>
                </a:solidFill>
                <a:latin typeface="Segoe UI"/>
              </a:rPr>
              <a:t> </a:t>
            </a:r>
            <a:r>
              <a:rPr sz="940" b="1" i="0">
                <a:solidFill>
                  <a:srgbClr val="64748B"/>
                </a:solidFill>
                <a:latin typeface="Segoe UI"/>
              </a:rPr>
              <a:t>and</a:t>
            </a:r>
            <a:r>
              <a:rPr sz="940" b="0" i="0">
                <a:solidFill>
                  <a:srgbClr val="64748B"/>
                </a:solidFill>
                <a:latin typeface="Segoe UI"/>
              </a:rPr>
              <a:t> the customer confirms the summary. Then one row is appended and a reference is issued.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6928" y="5742432"/>
            <a:ext cx="11057839" cy="566928"/>
          </a:xfrm>
          <a:prstGeom prst="roundRect">
            <a:avLst>
              <a:gd name="adj" fmla="val 8000"/>
            </a:avLst>
          </a:prstGeom>
          <a:solidFill>
            <a:srgbClr val="FD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86384" y="5833872"/>
            <a:ext cx="1061892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334155"/>
                </a:solidFill>
                <a:latin typeface="Segoe UI"/>
              </a:rPr>
              <a:t>Every value the model proposes is checked by code.</a:t>
            </a:r>
            <a:r>
              <a:rPr sz="1000" b="0" i="0">
                <a:solidFill>
                  <a:srgbClr val="334155"/>
                </a:solidFill>
                <a:latin typeface="Segoe UI"/>
              </a:rPr>
              <a:t> Plate, mobile and email are matched by regex and never sent to the model at all — they are personal data, and Singapore's PDPA asks us to send as little as possible.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Segoe UI"/>
              </a:rPr>
              <a:t>Data, storage and the PII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12801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One rule decides what leaves the machine: personal data is handled by code, so it never reaches the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Track 2  ·  Kallang Auto Care  ·  AI technical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7395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5413248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627632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15803D"/>
                </a:solidFill>
                <a:latin typeface="Segoe UI"/>
              </a:rPr>
              <a:t>MAY CROSS THE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20240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5803D"/>
                </a:solidFill>
                <a:latin typeface="Segoe UI"/>
              </a:rPr>
              <a:t>→  The customer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139696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 i="0">
                <a:solidFill>
                  <a:srgbClr val="64748B"/>
                </a:solidFill>
                <a:latin typeface="Segoe UI"/>
              </a:rPr>
              <a:t>after redaction — "my number is 9123 4567" becomes "my number is [removed]"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23744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5803D"/>
                </a:solidFill>
                <a:latin typeface="Segoe UI"/>
              </a:rPr>
              <a:t>→  A KB 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743200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 i="0">
                <a:solidFill>
                  <a:srgbClr val="64748B"/>
                </a:solidFill>
                <a:latin typeface="Segoe UI"/>
              </a:rPr>
              <a:t>public text from faq_kb.md, sent as context for the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127248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5803D"/>
                </a:solidFill>
                <a:latin typeface="Segoe UI"/>
              </a:rPr>
              <a:t>→  A candidate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346704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 i="0">
                <a:solidFill>
                  <a:srgbClr val="64748B"/>
                </a:solidFill>
                <a:latin typeface="Segoe UI"/>
              </a:rPr>
              <a:t>service, date or time slot — no personal data in 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481328"/>
            <a:ext cx="5358384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4808" y="1627632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B91C1C"/>
                </a:solidFill>
                <a:latin typeface="Segoe UI"/>
              </a:rPr>
              <a:t>MUST NEVER CROSS — REDACTED IN CODE FIRST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64808" y="1938528"/>
            <a:ext cx="1554480" cy="292608"/>
          </a:xfrm>
          <a:prstGeom prst="roundRect">
            <a:avLst>
              <a:gd name="adj" fmla="val 35000"/>
            </a:avLst>
          </a:prstGeom>
          <a:solidFill>
            <a:srgbClr val="FD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91C1C"/>
                </a:solidFill>
                <a:latin typeface="Segoe UI"/>
              </a:rPr>
              <a:t>NRIC / FIN numbers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9016" y="1938528"/>
            <a:ext cx="1554480" cy="292608"/>
          </a:xfrm>
          <a:prstGeom prst="roundRect">
            <a:avLst>
              <a:gd name="adj" fmla="val 35000"/>
            </a:avLst>
          </a:prstGeom>
          <a:solidFill>
            <a:srgbClr val="FD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91C1C"/>
                </a:solidFill>
                <a:latin typeface="Segoe UI"/>
              </a:rPr>
              <a:t>Passport numbers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93224" y="1938528"/>
            <a:ext cx="1554480" cy="292608"/>
          </a:xfrm>
          <a:prstGeom prst="roundRect">
            <a:avLst>
              <a:gd name="adj" fmla="val 35000"/>
            </a:avLst>
          </a:prstGeom>
          <a:solidFill>
            <a:srgbClr val="FD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91C1C"/>
                </a:solidFill>
                <a:latin typeface="Segoe UI"/>
              </a:rPr>
              <a:t>Card numbers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4808" y="2322576"/>
            <a:ext cx="1554480" cy="292608"/>
          </a:xfrm>
          <a:prstGeom prst="roundRect">
            <a:avLst>
              <a:gd name="adj" fmla="val 35000"/>
            </a:avLst>
          </a:prstGeom>
          <a:solidFill>
            <a:srgbClr val="FD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91C1C"/>
                </a:solidFill>
                <a:latin typeface="Segoe UI"/>
              </a:rPr>
              <a:t>Full vehicle plate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9016" y="2322576"/>
            <a:ext cx="1554480" cy="292608"/>
          </a:xfrm>
          <a:prstGeom prst="roundRect">
            <a:avLst>
              <a:gd name="adj" fmla="val 35000"/>
            </a:avLst>
          </a:prstGeom>
          <a:solidFill>
            <a:srgbClr val="FD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91C1C"/>
                </a:solidFill>
                <a:latin typeface="Segoe UI"/>
              </a:rPr>
              <a:t>Full mobile number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93224" y="2322576"/>
            <a:ext cx="1554480" cy="292608"/>
          </a:xfrm>
          <a:prstGeom prst="roundRect">
            <a:avLst>
              <a:gd name="adj" fmla="val 35000"/>
            </a:avLst>
          </a:prstGeom>
          <a:solidFill>
            <a:srgbClr val="FD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91C1C"/>
                </a:solidFill>
                <a:latin typeface="Segoe UI"/>
              </a:rPr>
              <a:t>Full email address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2761488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60" b="0" i="0">
                <a:solidFill>
                  <a:srgbClr val="334155"/>
                </a:solidFill>
                <a:latin typeface="Segoe UI"/>
              </a:rPr>
              <a:t>The chatbot says "we don't need your NRIC or card number" and never asks for them. If a customer volunteers one anyway, it is removed before the model sees the message.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96849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64748B"/>
                </a:solidFill>
                <a:latin typeface="Segoe UI"/>
              </a:rPr>
              <a:t>HOW EACH FIELD IS HANDLED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66928" y="4242816"/>
          <a:ext cx="6766560" cy="1508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40" b="1" i="0">
                          <a:solidFill>
                            <a:srgbClr val="FFFFFF"/>
                          </a:solidFill>
                          <a:latin typeface="Segoe UI"/>
                        </a:rPr>
                        <a:t>Field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40" b="1" i="0">
                          <a:solidFill>
                            <a:srgbClr val="FFFFFF"/>
                          </a:solidFill>
                          <a:latin typeface="Segoe UI"/>
                        </a:rPr>
                        <a:t>Stored in bookings.csv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40" b="1" i="0">
                          <a:solidFill>
                            <a:srgbClr val="FFFFFF"/>
                          </a:solidFill>
                          <a:latin typeface="Segoe UI"/>
                        </a:rPr>
                        <a:t>Shown in the trace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40" b="1" i="0">
                          <a:solidFill>
                            <a:srgbClr val="FFFFFF"/>
                          </a:solidFill>
                          <a:latin typeface="Segoe UI"/>
                        </a:rPr>
                        <a:t>Sent to the model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40" b="1" i="0">
                          <a:solidFill>
                            <a:srgbClr val="334155"/>
                          </a:solidFill>
                          <a:latin typeface="Segoe UI"/>
                        </a:rPr>
                        <a:t>Mobile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334155"/>
                          </a:solidFill>
                          <a:latin typeface="Segoe UI"/>
                        </a:rPr>
                        <a:t>91234567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334155"/>
                          </a:solidFill>
                          <a:latin typeface="Segoe UI"/>
                        </a:rPr>
                        <a:t>9*** 4567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334155"/>
                          </a:solidFill>
                          <a:latin typeface="Segoe UI"/>
                        </a:rPr>
                        <a:t>never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40" b="1" i="0">
                          <a:solidFill>
                            <a:srgbClr val="334155"/>
                          </a:solidFill>
                          <a:latin typeface="Segoe UI"/>
                        </a:rPr>
                        <a:t>Email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334155"/>
                          </a:solidFill>
                          <a:latin typeface="Segoe UI"/>
                        </a:rPr>
                        <a:t>wei@example.com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334155"/>
                          </a:solidFill>
                          <a:latin typeface="Segoe UI"/>
                        </a:rPr>
                        <a:t>w***@example.com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334155"/>
                          </a:solidFill>
                          <a:latin typeface="Segoe UI"/>
                        </a:rPr>
                        <a:t>never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40" b="1" i="0">
                          <a:solidFill>
                            <a:srgbClr val="334155"/>
                          </a:solidFill>
                          <a:latin typeface="Segoe UI"/>
                        </a:rPr>
                        <a:t>Vehicle plate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334155"/>
                          </a:solidFill>
                          <a:latin typeface="Segoe UI"/>
                        </a:rPr>
                        <a:t>SBA1234K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334155"/>
                          </a:solidFill>
                          <a:latin typeface="Segoe UI"/>
                        </a:rPr>
                        <a:t>S****K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334155"/>
                          </a:solidFill>
                          <a:latin typeface="Segoe UI"/>
                        </a:rPr>
                        <a:t>never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40" b="1" i="0">
                          <a:solidFill>
                            <a:srgbClr val="334155"/>
                          </a:solidFill>
                          <a:latin typeface="Segoe UI"/>
                        </a:rPr>
                        <a:t>NRIC / card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33415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334155"/>
                          </a:solidFill>
                          <a:latin typeface="Segoe UI"/>
                        </a:rPr>
                        <a:t>[removed]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334155"/>
                          </a:solidFill>
                          <a:latin typeface="Segoe UI"/>
                        </a:rPr>
                        <a:t>never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635240" y="4242816"/>
            <a:ext cx="39867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64748B"/>
                </a:solidFill>
                <a:latin typeface="Segoe UI"/>
              </a:rPr>
              <a:t>THE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4535424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4" b="0" i="0">
                <a:solidFill>
                  <a:srgbClr val="475569"/>
                </a:solidFill>
                <a:latin typeface="Consolas"/>
              </a:rPr>
              <a:t>data/faq_kb.md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4535424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12 sections, read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4828032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4" b="0" i="0">
                <a:solidFill>
                  <a:srgbClr val="475569"/>
                </a:solidFill>
                <a:latin typeface="Consolas"/>
              </a:rPr>
              <a:t>data/services.csv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482803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8 services, read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5120640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4" b="0" i="0">
                <a:solidFill>
                  <a:srgbClr val="475569"/>
                </a:solidFill>
                <a:latin typeface="Consolas"/>
              </a:rPr>
              <a:t>data/availability.csv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5120640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slots, 26 Oct – 7 Nov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5413248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4" b="0" i="0">
                <a:solidFill>
                  <a:srgbClr val="475569"/>
                </a:solidFill>
                <a:latin typeface="Consolas"/>
              </a:rPr>
              <a:t>data/bookings.csv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5413248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append-only, one row per booking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5705856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4" b="0" i="0">
                <a:solidFill>
                  <a:srgbClr val="475569"/>
                </a:solidFill>
                <a:latin typeface="Consolas"/>
              </a:rPr>
              <a:t>logs/trace.jsonl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5705856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one masked record per turn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888736"/>
            <a:ext cx="11057839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6384" y="5971032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B45309"/>
                </a:solidFill>
                <a:latin typeface="Segoe UI"/>
              </a:rPr>
              <a:t>THE WRITE PATH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61488" y="5971032"/>
            <a:ext cx="8588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4155"/>
                </a:solidFill>
                <a:latin typeface="Segoe UI"/>
              </a:rPr>
              <a:t>consent yes  →  confirm yes  →  re-check the slot is still free  →  validate every field again  →  append one row  →  issue KAC-YYMMDD-NNN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Segoe UI"/>
              </a:rPr>
              <a:t>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Segoe UI"/>
              </a:rPr>
              <a:t>Runtime, cost and what the judges actually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12801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The prototype runs live on one Streamlit page: chat, trace, state and a metrics 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Track 2  ·  Kallang Auto Care  ·  AI technical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7395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5577840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627632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6D28D9"/>
                </a:solidFill>
                <a:latin typeface="Segoe UI"/>
              </a:rPr>
              <a:t>THE MODEL CALLS IN ONE TURN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68096" y="1920240"/>
          <a:ext cx="5175504" cy="8778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9" b="1" i="0">
                          <a:solidFill>
                            <a:srgbClr val="FFFFFF"/>
                          </a:solidFill>
                          <a:latin typeface="Segoe UI"/>
                        </a:rPr>
                        <a:t>Call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9" b="1" i="0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9" b="1" i="0">
                          <a:solidFill>
                            <a:srgbClr val="FFFFFF"/>
                          </a:solidFill>
                          <a:latin typeface="Segoe UI"/>
                        </a:rPr>
                        <a:t>In / out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9" b="1" i="0">
                          <a:solidFill>
                            <a:srgbClr val="FFFFFF"/>
                          </a:solidFill>
                          <a:latin typeface="Segoe UI"/>
                        </a:rPr>
                        <a:t>Purpose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9" b="1" i="0">
                          <a:solidFill>
                            <a:srgbClr val="33415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4155"/>
                          </a:solidFill>
                          <a:latin typeface="Segoe UI"/>
                        </a:rPr>
                        <a:t>claude-opus-5-5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4155"/>
                          </a:solidFill>
                          <a:latin typeface="Segoe UI"/>
                        </a:rPr>
                        <a:t>~450 / ~40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4155"/>
                          </a:solidFill>
                          <a:latin typeface="Segoe UI"/>
                        </a:rPr>
                        <a:t>route the message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9" b="1" i="0">
                          <a:solidFill>
                            <a:srgbClr val="334155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4155"/>
                          </a:solidFill>
                          <a:latin typeface="Segoe UI"/>
                        </a:rPr>
                        <a:t>claude-opus-5-5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4155"/>
                          </a:solidFill>
                          <a:latin typeface="Segoe UI"/>
                        </a:rPr>
                        <a:t>~1.2k / ~150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4155"/>
                          </a:solidFill>
                          <a:latin typeface="Segoe UI"/>
                        </a:rPr>
                        <a:t>answer, or extract a value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" y="2889504"/>
            <a:ext cx="517550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940" b="1">
                <a:solidFill>
                  <a:srgbClr val="6D28D9"/>
                </a:solidFill>
                <a:latin typeface="Segoe UI"/>
              </a:rPr>
              <a:t>▪  </a:t>
            </a:r>
            <a:r>
              <a:rPr sz="940" b="0" i="0">
                <a:solidFill>
                  <a:srgbClr val="334155"/>
                </a:solidFill>
                <a:latin typeface="Segoe UI"/>
              </a:rPr>
              <a:t>Two calls maximum per customer message; </a:t>
            </a:r>
            <a:r>
              <a:rPr sz="893" b="0" i="0">
                <a:solidFill>
                  <a:srgbClr val="334155"/>
                </a:solidFill>
                <a:latin typeface="Consolas"/>
              </a:rPr>
              <a:t>handoff</a:t>
            </a:r>
            <a:r>
              <a:rPr sz="940" b="0" i="0">
                <a:solidFill>
                  <a:srgbClr val="334155"/>
                </a:solidFill>
                <a:latin typeface="Segoe UI"/>
              </a:rPr>
              <a:t> and </a:t>
            </a:r>
            <a:r>
              <a:rPr sz="893" b="0" i="0">
                <a:solidFill>
                  <a:srgbClr val="334155"/>
                </a:solidFill>
                <a:latin typeface="Consolas"/>
              </a:rPr>
              <a:t>out_of_scope</a:t>
            </a:r>
            <a:r>
              <a:rPr sz="940" b="0" i="0">
                <a:solidFill>
                  <a:srgbClr val="334155"/>
                </a:solidFill>
                <a:latin typeface="Segoe UI"/>
              </a:rPr>
              <a:t> use </a:t>
            </a:r>
            <a:r>
              <a:rPr sz="940" b="1" i="0">
                <a:solidFill>
                  <a:srgbClr val="334155"/>
                </a:solidFill>
                <a:latin typeface="Segoe UI"/>
              </a:rPr>
              <a:t>zero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940" b="1">
                <a:solidFill>
                  <a:srgbClr val="6D28D9"/>
                </a:solidFill>
                <a:latin typeface="Segoe UI"/>
              </a:rPr>
              <a:t>▪  </a:t>
            </a:r>
            <a:r>
              <a:rPr sz="940" b="0" i="0">
                <a:solidFill>
                  <a:srgbClr val="334155"/>
                </a:solidFill>
                <a:latin typeface="Segoe UI"/>
              </a:rPr>
              <a:t>The stable prefix — system prompt plus KB section — is sent with </a:t>
            </a:r>
            <a:r>
              <a:rPr sz="940" b="1" i="0">
                <a:solidFill>
                  <a:srgbClr val="334155"/>
                </a:solidFill>
                <a:latin typeface="Segoe UI"/>
              </a:rPr>
              <a:t>prompt caching</a:t>
            </a:r>
            <a:r>
              <a:rPr sz="940" b="0" i="0">
                <a:solidFill>
                  <a:srgbClr val="334155"/>
                </a:solidFill>
                <a:latin typeface="Segoe UI"/>
              </a:rPr>
              <a:t>, so repeat questions cost a fraction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940" b="1">
                <a:solidFill>
                  <a:srgbClr val="6D28D9"/>
                </a:solidFill>
                <a:latin typeface="Segoe UI"/>
              </a:rPr>
              <a:t>▪  </a:t>
            </a:r>
            <a:r>
              <a:rPr sz="940" b="0" i="0">
                <a:solidFill>
                  <a:srgbClr val="334155"/>
                </a:solidFill>
                <a:latin typeface="Segoe UI"/>
              </a:rPr>
              <a:t>At Opus 5.5 rates a turn costs about </a:t>
            </a:r>
            <a:r>
              <a:rPr sz="940" b="1" i="0">
                <a:solidFill>
                  <a:srgbClr val="334155"/>
                </a:solidFill>
                <a:latin typeface="Segoe UI"/>
              </a:rPr>
              <a:t>$0.01</a:t>
            </a:r>
            <a:r>
              <a:rPr sz="940" b="0" i="0">
                <a:solidFill>
                  <a:srgbClr val="334155"/>
                </a:solidFill>
                <a:latin typeface="Segoe UI"/>
              </a:rPr>
              <a:t>; a cheaper router model is a config flag, switched only if a measurement supports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481328"/>
            <a:ext cx="5175504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47688" y="1627632"/>
            <a:ext cx="4754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0F766E"/>
                </a:solidFill>
                <a:latin typeface="Segoe UI"/>
              </a:rPr>
              <a:t>THE ONE PAGE — app.py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47688" y="1938528"/>
            <a:ext cx="4773168" cy="43891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47688" y="1938528"/>
            <a:ext cx="50292" cy="4389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12280" y="1984248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F766E"/>
                </a:solidFill>
                <a:latin typeface="Segoe UI"/>
              </a:rPr>
              <a:t>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1984248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80" b="0" i="0">
                <a:solidFill>
                  <a:srgbClr val="64748B"/>
                </a:solidFill>
                <a:latin typeface="Segoe UI"/>
              </a:rPr>
              <a:t>paste or type a message — the chat history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47688" y="2432304"/>
            <a:ext cx="4773168" cy="43891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47688" y="2432304"/>
            <a:ext cx="50292" cy="43891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2280" y="2478024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B45309"/>
                </a:solidFill>
                <a:latin typeface="Segoe UI"/>
              </a:rPr>
              <a:t>Booking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2478024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80" b="0" i="0">
                <a:solidFill>
                  <a:srgbClr val="64748B"/>
                </a:solidFill>
                <a:latin typeface="Segoe UI"/>
              </a:rPr>
              <a:t>the current state, the fields filled, the field asked for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47688" y="2926080"/>
            <a:ext cx="4773168" cy="43891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647688" y="2926080"/>
            <a:ext cx="50292" cy="43891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12280" y="2971800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475569"/>
                </a:solidFill>
                <a:latin typeface="Segoe UI"/>
              </a:rPr>
              <a:t>Workflow trace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2971800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80" b="0" i="0">
                <a:solidFill>
                  <a:srgbClr val="64748B"/>
                </a:solidFill>
                <a:latin typeface="Segoe UI"/>
              </a:rPr>
              <a:t>each step in order: route, state, section cited, tokens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47688" y="3419856"/>
            <a:ext cx="4773168" cy="43891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647688" y="3419856"/>
            <a:ext cx="50292" cy="43891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12280" y="3465576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6D28D9"/>
                </a:solidFill>
                <a:latin typeface="Segoe UI"/>
              </a:rPr>
              <a:t>Metrics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3465576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80" b="0" i="0">
                <a:solidFill>
                  <a:srgbClr val="64748B"/>
                </a:solidFill>
                <a:latin typeface="Segoe UI"/>
              </a:rPr>
              <a:t>tokens · cost · seconds for the last turn and the session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151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64748B"/>
                </a:solidFill>
                <a:latin typeface="Segoe UI"/>
              </a:rPr>
              <a:t>WHAT MUST BE TRUE BY 12:30 — THE ACCEPTANCE GATE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43984"/>
            <a:ext cx="2094524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" y="4553712"/>
            <a:ext cx="18019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1" i="0">
                <a:solidFill>
                  <a:srgbClr val="0F172A"/>
                </a:solidFill>
                <a:latin typeface="Segoe UI"/>
              </a:rPr>
              <a:t>The router works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4956048"/>
            <a:ext cx="180191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every scripted message lands on the expected route, and the trace shows 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4443984"/>
            <a:ext cx="2094524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2807756" y="4443984"/>
            <a:ext cx="2094524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54060" y="4553712"/>
            <a:ext cx="18019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1" i="0">
                <a:solidFill>
                  <a:srgbClr val="0F172A"/>
                </a:solidFill>
                <a:latin typeface="Segoe UI"/>
              </a:rPr>
              <a:t>The FAQ cites its section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54060" y="4956048"/>
            <a:ext cx="180191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the reply names the section it came from, or says it does not know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07756" y="4443984"/>
            <a:ext cx="2094524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048585" y="4443984"/>
            <a:ext cx="2094524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194889" y="4553712"/>
            <a:ext cx="18019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1" i="0">
                <a:solidFill>
                  <a:srgbClr val="0F172A"/>
                </a:solidFill>
                <a:latin typeface="Segoe UI"/>
              </a:rPr>
              <a:t>A booking is saved with a reference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94889" y="4956048"/>
            <a:ext cx="180191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one row in bookings.csv with a KAC-YYMMDD-NNN reference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48585" y="4443984"/>
            <a:ext cx="2094524" cy="411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289413" y="4443984"/>
            <a:ext cx="2094524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35717" y="4553712"/>
            <a:ext cx="18019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1" i="0">
                <a:solidFill>
                  <a:srgbClr val="0F172A"/>
                </a:solidFill>
                <a:latin typeface="Segoe UI"/>
              </a:rPr>
              <a:t>Nothing else is written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35717" y="4956048"/>
            <a:ext cx="180191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no row for a refused consent, a cancelled booking or a handoff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89413" y="4443984"/>
            <a:ext cx="2094524" cy="4114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9530242" y="4443984"/>
            <a:ext cx="2094524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676546" y="4553712"/>
            <a:ext cx="18019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1" i="0">
                <a:solidFill>
                  <a:srgbClr val="0F172A"/>
                </a:solidFill>
                <a:latin typeface="Segoe UI"/>
              </a:rPr>
              <a:t>No NRIC or card anywhere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76546" y="4956048"/>
            <a:ext cx="180191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not in the message, the log, the trace or the file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30242" y="4443984"/>
            <a:ext cx="2094524" cy="4114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66928" y="5870448"/>
            <a:ext cx="11057839" cy="47548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41247" y="5971032"/>
            <a:ext cx="105091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1" i="0">
                <a:solidFill>
                  <a:srgbClr val="FFFFFF"/>
                </a:solidFill>
                <a:latin typeface="Segoe UI"/>
              </a:rPr>
              <a:t>The one-line architecture:</a:t>
            </a:r>
            <a:r>
              <a:rPr sz="1060" b="0" i="0">
                <a:solidFill>
                  <a:srgbClr val="FFFFFF"/>
                </a:solidFill>
                <a:latin typeface="Segoe UI"/>
              </a:rPr>
              <a:t> a guardrail in code, a router in the model, a retrieval path that answers only from the knowledge base, and a booking flow that no language model can influence.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2916</Words>
  <Application>Microsoft Office PowerPoint</Application>
  <PresentationFormat>Widescreen</PresentationFormat>
  <Paragraphs>392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Kallang Auto Care — Track 2 AI Technical Architecture</dc:title>
  <dc:subject>Logical architecture of the service chatbot with bookings</dc:subject>
  <dc:creator>SMU PCML Module 6 — Track 2 team</dc:creator>
  <cp:keywords/>
  <dc:description>generated using python-pptx</dc:description>
  <cp:lastModifiedBy>Tengfei Ma</cp:lastModifiedBy>
  <cp:revision>2</cp:revision>
  <dcterms:created xsi:type="dcterms:W3CDTF">2013-01-27T09:14:16Z</dcterms:created>
  <dcterms:modified xsi:type="dcterms:W3CDTF">2026-10-24T06:34:58Z</dcterms:modified>
  <cp:category/>
</cp:coreProperties>
</file>